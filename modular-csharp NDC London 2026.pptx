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6" r:id="rId2"/>
    <p:sldId id="306" r:id="rId3"/>
    <p:sldId id="336" r:id="rId4"/>
    <p:sldId id="261" r:id="rId5"/>
    <p:sldId id="339" r:id="rId6"/>
    <p:sldId id="258" r:id="rId7"/>
    <p:sldId id="338" r:id="rId8"/>
    <p:sldId id="259" r:id="rId9"/>
    <p:sldId id="343" r:id="rId10"/>
    <p:sldId id="262" r:id="rId11"/>
    <p:sldId id="263" r:id="rId12"/>
    <p:sldId id="264" r:id="rId13"/>
    <p:sldId id="348" r:id="rId14"/>
    <p:sldId id="344" r:id="rId15"/>
    <p:sldId id="265" r:id="rId16"/>
    <p:sldId id="360" r:id="rId17"/>
    <p:sldId id="353" r:id="rId18"/>
    <p:sldId id="345" r:id="rId19"/>
    <p:sldId id="346" r:id="rId20"/>
    <p:sldId id="349" r:id="rId21"/>
    <p:sldId id="347" r:id="rId22"/>
    <p:sldId id="342" r:id="rId23"/>
    <p:sldId id="341" r:id="rId24"/>
    <p:sldId id="260" r:id="rId25"/>
    <p:sldId id="340" r:id="rId26"/>
    <p:sldId id="266" r:id="rId27"/>
    <p:sldId id="267" r:id="rId28"/>
    <p:sldId id="268" r:id="rId29"/>
    <p:sldId id="269" r:id="rId30"/>
    <p:sldId id="270" r:id="rId31"/>
    <p:sldId id="351" r:id="rId32"/>
    <p:sldId id="350" r:id="rId33"/>
    <p:sldId id="271" r:id="rId34"/>
    <p:sldId id="272" r:id="rId35"/>
    <p:sldId id="273" r:id="rId36"/>
    <p:sldId id="356" r:id="rId37"/>
    <p:sldId id="274" r:id="rId38"/>
    <p:sldId id="275" r:id="rId39"/>
    <p:sldId id="276" r:id="rId40"/>
    <p:sldId id="352" r:id="rId41"/>
    <p:sldId id="277" r:id="rId42"/>
    <p:sldId id="278" r:id="rId43"/>
    <p:sldId id="279" r:id="rId44"/>
    <p:sldId id="280" r:id="rId45"/>
    <p:sldId id="281" r:id="rId46"/>
    <p:sldId id="282" r:id="rId47"/>
    <p:sldId id="283" r:id="rId48"/>
    <p:sldId id="284" r:id="rId49"/>
    <p:sldId id="285" r:id="rId50"/>
    <p:sldId id="286" r:id="rId51"/>
    <p:sldId id="287" r:id="rId52"/>
    <p:sldId id="354" r:id="rId53"/>
    <p:sldId id="359" r:id="rId54"/>
    <p:sldId id="288" r:id="rId55"/>
    <p:sldId id="357" r:id="rId56"/>
    <p:sldId id="358" r:id="rId57"/>
    <p:sldId id="289" r:id="rId58"/>
    <p:sldId id="355" r:id="rId59"/>
    <p:sldId id="291" r:id="rId60"/>
    <p:sldId id="292" r:id="rId61"/>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1"/>
    <p:restoredTop sz="77778"/>
  </p:normalViewPr>
  <p:slideViewPr>
    <p:cSldViewPr snapToGrid="0" snapToObjects="1">
      <p:cViewPr varScale="1">
        <p:scale>
          <a:sx n="123" d="100"/>
          <a:sy n="123" d="100"/>
        </p:scale>
        <p:origin x="1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0402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win.tue.nl/~wstomv/edu/2ip30/references/criteria_for_modularization.pdf"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Walk through the agenda briefly. Let the audience know we'll get practical and example-driven.</a:t>
            </a:r>
            <a:endParaRPr lang="en-GB" dirty="0"/>
          </a:p>
          <a:p>
            <a:endParaRPr lang="en-GB" dirty="0"/>
          </a:p>
          <a:p>
            <a:r>
              <a:rPr lang="en-GB" dirty="0"/>
              <a:t>Outline of the talk (sections as bullets):</a:t>
            </a:r>
          </a:p>
          <a:p>
            <a:r>
              <a:rPr lang="en-GB" dirty="0"/>
              <a:t>DDD to RDD: What’s missing, and where RDD fits</a:t>
            </a:r>
          </a:p>
          <a:p>
            <a:r>
              <a:rPr lang="en-GB" dirty="0"/>
              <a:t>Key ideas: responsibilities, roles, collaborations</a:t>
            </a:r>
          </a:p>
          <a:p>
            <a:r>
              <a:rPr lang="en-GB" dirty="0"/>
              <a:t>THE EXAMPLE: </a:t>
            </a:r>
            <a:r>
              <a:rPr lang="en-GB" dirty="0" err="1"/>
              <a:t>Modeling</a:t>
            </a:r>
            <a:r>
              <a:rPr lang="en-GB" dirty="0"/>
              <a:t> with CRC cards in practice</a:t>
            </a:r>
          </a:p>
          <a:p>
            <a:r>
              <a:rPr lang="en-GB" dirty="0"/>
              <a:t>RDD’s place in modern development: DDD, TDD, and agility</a:t>
            </a:r>
          </a:p>
          <a:p>
            <a:endParaRPr lang="en-GB" dirty="0"/>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4E5D5-B507-4C47-C1ED-5156302C65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C7737-11CA-D626-449D-430D3B00C3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BFB17C-03E6-4011-DD9A-00261AD9FBAF}"/>
              </a:ext>
            </a:extLst>
          </p:cNvPr>
          <p:cNvSpPr>
            <a:spLocks noGrp="1"/>
          </p:cNvSpPr>
          <p:nvPr>
            <p:ph type="body" idx="1"/>
          </p:nvPr>
        </p:nvSpPr>
        <p:spPr/>
        <p:txBody>
          <a:bodyPr/>
          <a:lstStyle/>
          <a:p>
            <a:r>
              <a:rPr lang="en-US" dirty="0"/>
              <a:t>This is our thesis. Yourdon and Constantine proved this mathematically back in the 70s - if you can divide a task into independent subtasks, the total cost is less than solving them together. C(P) &gt; C(½P) + C(½P). But the key word is "independent". If your pieces aren't truly independent, you're not winning - you're just adding coordination overhead.</a:t>
            </a:r>
          </a:p>
        </p:txBody>
      </p:sp>
      <p:sp>
        <p:nvSpPr>
          <p:cNvPr id="4" name="Slide Number Placeholder 3">
            <a:extLst>
              <a:ext uri="{FF2B5EF4-FFF2-40B4-BE49-F238E27FC236}">
                <a16:creationId xmlns:a16="http://schemas.microsoft.com/office/drawing/2014/main" id="{22DC1D92-9831-C35F-592E-1EB6D77268E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30547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"A well-defined segmentation of the project effort ensures system modularity. Each task forms a separate, distinct program module. At implementation time each module and its inputs and outputs are well-defined, there is no confusion in the intended interface with other system modules. At checkout time the integrity of the module is tested independently; there are few scheduling problems in synchronizing the completion of several tasks before checkout can begin. Finally, the system is maintained in modular fashion; system errors and deficiencies can be traced to specific system modules, thus limiting the scope of detailed error searching."</a:t>
            </a:r>
          </a:p>
          <a:p>
            <a:r>
              <a:rPr lang="en-GB" dirty="0"/>
              <a:t>This comes from David Parnas' seminal paper, </a:t>
            </a:r>
            <a:r>
              <a:rPr lang="en-GB" dirty="0">
                <a:hlinkClick r:id="rId3"/>
              </a:rPr>
              <a:t>"On the Criteria To Be Used in Decomposing Systems into Modules"</a:t>
            </a:r>
            <a:r>
              <a:rPr lang="en-GB" dirty="0"/>
              <a:t>, written in 1971--over 50 years ago at the time of this writing. The well-defined "separate, distinct program modules" covers about half of the suggested benefits of microservices, and we've been able to do that for fifty years.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4B95B-8521-27DF-4C86-33B603ECE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08798-FDA0-514C-E37E-3CF7945FD81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3919B9-028F-A4F3-F5E2-DB0A529A91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CA217B-29AA-9D4F-AD7B-9AB1FC7C6104}"/>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86459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Parnas's definition is key: not "a chunk of code" but "a responsibility assignment". A module owns something - a decision, a capability, a piece of knowledge. The interface tells you what it does; the implementation is hidden. This is abstraction (deal with the name) plus information hiding (don't depend on internals).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John Ousterhout's visual heuristic. A deep module has a small interface hiding substantial complexity - that's what we want. A shallow module exposes almost as much as it hides - the abstraction isn't paying for itself. When you find yourself passing lots of parameters or configuring lots of options, you might have a shallow module.</a:t>
            </a:r>
          </a:p>
          <a:p>
            <a:endParaRPr lang="en-US" dirty="0"/>
          </a:p>
          <a:p>
            <a:r>
              <a:rPr lang="en-US" dirty="0"/>
              <a:t>Reference: A Philosophy of Software Design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E3AD6-680C-ED7E-4BBD-0F57AF0B1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B5CC7-C139-923B-D4B2-7E704F5AF0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1A751C-CA8E-9069-4D21-7323D00DA433}"/>
              </a:ext>
            </a:extLst>
          </p:cNvPr>
          <p:cNvSpPr>
            <a:spLocks noGrp="1"/>
          </p:cNvSpPr>
          <p:nvPr>
            <p:ph type="body" idx="1"/>
          </p:nvPr>
        </p:nvSpPr>
        <p:spPr/>
        <p:txBody>
          <a:bodyPr/>
          <a:lstStyle/>
          <a:p>
            <a:r>
              <a:rPr lang="en-US" dirty="0"/>
              <a:t>John Ousterhout's visual heuristic. A deep module has a small interface hiding substantial complexity - that's what we want. A shallow module exposes almost as much as it hides - the abstraction isn't paying for itself. When you find yourself passing lots of parameters or configuring lots of options, you might have a shallow module.</a:t>
            </a:r>
          </a:p>
          <a:p>
            <a:endParaRPr lang="en-US" dirty="0"/>
          </a:p>
          <a:p>
            <a:r>
              <a:rPr lang="en-US" dirty="0"/>
              <a:t>Reference: A Philosophy of Software Design</a:t>
            </a:r>
          </a:p>
        </p:txBody>
      </p:sp>
      <p:sp>
        <p:nvSpPr>
          <p:cNvPr id="4" name="Slide Number Placeholder 3">
            <a:extLst>
              <a:ext uri="{FF2B5EF4-FFF2-40B4-BE49-F238E27FC236}">
                <a16:creationId xmlns:a16="http://schemas.microsoft.com/office/drawing/2014/main" id="{10C816E0-625B-6062-D0FF-40CF130FA0B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956584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4F217-4A05-2DF1-49C6-0CEADA9E97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B2F173-5012-E31B-6EA1-E295CA7430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4F4F78-53BC-15C5-472F-47BAF05135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15898F-EB57-16C2-6E4A-CB5AD367F19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381170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rPr>
              <a:t>• Namespace — organization, no encapsulation• Class — encapsulation via private/public• Assembly — true information hiding (internal)</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12BB9-4ED0-79AA-F35B-0EF512125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4D0D4-E7DA-E327-2032-5B67A924CC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1909A4-492E-EA0D-0B6D-C9DE145992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rPr>
              <a:t>• Namespace — organization, no encapsulation• Class — encapsulation via private/public• Assembly — true information hiding (internal)</a:t>
            </a:r>
            <a:endParaRPr lang="en-US" sz="1200" dirty="0"/>
          </a:p>
          <a:p>
            <a:endParaRPr lang="en-US" dirty="0"/>
          </a:p>
        </p:txBody>
      </p:sp>
      <p:sp>
        <p:nvSpPr>
          <p:cNvPr id="4" name="Slide Number Placeholder 3">
            <a:extLst>
              <a:ext uri="{FF2B5EF4-FFF2-40B4-BE49-F238E27FC236}">
                <a16:creationId xmlns:a16="http://schemas.microsoft.com/office/drawing/2014/main" id="{E9BFC16A-7AE2-CDF5-6EBA-8C697A54DB6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1601152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157EE-0D52-D356-F88A-4C1F4F062F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4A70F-786A-8B0C-BDA1-F903470E3FE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E68B7E-1294-8970-FC23-33D08F9087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5DFFF5-BE7A-F122-7274-AA708DA57A7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909281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DDDE5-E8D8-164C-351C-3131CC20E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2FFDB-5375-6A04-0725-78737D2D6E9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333E24F-CFED-0376-6A76-34F1D96445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rPr>
              <a:t>• Namespace — organization, no encapsulation• Class — encapsulation via private/public• Assembly — true information hiding (internal)</a:t>
            </a:r>
            <a:endParaRPr lang="en-US" sz="1200" dirty="0"/>
          </a:p>
          <a:p>
            <a:endParaRPr lang="en-US" dirty="0"/>
          </a:p>
        </p:txBody>
      </p:sp>
      <p:sp>
        <p:nvSpPr>
          <p:cNvPr id="4" name="Slide Number Placeholder 3">
            <a:extLst>
              <a:ext uri="{FF2B5EF4-FFF2-40B4-BE49-F238E27FC236}">
                <a16:creationId xmlns:a16="http://schemas.microsoft.com/office/drawing/2014/main" id="{5B6B6C1F-0AA0-65EE-0E11-B9DD314E1455}"/>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551572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52847-1843-401B-DA72-D9D29C6E4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BAEB6-3CF1-8D79-0827-D7C409046FA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6ADCD3-AABD-9DE8-E507-F00674EEA5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rPr>
              <a:t>• Namespace — organization, no encapsulation• Class — encapsulation via private/public• Assembly — true information hiding (internal)</a:t>
            </a:r>
            <a:endParaRPr lang="en-US" sz="1200" dirty="0"/>
          </a:p>
          <a:p>
            <a:endParaRPr lang="en-US" dirty="0"/>
          </a:p>
        </p:txBody>
      </p:sp>
      <p:sp>
        <p:nvSpPr>
          <p:cNvPr id="4" name="Slide Number Placeholder 3">
            <a:extLst>
              <a:ext uri="{FF2B5EF4-FFF2-40B4-BE49-F238E27FC236}">
                <a16:creationId xmlns:a16="http://schemas.microsoft.com/office/drawing/2014/main" id="{F761186E-25A0-7BED-10E3-7BD5BBBD620A}"/>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6024731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B388E-793D-A9BD-55A9-25EDEF111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D32E7-1024-D1F6-FC7B-DF4F5F97115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3895A7B-7098-C329-38C3-B0F5D70054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rPr>
              <a:t>• Namespace — organization, no encapsulation• Class — encapsulation via private/public• Assembly — true information hiding (internal)</a:t>
            </a:r>
            <a:endParaRPr lang="en-US" sz="1200" dirty="0"/>
          </a:p>
          <a:p>
            <a:endParaRPr lang="en-US" dirty="0"/>
          </a:p>
        </p:txBody>
      </p:sp>
      <p:sp>
        <p:nvSpPr>
          <p:cNvPr id="4" name="Slide Number Placeholder 3">
            <a:extLst>
              <a:ext uri="{FF2B5EF4-FFF2-40B4-BE49-F238E27FC236}">
                <a16:creationId xmlns:a16="http://schemas.microsoft.com/office/drawing/2014/main" id="{56ED66DD-61ED-6009-6C7F-CC9F1DFD5C6F}"/>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558239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886B4-8212-7EE2-E8D6-E63803245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F9493D-B3E7-3004-C746-49E31437F68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38E7ED5-AD91-EF76-0EE7-28E836A5C4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rPr>
              <a:t>So when we talk about modules in C#, we're usually talking about assemblies. The public/internal distinction is your module boundary. Common mistake: thinking namespaces are modules. They're not - a namespace can span assemblies, and using just lets you skip typing the full name. You still need the assembly reference.</a:t>
            </a:r>
          </a:p>
          <a:p>
            <a:endParaRPr lang="en-US" dirty="0"/>
          </a:p>
        </p:txBody>
      </p:sp>
      <p:sp>
        <p:nvSpPr>
          <p:cNvPr id="4" name="Slide Number Placeholder 3">
            <a:extLst>
              <a:ext uri="{FF2B5EF4-FFF2-40B4-BE49-F238E27FC236}">
                <a16:creationId xmlns:a16="http://schemas.microsoft.com/office/drawing/2014/main" id="{871BB971-3A5B-802B-B13C-1EB5AFE0903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5118831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74D8C-B3EB-D03C-582C-7952AC29C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5B761-A618-9FF2-06E6-DD0C273C84D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A0AE85-AAFA-83A7-1FC1-EFB634B7B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24236A-97E0-B7E4-E0A4-B57DB09F14E6}"/>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6528234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069D2-B507-D2EB-5F3D-255440BA5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EF8FB7-704D-3D92-2E84-1F074F515D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1BAA297-4103-8FA1-496D-C6A5104BF6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0DA80C-2943-96B6-023B-E5A6D38E2EB7}"/>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7231264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4401675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743FF-F1FF-CDA4-059D-7DE82F7D6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29DEC9-F673-1BFA-D74B-30634E53591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1E7E28-3598-9062-4DC0-9569B30883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6564ED-E2DD-A05A-F30E-E77FA9E208F0}"/>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27754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meat of the talk. How do you actually find modules? We'll look at two discovery approaches, then review criteria to check our work. The process is iterative - discover candidates, review against criteria, refine.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Start with workflow - what are the major steps a user takes through the system? Each step is a candidate module. This comes from event storming and BPMN thinking. Don't worry about capturing every step initially - start with the major processing stages.</a:t>
            </a:r>
          </a:p>
          <a:p>
            <a:endParaRPr lang="en-US" dirty="0"/>
          </a:p>
          <a:p>
            <a:r>
              <a:rPr lang="en-US" dirty="0"/>
              <a:t>Reference: Event Storming, BPMN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Start with workflow - what are the major steps a user takes through the system? Each step is a candidate module. This comes from event storming and BPMN thinking. Don't worry about capturing every step initially - start with the major processing stages. </a:t>
            </a:r>
          </a:p>
          <a:p>
            <a:endParaRPr lang="en-US" dirty="0"/>
          </a:p>
          <a:p>
            <a:r>
              <a:rPr lang="en-US" dirty="0"/>
              <a:t>Reference: Event Storming, BPMN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FE546-A10F-9E61-8DE2-EB2DBB2349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DFDBA-64AD-A786-860C-8CFCA4E530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DD3377-874D-11E3-9E63-ED6EF210A5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DCE87E-2D36-4EC4-C6F4-F3F00AC4759D}"/>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8316303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Now we review our candidates. Parnas says: what decisions might change? Hide those. The key insight for us: the workflow (the sequence of steps) is independent of the tasks (what each step does). So "roll dice" and "evaluate results" might be shared across different contest types, but the workflow that uses them could vary.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F9ED7-ED37-F05F-E79F-8FF1212D93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6D68E-2F60-3C50-6983-30E406D534D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8C273A3-CEFE-14F1-9600-AAD4BA3AEBED}"/>
              </a:ext>
            </a:extLst>
          </p:cNvPr>
          <p:cNvSpPr>
            <a:spLocks noGrp="1"/>
          </p:cNvSpPr>
          <p:nvPr>
            <p:ph type="body" idx="1"/>
          </p:nvPr>
        </p:nvSpPr>
        <p:spPr/>
        <p:txBody>
          <a:bodyPr/>
          <a:lstStyle/>
          <a:p>
            <a:r>
              <a:rPr lang="en-US" dirty="0"/>
              <a:t>Simple arithmetic. Add up afferent and efferent for total coupling. High total coupling modules are the ones to review - they're either doing too much, or they're in the wrong place in your architecture. Tools like </a:t>
            </a:r>
            <a:r>
              <a:rPr lang="en-US" dirty="0" err="1"/>
              <a:t>NDepend</a:t>
            </a:r>
            <a:r>
              <a:rPr lang="en-US" dirty="0"/>
              <a:t> can calculate this for you in real codebases.</a:t>
            </a:r>
          </a:p>
          <a:p>
            <a:endParaRPr lang="en-US" dirty="0"/>
          </a:p>
        </p:txBody>
      </p:sp>
      <p:sp>
        <p:nvSpPr>
          <p:cNvPr id="4" name="Slide Number Placeholder 3">
            <a:extLst>
              <a:ext uri="{FF2B5EF4-FFF2-40B4-BE49-F238E27FC236}">
                <a16:creationId xmlns:a16="http://schemas.microsoft.com/office/drawing/2014/main" id="{FE231031-7914-0650-D677-5B4EBB887AD3}"/>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8997032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structural problem: when you organize around entities, every workflow that touches that entity creates a dependency. Contest is in everything. So changes to how contests work ripple everywhere. Contrast with organizing around workflows - each workflow owns its view of the contest it needs.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We've found our modules. Now: how do they relate to each other? There are two main families of organization - technical and domain. Neither is inherently better; they optimize for different things.</a:t>
            </a:r>
          </a:p>
        </p:txBody>
      </p:sp>
    </p:spTree>
    <p:extLst>
      <p:ext uri="{BB962C8B-B14F-4D97-AF65-F5344CB8AC3E}">
        <p14:creationId xmlns:p14="http://schemas.microsoft.com/office/powerpoint/2010/main" val="36303671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Ports and adapters: your domain is in the center, defining ports (interfaces) for what it needs. Adapters on the outside implement those ports for specific technologies. Want to swap your database? Write a new adapter. The domain doesn't know or care. Good for: systems with multiple UIs or infrastructure that might change.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EDA7D-77CA-A4B0-CE1A-4E8AD26CF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599A4-0D3B-F387-3E9F-0FC76AE002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8ACED9E-CB35-D1DB-2801-00C1C5B7EE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BF17E5-964F-0D34-12D4-671C2DA0EF9E}"/>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35355382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E915E-E66B-D6F8-2548-CB0C77750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50979-EEC0-6BED-C601-42A852F33B0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DE9C83-4A42-F540-81E1-FAB8ACE7B33F}"/>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282C962-93DF-1F2D-A562-9886A6912A80}"/>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34084439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0A49B-5D29-08D4-EC51-E454D8C7A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C5B10-C554-D86C-C33F-6340F39B5B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281DD3-378C-D4F6-CB05-CFFB1813A00F}"/>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499FBEB-6618-E0F0-D6F9-13B0ED136016}"/>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28197568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3BF6C-44C2-CE69-B485-F00E89CC03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48CF27-EDA7-557F-352C-9DA641FA6B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FD35845-18D6-8D97-1980-CE333A1D502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6C14B3D-7096-623E-19A2-8651ED735E34}"/>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39714020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4EED7-5783-BE7D-7AA9-D42E21A9B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DDC5F-BE25-1786-0CED-D5C750C5CE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9D6C671-56F2-841D-DEFA-5FC439E5B8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D29107-C62F-B28E-8A43-E725C6D112C9}"/>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29569996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recap the journey. Start with a requirement. Discover candidate modules using workflow and actor/action analysis. Review them against Parnas's information hiding, coupling metrics, and watch for the entity trap. Choose an organization that fits your problem. Then work with your modules using TDD, and leverage AI assistants effectively. The thesis holds: modular software is simpler.</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370A66-70BF-0683-75AE-17B2A893C979}"/>
              </a:ext>
            </a:extLst>
          </p:cNvPr>
          <p:cNvSpPr>
            <a:spLocks noGrp="1"/>
          </p:cNvSpPr>
          <p:nvPr>
            <p:ph type="dt" sz="half" idx="10"/>
          </p:nvPr>
        </p:nvSpPr>
        <p:spPr/>
        <p:txBody>
          <a:bodyPr/>
          <a:lstStyle/>
          <a:p>
            <a:fld id="{5BCAD085-E8A6-8845-BD4E-CB4CCA059FC4}" type="datetimeFigureOut">
              <a:rPr lang="en-US" smtClean="0"/>
              <a:t>1/29/26</a:t>
            </a:fld>
            <a:endParaRPr lang="en-US"/>
          </a:p>
        </p:txBody>
      </p:sp>
      <p:sp>
        <p:nvSpPr>
          <p:cNvPr id="3" name="Footer Placeholder 2">
            <a:extLst>
              <a:ext uri="{FF2B5EF4-FFF2-40B4-BE49-F238E27FC236}">
                <a16:creationId xmlns:a16="http://schemas.microsoft.com/office/drawing/2014/main" id="{A66D4CFB-D763-7EE1-A11A-467E0E5FA8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0466E4-9B21-2B47-8E5C-83DDA2AAF29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84215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1"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286000"/>
            <a:ext cx="8229600" cy="1097280"/>
          </a:xfrm>
          <a:prstGeom prst="rect">
            <a:avLst/>
          </a:prstGeom>
          <a:noFill/>
          <a:ln/>
        </p:spPr>
        <p:txBody>
          <a:bodyPr wrap="square" rtlCol="0" anchor="ctr"/>
          <a:lstStyle/>
          <a:p>
            <a:pPr marL="0" indent="0" algn="ctr">
              <a:buNone/>
            </a:pPr>
            <a:r>
              <a:rPr lang="en-US" sz="5600" b="1" dirty="0">
                <a:solidFill>
                  <a:srgbClr val="2C3E50"/>
                </a:solidFill>
              </a:rPr>
              <a:t>Modular C#</a:t>
            </a:r>
            <a:endParaRPr lang="en-US" sz="5600" dirty="0"/>
          </a:p>
        </p:txBody>
      </p:sp>
      <p:sp>
        <p:nvSpPr>
          <p:cNvPr id="3" name="Text 1"/>
          <p:cNvSpPr/>
          <p:nvPr/>
        </p:nvSpPr>
        <p:spPr>
          <a:xfrm>
            <a:off x="457200" y="4273506"/>
            <a:ext cx="8229600" cy="914400"/>
          </a:xfrm>
          <a:prstGeom prst="rect">
            <a:avLst/>
          </a:prstGeom>
          <a:noFill/>
          <a:ln/>
        </p:spPr>
        <p:txBody>
          <a:bodyPr wrap="square" rtlCol="0" anchor="ctr"/>
          <a:lstStyle/>
          <a:p>
            <a:pPr marL="0" indent="0" algn="ctr">
              <a:buNone/>
            </a:pPr>
            <a:r>
              <a:rPr lang="en-US" sz="2000" dirty="0">
                <a:solidFill>
                  <a:srgbClr val="64748B"/>
                </a:solidFill>
              </a:rPr>
              <a:t>Ian Cooper</a:t>
            </a:r>
          </a:p>
          <a:p>
            <a:pPr marL="0" indent="0" algn="ctr">
              <a:buNone/>
            </a:pPr>
            <a:r>
              <a:rPr lang="en-US" sz="2000" dirty="0">
                <a:solidFill>
                  <a:srgbClr val="64748B"/>
                </a:solidFill>
              </a:rPr>
              <a:t>@</a:t>
            </a:r>
            <a:r>
              <a:rPr lang="en-US" sz="2000" dirty="0" err="1">
                <a:solidFill>
                  <a:srgbClr val="64748B"/>
                </a:solidFill>
              </a:rPr>
              <a:t>ICooper</a:t>
            </a:r>
            <a:endParaRPr lang="en-US" sz="2000" dirty="0"/>
          </a:p>
        </p:txBody>
      </p:sp>
      <p:sp>
        <p:nvSpPr>
          <p:cNvPr id="4" name="TextBox 3">
            <a:extLst>
              <a:ext uri="{FF2B5EF4-FFF2-40B4-BE49-F238E27FC236}">
                <a16:creationId xmlns:a16="http://schemas.microsoft.com/office/drawing/2014/main" id="{1D111D3F-BC46-B70F-6A13-436319286684}"/>
              </a:ext>
            </a:extLst>
          </p:cNvPr>
          <p:cNvSpPr txBox="1"/>
          <p:nvPr/>
        </p:nvSpPr>
        <p:spPr>
          <a:xfrm>
            <a:off x="2575035" y="3621655"/>
            <a:ext cx="4361002" cy="369332"/>
          </a:xfrm>
          <a:prstGeom prst="rect">
            <a:avLst/>
          </a:prstGeom>
          <a:noFill/>
        </p:spPr>
        <p:txBody>
          <a:bodyPr wrap="none" rtlCol="0">
            <a:spAutoFit/>
          </a:bodyPr>
          <a:lstStyle/>
          <a:p>
            <a:r>
              <a:rPr lang="en-US" dirty="0"/>
              <a:t>Modules in C#: Where Did We All Go Wrong.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DD514EB-0994-2DF7-1D75-FBC00B6082A3}"/>
              </a:ext>
            </a:extLst>
          </p:cNvPr>
          <p:cNvSpPr txBox="1">
            <a:spLocks noGrp="1"/>
          </p:cNvSpPr>
          <p:nvPr>
            <p:ph idx="4294967295"/>
          </p:nvPr>
        </p:nvSpPr>
        <p:spPr>
          <a:xfrm>
            <a:off x="314960" y="1359115"/>
            <a:ext cx="8371840" cy="4031873"/>
          </a:xfrm>
          <a:prstGeom prst="rect">
            <a:avLst/>
          </a:prstGeom>
          <a:noFill/>
        </p:spPr>
        <p:txBody>
          <a:bodyPr wrap="square">
            <a:spAutoFit/>
          </a:bodyPr>
          <a:lstStyle/>
          <a:p>
            <a:pPr marL="0" indent="0">
              <a:buNone/>
            </a:pPr>
            <a:r>
              <a:rPr lang="en-GB" sz="1600" dirty="0"/>
              <a:t>I am a polyglot coding architect with over 20 years of experience delivering solutions in government, healthcare, and finance and ecommerce. During that time I have worked for the DTI, Reuters, </a:t>
            </a:r>
            <a:r>
              <a:rPr lang="en-GB" sz="1600" dirty="0" err="1"/>
              <a:t>Sungard</a:t>
            </a:r>
            <a:r>
              <a:rPr lang="en-GB" sz="1600" dirty="0"/>
              <a:t>, Misys, Beazley, Huddle and Just Eat Takeaway delivering everything from bespoke enterprise solutions, 'shrink-wrapped' products for thousands of customers, to SaaS applications for hundreds of thousands of customers. </a:t>
            </a:r>
            <a:br>
              <a:rPr lang="en-GB" sz="1600" dirty="0"/>
            </a:br>
            <a:br>
              <a:rPr lang="en-GB" sz="1600" dirty="0"/>
            </a:br>
            <a:r>
              <a:rPr lang="en-GB" sz="1600" dirty="0"/>
              <a:t>I am an experienced systems architect with a strong knowledge of OO, TDD/BDD, DDD, EDA, CQRS/ES, REST, Messaging, Design Patterns, Architectural Styles, ATAM, and Agile Engineering Practices</a:t>
            </a:r>
            <a:br>
              <a:rPr lang="en-GB" sz="1600" dirty="0"/>
            </a:br>
            <a:br>
              <a:rPr lang="en-GB" sz="1600" dirty="0"/>
            </a:br>
            <a:r>
              <a:rPr lang="en-GB" sz="1600" dirty="0"/>
              <a:t>I am frequent contributor to OSS, and I am the owner of: https://</a:t>
            </a:r>
            <a:r>
              <a:rPr lang="en-GB" sz="1600" dirty="0" err="1"/>
              <a:t>github.com</a:t>
            </a:r>
            <a:r>
              <a:rPr lang="en-GB" sz="1600" dirty="0"/>
              <a:t>/</a:t>
            </a:r>
            <a:r>
              <a:rPr lang="en-GB" sz="1600" dirty="0" err="1"/>
              <a:t>BrighterCommand</a:t>
            </a:r>
            <a:r>
              <a:rPr lang="en-GB" sz="1600" dirty="0"/>
              <a:t>. I speak regularly at user groups and conferences around the world on architecture and software craftsmanship. I run public workshops teaching messaging, event-driven and reactive architectures.</a:t>
            </a:r>
            <a:br>
              <a:rPr lang="en-GB" sz="1600" dirty="0"/>
            </a:br>
            <a:br>
              <a:rPr lang="en-GB" sz="1600" dirty="0"/>
            </a:br>
            <a:r>
              <a:rPr lang="en-GB" sz="1600" dirty="0"/>
              <a:t>I have a strong background in C#. I spent years in the C++ trenches. I dabble in Go, Java, JavaScript and Python.</a:t>
            </a:r>
          </a:p>
        </p:txBody>
      </p:sp>
      <p:sp>
        <p:nvSpPr>
          <p:cNvPr id="6" name="TextBox 5">
            <a:extLst>
              <a:ext uri="{FF2B5EF4-FFF2-40B4-BE49-F238E27FC236}">
                <a16:creationId xmlns:a16="http://schemas.microsoft.com/office/drawing/2014/main" id="{07559634-742F-1665-A222-42EB8C3F8A0F}"/>
              </a:ext>
            </a:extLst>
          </p:cNvPr>
          <p:cNvSpPr txBox="1"/>
          <p:nvPr/>
        </p:nvSpPr>
        <p:spPr>
          <a:xfrm>
            <a:off x="5781041" y="5746588"/>
            <a:ext cx="3264710" cy="276999"/>
          </a:xfrm>
          <a:prstGeom prst="rect">
            <a:avLst/>
          </a:prstGeom>
          <a:noFill/>
        </p:spPr>
        <p:txBody>
          <a:bodyPr wrap="square">
            <a:spAutoFit/>
          </a:bodyPr>
          <a:lstStyle/>
          <a:p>
            <a:r>
              <a:rPr lang="en-GB" sz="1200" dirty="0" err="1"/>
              <a:t>www.linkedin.com</a:t>
            </a:r>
            <a:r>
              <a:rPr lang="en-GB" sz="1200" dirty="0"/>
              <a:t>/in/ian-cooper-2b059b</a:t>
            </a:r>
          </a:p>
        </p:txBody>
      </p:sp>
      <p:sp>
        <p:nvSpPr>
          <p:cNvPr id="4" name="TextBox 3">
            <a:extLst>
              <a:ext uri="{FF2B5EF4-FFF2-40B4-BE49-F238E27FC236}">
                <a16:creationId xmlns:a16="http://schemas.microsoft.com/office/drawing/2014/main" id="{951CAF73-B5F0-0DAE-A6AD-08DCED5332B6}"/>
              </a:ext>
            </a:extLst>
          </p:cNvPr>
          <p:cNvSpPr txBox="1"/>
          <p:nvPr/>
        </p:nvSpPr>
        <p:spPr>
          <a:xfrm>
            <a:off x="477520" y="375920"/>
            <a:ext cx="3204660" cy="707886"/>
          </a:xfrm>
          <a:prstGeom prst="rect">
            <a:avLst/>
          </a:prstGeom>
          <a:noFill/>
        </p:spPr>
        <p:txBody>
          <a:bodyPr wrap="none" rtlCol="0">
            <a:spAutoFit/>
          </a:bodyPr>
          <a:lstStyle/>
          <a:p>
            <a:r>
              <a:rPr lang="en-US" sz="4000" b="1" dirty="0"/>
              <a:t>Who Are you?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036420-A521-EECA-7AC4-2317C44ADDC2}"/>
              </a:ext>
            </a:extLst>
          </p:cNvPr>
          <p:cNvPicPr>
            <a:picLocks noChangeAspect="1"/>
          </p:cNvPicPr>
          <p:nvPr/>
        </p:nvPicPr>
        <p:blipFill>
          <a:blip r:embed="rId2"/>
          <a:stretch>
            <a:fillRect/>
          </a:stretch>
        </p:blipFill>
        <p:spPr>
          <a:xfrm>
            <a:off x="3230303" y="2169023"/>
            <a:ext cx="2410848" cy="2410848"/>
          </a:xfrm>
          <a:prstGeom prst="rect">
            <a:avLst/>
          </a:prstGeom>
        </p:spPr>
      </p:pic>
    </p:spTree>
    <p:extLst>
      <p:ext uri="{BB962C8B-B14F-4D97-AF65-F5344CB8AC3E}">
        <p14:creationId xmlns:p14="http://schemas.microsoft.com/office/powerpoint/2010/main" val="1943352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2980B9"/>
        </a:solidFill>
        <a:effectLst/>
      </p:bgPr>
    </p:bg>
    <p:spTree>
      <p:nvGrpSpPr>
        <p:cNvPr id="1" name=""/>
        <p:cNvGrpSpPr/>
        <p:nvPr/>
      </p:nvGrpSpPr>
      <p:grpSpPr>
        <a:xfrm>
          <a:off x="0" y="0"/>
          <a:ext cx="0" cy="0"/>
          <a:chOff x="0" y="0"/>
          <a:chExt cx="0" cy="0"/>
        </a:xfrm>
      </p:grpSpPr>
      <p:sp>
        <p:nvSpPr>
          <p:cNvPr id="2" name="Text 0"/>
          <p:cNvSpPr/>
          <p:nvPr/>
        </p:nvSpPr>
        <p:spPr>
          <a:xfrm>
            <a:off x="457200" y="2286000"/>
            <a:ext cx="8229600" cy="1097280"/>
          </a:xfrm>
          <a:prstGeom prst="rect">
            <a:avLst/>
          </a:prstGeom>
          <a:noFill/>
          <a:ln/>
        </p:spPr>
        <p:txBody>
          <a:bodyPr wrap="square" rtlCol="0" anchor="ctr"/>
          <a:lstStyle/>
          <a:p>
            <a:pPr marL="0" indent="0">
              <a:buNone/>
            </a:pPr>
            <a:r>
              <a:rPr lang="en-US" sz="4400" b="1" dirty="0">
                <a:solidFill>
                  <a:srgbClr val="FFFFFF"/>
                </a:solidFill>
              </a:rPr>
              <a:t>Modular Design</a:t>
            </a:r>
            <a:endParaRPr lang="en-US" sz="4400" dirty="0"/>
          </a:p>
        </p:txBody>
      </p:sp>
      <p:sp>
        <p:nvSpPr>
          <p:cNvPr id="3" name="Text 1"/>
          <p:cNvSpPr/>
          <p:nvPr/>
        </p:nvSpPr>
        <p:spPr>
          <a:xfrm>
            <a:off x="457200" y="3383280"/>
            <a:ext cx="8229600" cy="731520"/>
          </a:xfrm>
          <a:prstGeom prst="rect">
            <a:avLst/>
          </a:prstGeom>
          <a:noFill/>
          <a:ln/>
        </p:spPr>
        <p:txBody>
          <a:bodyPr wrap="square" rtlCol="0" anchor="ctr"/>
          <a:lstStyle/>
          <a:p>
            <a:pPr marL="0" indent="0">
              <a:buNone/>
            </a:pPr>
            <a:r>
              <a:rPr lang="en-US" sz="2000" dirty="0">
                <a:solidFill>
                  <a:srgbClr val="FFFFFF"/>
                </a:solidFill>
              </a:rPr>
              <a:t>Why should you care about modular design?</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3">
            <a:extLst>
              <a:ext uri="{FF2B5EF4-FFF2-40B4-BE49-F238E27FC236}">
                <a16:creationId xmlns:a16="http://schemas.microsoft.com/office/drawing/2014/main" id="{A1066127-A458-1033-10F3-4A9F6A98CED4}"/>
              </a:ext>
            </a:extLst>
          </p:cNvPr>
          <p:cNvSpPr/>
          <p:nvPr/>
        </p:nvSpPr>
        <p:spPr>
          <a:xfrm>
            <a:off x="243840" y="2428240"/>
            <a:ext cx="8442960" cy="1645920"/>
          </a:xfrm>
          <a:prstGeom prst="rect">
            <a:avLst/>
          </a:prstGeom>
          <a:solidFill>
            <a:srgbClr val="F1F5F9"/>
          </a:solidFill>
          <a:ln/>
        </p:spPr>
        <p:txBody>
          <a:bodyPr/>
          <a:lstStyle/>
          <a:p>
            <a:endParaRPr lang="en-US"/>
          </a:p>
        </p:txBody>
      </p:sp>
      <p:sp>
        <p:nvSpPr>
          <p:cNvPr id="3" name="TextBox 2">
            <a:extLst>
              <a:ext uri="{FF2B5EF4-FFF2-40B4-BE49-F238E27FC236}">
                <a16:creationId xmlns:a16="http://schemas.microsoft.com/office/drawing/2014/main" id="{80AB24CD-82DF-816B-B715-9998AE9F962D}"/>
              </a:ext>
            </a:extLst>
          </p:cNvPr>
          <p:cNvSpPr txBox="1"/>
          <p:nvPr/>
        </p:nvSpPr>
        <p:spPr>
          <a:xfrm>
            <a:off x="406400" y="2761456"/>
            <a:ext cx="8280400" cy="1015663"/>
          </a:xfrm>
          <a:prstGeom prst="rect">
            <a:avLst/>
          </a:prstGeom>
          <a:noFill/>
        </p:spPr>
        <p:txBody>
          <a:bodyPr wrap="square">
            <a:spAutoFit/>
          </a:bodyPr>
          <a:lstStyle/>
          <a:p>
            <a:pPr algn="ctr"/>
            <a:r>
              <a:rPr lang="en-GB" sz="2000" dirty="0"/>
              <a:t>95% of the words [about software architecture] are spent extolling the benefits of “modularity” and that little, if anything, is said about how to achieve it. Glenford J. Myers (1978)</a:t>
            </a:r>
            <a:endParaRPr lang="en-US" sz="2000" dirty="0"/>
          </a:p>
        </p:txBody>
      </p:sp>
      <p:sp>
        <p:nvSpPr>
          <p:cNvPr id="5" name="Text 0">
            <a:extLst>
              <a:ext uri="{FF2B5EF4-FFF2-40B4-BE49-F238E27FC236}">
                <a16:creationId xmlns:a16="http://schemas.microsoft.com/office/drawing/2014/main" id="{2AE365BF-0935-418B-BEFC-509A0FBB8ED0}"/>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Designing with Modules</a:t>
            </a:r>
            <a:endParaRPr lang="en-US" sz="4000" dirty="0"/>
          </a:p>
        </p:txBody>
      </p:sp>
    </p:spTree>
    <p:extLst>
      <p:ext uri="{BB962C8B-B14F-4D97-AF65-F5344CB8AC3E}">
        <p14:creationId xmlns:p14="http://schemas.microsoft.com/office/powerpoint/2010/main" val="1655960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The Fundamental Law</a:t>
            </a:r>
            <a:endParaRPr lang="en-US" sz="4000" dirty="0"/>
          </a:p>
        </p:txBody>
      </p:sp>
      <p:sp>
        <p:nvSpPr>
          <p:cNvPr id="5" name="Shape 3"/>
          <p:cNvSpPr/>
          <p:nvPr/>
        </p:nvSpPr>
        <p:spPr>
          <a:xfrm>
            <a:off x="457200" y="2357120"/>
            <a:ext cx="8229600" cy="2499360"/>
          </a:xfrm>
          <a:prstGeom prst="rect">
            <a:avLst/>
          </a:prstGeom>
          <a:solidFill>
            <a:srgbClr val="F1F5F9"/>
          </a:solidFill>
          <a:ln/>
        </p:spPr>
        <p:txBody>
          <a:bodyPr/>
          <a:lstStyle/>
          <a:p>
            <a:endParaRPr lang="en-US"/>
          </a:p>
        </p:txBody>
      </p:sp>
      <p:sp>
        <p:nvSpPr>
          <p:cNvPr id="6" name="Text 4"/>
          <p:cNvSpPr/>
          <p:nvPr/>
        </p:nvSpPr>
        <p:spPr>
          <a:xfrm>
            <a:off x="741680" y="2357120"/>
            <a:ext cx="7762240" cy="2499360"/>
          </a:xfrm>
          <a:prstGeom prst="rect">
            <a:avLst/>
          </a:prstGeom>
          <a:noFill/>
          <a:ln/>
        </p:spPr>
        <p:txBody>
          <a:bodyPr wrap="square" rtlCol="0" anchor="ctr"/>
          <a:lstStyle/>
          <a:p>
            <a:pPr marL="0" indent="0">
              <a:buNone/>
            </a:pPr>
            <a:r>
              <a:rPr lang="en-US" sz="1600" dirty="0">
                <a:solidFill>
                  <a:srgbClr val="64748B"/>
                </a:solidFill>
              </a:rPr>
              <a:t>		  </a:t>
            </a:r>
            <a:r>
              <a:rPr lang="en-US" sz="2800" dirty="0">
                <a:solidFill>
                  <a:schemeClr val="accent2"/>
                </a:solidFill>
              </a:rPr>
              <a:t>C(P) &gt; C(½P) + C(½P) </a:t>
            </a:r>
          </a:p>
          <a:p>
            <a:pPr marL="0" indent="0">
              <a:buNone/>
            </a:pPr>
            <a:endParaRPr lang="en-US" sz="1600" dirty="0">
              <a:solidFill>
                <a:srgbClr val="64748B"/>
              </a:solidFill>
            </a:endParaRPr>
          </a:p>
          <a:p>
            <a:r>
              <a:rPr lang="en-GB" sz="2000" b="1" dirty="0"/>
              <a:t>Due to complexity</a:t>
            </a:r>
            <a:r>
              <a:rPr lang="en-GB" sz="2000" dirty="0"/>
              <a:t>: It is always easier (and cheaper) to create two small pieces rather than one big piece if the two small pieces do the same job as the single piece. This is because combining two problems in one piece forces us to deal with the unneeded interactions between the two pieces</a:t>
            </a:r>
          </a:p>
          <a:p>
            <a:pPr marL="0" indent="0" algn="r">
              <a:buNone/>
            </a:pPr>
            <a:endParaRPr lang="en-US" sz="1600" dirty="0">
              <a:solidFill>
                <a:srgbClr val="64748B"/>
              </a:solidFill>
            </a:endParaRPr>
          </a:p>
          <a:p>
            <a:pPr marL="0" indent="0" algn="r">
              <a:buNone/>
            </a:pPr>
            <a:r>
              <a:rPr lang="en-US" sz="1600" dirty="0">
                <a:solidFill>
                  <a:srgbClr val="64748B"/>
                </a:solidFill>
              </a:rPr>
              <a:t>— Yourdon &amp; Constantine, 1979</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579CD-ABF6-64D1-3290-C93ECD23376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B9DF74C-A6F8-8F3E-8973-9ED31D0B6E72}"/>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Divide and Conquer</a:t>
            </a:r>
            <a:endParaRPr lang="en-US" sz="4000" dirty="0"/>
          </a:p>
        </p:txBody>
      </p:sp>
      <p:sp>
        <p:nvSpPr>
          <p:cNvPr id="3" name="Text 1">
            <a:extLst>
              <a:ext uri="{FF2B5EF4-FFF2-40B4-BE49-F238E27FC236}">
                <a16:creationId xmlns:a16="http://schemas.microsoft.com/office/drawing/2014/main" id="{BA9376B0-15EB-D1C6-4845-CB0FC2B8EA9C}"/>
              </a:ext>
            </a:extLst>
          </p:cNvPr>
          <p:cNvSpPr/>
          <p:nvPr/>
        </p:nvSpPr>
        <p:spPr>
          <a:xfrm>
            <a:off x="548640" y="1463040"/>
            <a:ext cx="7772400" cy="731520"/>
          </a:xfrm>
          <a:prstGeom prst="rect">
            <a:avLst/>
          </a:prstGeom>
          <a:noFill/>
          <a:ln/>
        </p:spPr>
        <p:txBody>
          <a:bodyPr wrap="square" rtlCol="0" anchor="ctr"/>
          <a:lstStyle/>
          <a:p>
            <a:pPr marL="0" indent="0">
              <a:buNone/>
            </a:pPr>
            <a:r>
              <a:rPr lang="en-US" sz="2200" i="1" dirty="0">
                <a:solidFill>
                  <a:srgbClr val="333333"/>
                </a:solidFill>
              </a:rPr>
              <a:t>Modular software is based on the simple principle of divide and conquer</a:t>
            </a:r>
            <a:endParaRPr lang="en-US" sz="2200" dirty="0"/>
          </a:p>
        </p:txBody>
      </p:sp>
      <p:sp>
        <p:nvSpPr>
          <p:cNvPr id="4" name="Text 2">
            <a:extLst>
              <a:ext uri="{FF2B5EF4-FFF2-40B4-BE49-F238E27FC236}">
                <a16:creationId xmlns:a16="http://schemas.microsoft.com/office/drawing/2014/main" id="{2258044F-099D-15C7-9BA7-84E51B4022E9}"/>
              </a:ext>
            </a:extLst>
          </p:cNvPr>
          <p:cNvSpPr/>
          <p:nvPr/>
        </p:nvSpPr>
        <p:spPr>
          <a:xfrm>
            <a:off x="548640" y="2377440"/>
            <a:ext cx="7772400" cy="1097280"/>
          </a:xfrm>
          <a:prstGeom prst="rect">
            <a:avLst/>
          </a:prstGeom>
          <a:noFill/>
          <a:ln/>
        </p:spPr>
        <p:txBody>
          <a:bodyPr wrap="square" rtlCol="0" anchor="ctr"/>
          <a:lstStyle/>
          <a:p>
            <a:pPr marL="0" indent="0">
              <a:spcAft>
                <a:spcPts val="1200"/>
              </a:spcAft>
              <a:buNone/>
            </a:pPr>
            <a:r>
              <a:rPr lang="en-US" sz="2000" dirty="0">
                <a:solidFill>
                  <a:srgbClr val="333333"/>
                </a:solidFill>
              </a:rPr>
              <a:t>• Manageably small, solvable separately</a:t>
            </a:r>
          </a:p>
          <a:p>
            <a:pPr marL="0" indent="0">
              <a:spcAft>
                <a:spcPts val="1200"/>
              </a:spcAft>
              <a:buNone/>
            </a:pPr>
            <a:r>
              <a:rPr lang="en-US" sz="2000" dirty="0">
                <a:solidFill>
                  <a:srgbClr val="333333"/>
                </a:solidFill>
              </a:rPr>
              <a:t>• Lowers cognitive load, reduces coupling</a:t>
            </a:r>
            <a:endParaRPr lang="en-US" sz="2000" dirty="0"/>
          </a:p>
        </p:txBody>
      </p:sp>
      <p:sp>
        <p:nvSpPr>
          <p:cNvPr id="7" name="TextBox 6">
            <a:extLst>
              <a:ext uri="{FF2B5EF4-FFF2-40B4-BE49-F238E27FC236}">
                <a16:creationId xmlns:a16="http://schemas.microsoft.com/office/drawing/2014/main" id="{2AB62D48-480E-F5E8-0EA1-AA425E7941EB}"/>
              </a:ext>
            </a:extLst>
          </p:cNvPr>
          <p:cNvSpPr txBox="1"/>
          <p:nvPr/>
        </p:nvSpPr>
        <p:spPr>
          <a:xfrm>
            <a:off x="548640" y="3657600"/>
            <a:ext cx="7597452" cy="400110"/>
          </a:xfrm>
          <a:prstGeom prst="rect">
            <a:avLst/>
          </a:prstGeom>
          <a:noFill/>
        </p:spPr>
        <p:txBody>
          <a:bodyPr wrap="square">
            <a:spAutoFit/>
          </a:bodyPr>
          <a:lstStyle/>
          <a:p>
            <a:r>
              <a:rPr lang="en-GB" sz="2000" dirty="0">
                <a:effectLst/>
              </a:rPr>
              <a:t>Of course, everyone has a different definition of "manageably small”</a:t>
            </a:r>
          </a:p>
        </p:txBody>
      </p:sp>
    </p:spTree>
    <p:extLst>
      <p:ext uri="{BB962C8B-B14F-4D97-AF65-F5344CB8AC3E}">
        <p14:creationId xmlns:p14="http://schemas.microsoft.com/office/powerpoint/2010/main" val="3253042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The Promise</a:t>
            </a:r>
            <a:endParaRPr lang="en-US" sz="4000" dirty="0"/>
          </a:p>
        </p:txBody>
      </p:sp>
      <p:sp>
        <p:nvSpPr>
          <p:cNvPr id="3" name="Text 1"/>
          <p:cNvSpPr/>
          <p:nvPr/>
        </p:nvSpPr>
        <p:spPr>
          <a:xfrm>
            <a:off x="548640" y="1371600"/>
            <a:ext cx="7772400" cy="640080"/>
          </a:xfrm>
          <a:prstGeom prst="rect">
            <a:avLst/>
          </a:prstGeom>
          <a:noFill/>
          <a:ln/>
        </p:spPr>
        <p:txBody>
          <a:bodyPr wrap="square" rtlCol="0" anchor="ctr"/>
          <a:lstStyle/>
          <a:p>
            <a:pPr marL="0" indent="0">
              <a:buNone/>
            </a:pPr>
            <a:r>
              <a:rPr lang="en-US" sz="2400" i="1" dirty="0">
                <a:solidFill>
                  <a:srgbClr val="000000"/>
                </a:solidFill>
              </a:rPr>
              <a:t>Modular software is simpler to maintain</a:t>
            </a:r>
            <a:endParaRPr lang="en-US" sz="2400" i="1" dirty="0"/>
          </a:p>
        </p:txBody>
      </p:sp>
      <p:sp>
        <p:nvSpPr>
          <p:cNvPr id="4" name="Text 2"/>
          <p:cNvSpPr/>
          <p:nvPr/>
        </p:nvSpPr>
        <p:spPr>
          <a:xfrm>
            <a:off x="548640" y="2194560"/>
            <a:ext cx="7772400" cy="558800"/>
          </a:xfrm>
          <a:prstGeom prst="rect">
            <a:avLst/>
          </a:prstGeom>
          <a:noFill/>
          <a:ln/>
        </p:spPr>
        <p:txBody>
          <a:bodyPr wrap="square" rtlCol="0" anchor="ctr"/>
          <a:lstStyle/>
          <a:p>
            <a:pPr marL="285750" indent="-285750">
              <a:spcAft>
                <a:spcPts val="1400"/>
              </a:spcAft>
              <a:buFont typeface="Arial" panose="020B0604020202020204" pitchFamily="34" charset="0"/>
              <a:buChar char="•"/>
            </a:pPr>
            <a:r>
              <a:rPr lang="en-US" sz="1800" dirty="0">
                <a:solidFill>
                  <a:srgbClr val="333333"/>
                </a:solidFill>
              </a:rPr>
              <a:t>Information Hiding — an effective module hides decisions, lowerin</a:t>
            </a:r>
            <a:r>
              <a:rPr lang="en-US" dirty="0">
                <a:solidFill>
                  <a:srgbClr val="333333"/>
                </a:solidFill>
              </a:rPr>
              <a:t>g cognitive load</a:t>
            </a:r>
            <a:r>
              <a:rPr lang="en-US" sz="1800" dirty="0">
                <a:solidFill>
                  <a:srgbClr val="333333"/>
                </a:solidFill>
              </a:rPr>
              <a:t> (Parnas)</a:t>
            </a:r>
          </a:p>
        </p:txBody>
      </p:sp>
      <p:sp>
        <p:nvSpPr>
          <p:cNvPr id="6" name="TextBox 5">
            <a:extLst>
              <a:ext uri="{FF2B5EF4-FFF2-40B4-BE49-F238E27FC236}">
                <a16:creationId xmlns:a16="http://schemas.microsoft.com/office/drawing/2014/main" id="{1A89829D-5212-F99E-9B8A-1ED6A4C73712}"/>
              </a:ext>
            </a:extLst>
          </p:cNvPr>
          <p:cNvSpPr txBox="1"/>
          <p:nvPr/>
        </p:nvSpPr>
        <p:spPr>
          <a:xfrm>
            <a:off x="533400" y="2933114"/>
            <a:ext cx="7965440" cy="646331"/>
          </a:xfrm>
          <a:prstGeom prst="rect">
            <a:avLst/>
          </a:prstGeom>
          <a:noFill/>
        </p:spPr>
        <p:txBody>
          <a:bodyPr wrap="square">
            <a:spAutoFit/>
          </a:bodyPr>
          <a:lstStyle/>
          <a:p>
            <a:pPr marL="285750" indent="-285750">
              <a:spcAft>
                <a:spcPts val="1400"/>
              </a:spcAft>
              <a:buFont typeface="Arial" panose="020B0604020202020204" pitchFamily="34" charset="0"/>
              <a:buChar char="•"/>
            </a:pPr>
            <a:r>
              <a:rPr lang="en-US" sz="1800" dirty="0">
                <a:solidFill>
                  <a:srgbClr val="333333"/>
                </a:solidFill>
              </a:rPr>
              <a:t>Minimize change complexity — changes affect only the hiding module; fewer scheduling problems from dependency chains (Yourdon, Constantine)</a:t>
            </a:r>
          </a:p>
        </p:txBody>
      </p:sp>
      <p:sp>
        <p:nvSpPr>
          <p:cNvPr id="8" name="TextBox 7">
            <a:extLst>
              <a:ext uri="{FF2B5EF4-FFF2-40B4-BE49-F238E27FC236}">
                <a16:creationId xmlns:a16="http://schemas.microsoft.com/office/drawing/2014/main" id="{92246BF7-B3DB-F466-41B7-6B813899638C}"/>
              </a:ext>
            </a:extLst>
          </p:cNvPr>
          <p:cNvSpPr txBox="1"/>
          <p:nvPr/>
        </p:nvSpPr>
        <p:spPr>
          <a:xfrm>
            <a:off x="533400" y="3759200"/>
            <a:ext cx="7802880" cy="646331"/>
          </a:xfrm>
          <a:prstGeom prst="rect">
            <a:avLst/>
          </a:prstGeom>
          <a:noFill/>
        </p:spPr>
        <p:txBody>
          <a:bodyPr wrap="square">
            <a:spAutoFit/>
          </a:bodyPr>
          <a:lstStyle/>
          <a:p>
            <a:pPr marL="285750" indent="-285750">
              <a:spcAft>
                <a:spcPts val="1400"/>
              </a:spcAft>
              <a:buFont typeface="Arial" panose="020B0604020202020204" pitchFamily="34" charset="0"/>
              <a:buChar char="•"/>
            </a:pPr>
            <a:r>
              <a:rPr lang="en-US" dirty="0">
                <a:solidFill>
                  <a:srgbClr val="333333"/>
                </a:solidFill>
              </a:rPr>
              <a:t>Black Box </a:t>
            </a:r>
            <a:r>
              <a:rPr lang="en-US" sz="1800" dirty="0">
                <a:solidFill>
                  <a:srgbClr val="333333"/>
                </a:solidFill>
              </a:rPr>
              <a:t>Tests validate decisions — without knowing implementation details (Yourdon, Constantine)</a:t>
            </a:r>
          </a:p>
        </p:txBody>
      </p:sp>
      <p:sp>
        <p:nvSpPr>
          <p:cNvPr id="10" name="TextBox 9">
            <a:extLst>
              <a:ext uri="{FF2B5EF4-FFF2-40B4-BE49-F238E27FC236}">
                <a16:creationId xmlns:a16="http://schemas.microsoft.com/office/drawing/2014/main" id="{F490B0FC-4B62-FB17-BF14-67D0C8CBBC45}"/>
              </a:ext>
            </a:extLst>
          </p:cNvPr>
          <p:cNvSpPr txBox="1"/>
          <p:nvPr/>
        </p:nvSpPr>
        <p:spPr>
          <a:xfrm>
            <a:off x="548640" y="4619108"/>
            <a:ext cx="7447280" cy="646331"/>
          </a:xfrm>
          <a:prstGeom prst="rect">
            <a:avLst/>
          </a:prstGeom>
          <a:noFill/>
        </p:spPr>
        <p:txBody>
          <a:bodyPr wrap="square">
            <a:spAutoFit/>
          </a:bodyPr>
          <a:lstStyle/>
          <a:p>
            <a:pPr marL="285750" indent="-285750">
              <a:spcAft>
                <a:spcPts val="1400"/>
              </a:spcAft>
              <a:buFont typeface="Arial" panose="020B0604020202020204" pitchFamily="34" charset="0"/>
              <a:buChar char="•"/>
            </a:pPr>
            <a:r>
              <a:rPr lang="en-US" sz="1800" dirty="0">
                <a:solidFill>
                  <a:srgbClr val="333333"/>
                </a:solidFill>
              </a:rPr>
              <a:t>Defects are localized — limiting scope of error searching (Yourdon, Constantine</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8"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980B9"/>
        </a:solidFill>
        <a:effectLst/>
      </p:bgPr>
    </p:bg>
    <p:spTree>
      <p:nvGrpSpPr>
        <p:cNvPr id="1" name="">
          <a:extLst>
            <a:ext uri="{FF2B5EF4-FFF2-40B4-BE49-F238E27FC236}">
              <a16:creationId xmlns:a16="http://schemas.microsoft.com/office/drawing/2014/main" id="{E1443DB7-04C0-5038-A7EF-10867904F0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AE8337F-88C3-0072-143E-A92A57859725}"/>
              </a:ext>
            </a:extLst>
          </p:cNvPr>
          <p:cNvSpPr/>
          <p:nvPr/>
        </p:nvSpPr>
        <p:spPr>
          <a:xfrm>
            <a:off x="457200" y="2286000"/>
            <a:ext cx="8229600" cy="1097280"/>
          </a:xfrm>
          <a:prstGeom prst="rect">
            <a:avLst/>
          </a:prstGeom>
          <a:noFill/>
          <a:ln/>
        </p:spPr>
        <p:txBody>
          <a:bodyPr wrap="square" rtlCol="0" anchor="ctr"/>
          <a:lstStyle/>
          <a:p>
            <a:pPr marL="0" indent="0">
              <a:buNone/>
            </a:pPr>
            <a:r>
              <a:rPr lang="en-US" sz="4400" b="1" dirty="0">
                <a:solidFill>
                  <a:srgbClr val="FFFFFF"/>
                </a:solidFill>
              </a:rPr>
              <a:t>What is a Module?</a:t>
            </a:r>
            <a:endParaRPr lang="en-US" sz="4400" dirty="0"/>
          </a:p>
        </p:txBody>
      </p:sp>
      <p:sp>
        <p:nvSpPr>
          <p:cNvPr id="3" name="Text 1">
            <a:extLst>
              <a:ext uri="{FF2B5EF4-FFF2-40B4-BE49-F238E27FC236}">
                <a16:creationId xmlns:a16="http://schemas.microsoft.com/office/drawing/2014/main" id="{EF956C91-4848-5F10-A904-3A863E226879}"/>
              </a:ext>
            </a:extLst>
          </p:cNvPr>
          <p:cNvSpPr/>
          <p:nvPr/>
        </p:nvSpPr>
        <p:spPr>
          <a:xfrm>
            <a:off x="457200" y="3383280"/>
            <a:ext cx="8229600" cy="731520"/>
          </a:xfrm>
          <a:prstGeom prst="rect">
            <a:avLst/>
          </a:prstGeom>
          <a:noFill/>
          <a:ln/>
        </p:spPr>
        <p:txBody>
          <a:bodyPr wrap="square" rtlCol="0" anchor="ctr"/>
          <a:lstStyle/>
          <a:p>
            <a:pPr marL="0" indent="0">
              <a:buNone/>
            </a:pPr>
            <a:r>
              <a:rPr lang="en-US" sz="2000" dirty="0">
                <a:solidFill>
                  <a:srgbClr val="FFFFFF"/>
                </a:solidFill>
              </a:rPr>
              <a:t>Definition</a:t>
            </a:r>
            <a:endParaRPr lang="en-US" sz="2000" dirty="0"/>
          </a:p>
        </p:txBody>
      </p:sp>
    </p:spTree>
    <p:extLst>
      <p:ext uri="{BB962C8B-B14F-4D97-AF65-F5344CB8AC3E}">
        <p14:creationId xmlns:p14="http://schemas.microsoft.com/office/powerpoint/2010/main" val="2780438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What is a Module?</a:t>
            </a:r>
            <a:endParaRPr lang="en-US" sz="4000" dirty="0"/>
          </a:p>
        </p:txBody>
      </p:sp>
      <p:sp>
        <p:nvSpPr>
          <p:cNvPr id="3" name="Text 1"/>
          <p:cNvSpPr/>
          <p:nvPr/>
        </p:nvSpPr>
        <p:spPr>
          <a:xfrm>
            <a:off x="548640" y="1463040"/>
            <a:ext cx="7772400" cy="548640"/>
          </a:xfrm>
          <a:prstGeom prst="rect">
            <a:avLst/>
          </a:prstGeom>
          <a:noFill/>
          <a:ln/>
        </p:spPr>
        <p:txBody>
          <a:bodyPr wrap="square" rtlCol="0" anchor="ctr"/>
          <a:lstStyle/>
          <a:p>
            <a:pPr marL="0" indent="0">
              <a:buNone/>
            </a:pPr>
            <a:r>
              <a:rPr lang="en-US" sz="2200" i="1" dirty="0">
                <a:solidFill>
                  <a:srgbClr val="2C3E50"/>
                </a:solidFill>
              </a:rPr>
              <a:t>"A module is a responsibility assignment"</a:t>
            </a:r>
            <a:endParaRPr lang="en-US" sz="2200" dirty="0"/>
          </a:p>
        </p:txBody>
      </p:sp>
      <p:sp>
        <p:nvSpPr>
          <p:cNvPr id="4" name="Text 2"/>
          <p:cNvSpPr/>
          <p:nvPr/>
        </p:nvSpPr>
        <p:spPr>
          <a:xfrm>
            <a:off x="548640" y="2011680"/>
            <a:ext cx="7772400" cy="365760"/>
          </a:xfrm>
          <a:prstGeom prst="rect">
            <a:avLst/>
          </a:prstGeom>
          <a:noFill/>
          <a:ln/>
        </p:spPr>
        <p:txBody>
          <a:bodyPr wrap="square" rtlCol="0" anchor="ctr"/>
          <a:lstStyle/>
          <a:p>
            <a:pPr marL="0" indent="0">
              <a:buNone/>
            </a:pPr>
            <a:r>
              <a:rPr lang="en-US" sz="1600" dirty="0">
                <a:solidFill>
                  <a:srgbClr val="64748B"/>
                </a:solidFill>
              </a:rPr>
              <a:t>— Parnas, 1972</a:t>
            </a:r>
            <a:endParaRPr lang="en-US" sz="1600" dirty="0"/>
          </a:p>
        </p:txBody>
      </p:sp>
      <p:sp>
        <p:nvSpPr>
          <p:cNvPr id="5" name="Text 3"/>
          <p:cNvSpPr/>
          <p:nvPr/>
        </p:nvSpPr>
        <p:spPr>
          <a:xfrm>
            <a:off x="548640" y="2743200"/>
            <a:ext cx="7772400" cy="365760"/>
          </a:xfrm>
          <a:prstGeom prst="rect">
            <a:avLst/>
          </a:prstGeom>
          <a:noFill/>
          <a:ln/>
        </p:spPr>
        <p:txBody>
          <a:bodyPr wrap="square" rtlCol="0" anchor="ctr"/>
          <a:lstStyle/>
          <a:p>
            <a:pPr marL="342900" indent="-342900">
              <a:spcAft>
                <a:spcPts val="1400"/>
              </a:spcAft>
              <a:buFont typeface="Arial" panose="020B0604020202020204" pitchFamily="34" charset="0"/>
              <a:buChar char="•"/>
            </a:pPr>
            <a:r>
              <a:rPr lang="en-US" sz="2000" dirty="0">
                <a:solidFill>
                  <a:srgbClr val="333333"/>
                </a:solidFill>
              </a:rPr>
              <a:t>Logical unit with interface + hidden implementation</a:t>
            </a:r>
            <a:endParaRPr lang="en-US" sz="2000" dirty="0"/>
          </a:p>
        </p:txBody>
      </p:sp>
      <p:sp>
        <p:nvSpPr>
          <p:cNvPr id="7" name="TextBox 6">
            <a:extLst>
              <a:ext uri="{FF2B5EF4-FFF2-40B4-BE49-F238E27FC236}">
                <a16:creationId xmlns:a16="http://schemas.microsoft.com/office/drawing/2014/main" id="{E19C637A-E0BA-251A-6426-6F5810312BF4}"/>
              </a:ext>
            </a:extLst>
          </p:cNvPr>
          <p:cNvSpPr txBox="1"/>
          <p:nvPr/>
        </p:nvSpPr>
        <p:spPr>
          <a:xfrm>
            <a:off x="548640" y="3274665"/>
            <a:ext cx="5974080" cy="400110"/>
          </a:xfrm>
          <a:prstGeom prst="rect">
            <a:avLst/>
          </a:prstGeom>
          <a:noFill/>
        </p:spPr>
        <p:txBody>
          <a:bodyPr wrap="square">
            <a:spAutoFit/>
          </a:bodyPr>
          <a:lstStyle/>
          <a:p>
            <a:pPr marL="342900" indent="-342900">
              <a:spcAft>
                <a:spcPts val="1400"/>
              </a:spcAft>
              <a:buFont typeface="Arial" panose="020B0604020202020204" pitchFamily="34" charset="0"/>
              <a:buChar char="•"/>
            </a:pPr>
            <a:r>
              <a:rPr lang="en-US" sz="2000" dirty="0">
                <a:solidFill>
                  <a:srgbClr val="333333"/>
                </a:solidFill>
              </a:rPr>
              <a:t>Deal with the name, not the details (abstraction)</a:t>
            </a:r>
            <a:endParaRPr lang="en-US" sz="2000" dirty="0"/>
          </a:p>
        </p:txBody>
      </p:sp>
      <p:sp>
        <p:nvSpPr>
          <p:cNvPr id="9" name="TextBox 8">
            <a:extLst>
              <a:ext uri="{FF2B5EF4-FFF2-40B4-BE49-F238E27FC236}">
                <a16:creationId xmlns:a16="http://schemas.microsoft.com/office/drawing/2014/main" id="{CCE2D7FA-8880-29BB-6412-EF5F9891C2E6}"/>
              </a:ext>
            </a:extLst>
          </p:cNvPr>
          <p:cNvSpPr txBox="1"/>
          <p:nvPr/>
        </p:nvSpPr>
        <p:spPr>
          <a:xfrm>
            <a:off x="548640" y="3837355"/>
            <a:ext cx="5476240" cy="400110"/>
          </a:xfrm>
          <a:prstGeom prst="rect">
            <a:avLst/>
          </a:prstGeom>
          <a:noFill/>
        </p:spPr>
        <p:txBody>
          <a:bodyPr wrap="square">
            <a:spAutoFit/>
          </a:bodyPr>
          <a:lstStyle/>
          <a:p>
            <a:pPr marL="285750" indent="-285750">
              <a:spcAft>
                <a:spcPts val="1400"/>
              </a:spcAft>
              <a:buFont typeface="Arial" panose="020B0604020202020204" pitchFamily="34" charset="0"/>
              <a:buChar char="•"/>
            </a:pPr>
            <a:r>
              <a:rPr lang="en-US" sz="2000" dirty="0">
                <a:solidFill>
                  <a:srgbClr val="333333"/>
                </a:solidFill>
              </a:rPr>
              <a:t>Don't couple to the details (information hiding)</a:t>
            </a:r>
            <a:endParaRPr lang="en-US" sz="2000" dirty="0"/>
          </a:p>
        </p:txBody>
      </p:sp>
      <p:sp>
        <p:nvSpPr>
          <p:cNvPr id="10" name="TextBox 9">
            <a:extLst>
              <a:ext uri="{FF2B5EF4-FFF2-40B4-BE49-F238E27FC236}">
                <a16:creationId xmlns:a16="http://schemas.microsoft.com/office/drawing/2014/main" id="{6F4D94CC-F586-5BC3-7F40-EF05C16E52C5}"/>
              </a:ext>
            </a:extLst>
          </p:cNvPr>
          <p:cNvSpPr txBox="1"/>
          <p:nvPr/>
        </p:nvSpPr>
        <p:spPr>
          <a:xfrm>
            <a:off x="548640" y="4994850"/>
            <a:ext cx="5476240" cy="400110"/>
          </a:xfrm>
          <a:prstGeom prst="rect">
            <a:avLst/>
          </a:prstGeom>
          <a:noFill/>
        </p:spPr>
        <p:txBody>
          <a:bodyPr wrap="square">
            <a:spAutoFit/>
          </a:bodyPr>
          <a:lstStyle/>
          <a:p>
            <a:pPr marL="285750" indent="-285750">
              <a:spcAft>
                <a:spcPts val="1400"/>
              </a:spcAft>
              <a:buFont typeface="Arial" panose="020B0604020202020204" pitchFamily="34" charset="0"/>
              <a:buChar char="•"/>
            </a:pPr>
            <a:r>
              <a:rPr lang="en-US" sz="2000" dirty="0">
                <a:solidFill>
                  <a:srgbClr val="333333"/>
                </a:solidFill>
              </a:rPr>
              <a:t>Treat as a Black Box – easier to reason about</a:t>
            </a:r>
            <a:endParaRPr lang="en-US" sz="2000" dirty="0"/>
          </a:p>
        </p:txBody>
      </p:sp>
      <p:sp>
        <p:nvSpPr>
          <p:cNvPr id="11" name="TextBox 10">
            <a:extLst>
              <a:ext uri="{FF2B5EF4-FFF2-40B4-BE49-F238E27FC236}">
                <a16:creationId xmlns:a16="http://schemas.microsoft.com/office/drawing/2014/main" id="{6587E7B6-ECBE-39D5-9483-AA6D4A69A6C0}"/>
              </a:ext>
            </a:extLst>
          </p:cNvPr>
          <p:cNvSpPr txBox="1"/>
          <p:nvPr/>
        </p:nvSpPr>
        <p:spPr>
          <a:xfrm>
            <a:off x="548640" y="5557540"/>
            <a:ext cx="8046720" cy="400110"/>
          </a:xfrm>
          <a:prstGeom prst="rect">
            <a:avLst/>
          </a:prstGeom>
          <a:noFill/>
        </p:spPr>
        <p:txBody>
          <a:bodyPr wrap="square">
            <a:spAutoFit/>
          </a:bodyPr>
          <a:lstStyle/>
          <a:p>
            <a:pPr marL="285750" indent="-285750">
              <a:spcAft>
                <a:spcPts val="1400"/>
              </a:spcAft>
              <a:buFont typeface="Arial" panose="020B0604020202020204" pitchFamily="34" charset="0"/>
              <a:buChar char="•"/>
            </a:pPr>
            <a:r>
              <a:rPr lang="en-US" sz="2000" dirty="0">
                <a:solidFill>
                  <a:srgbClr val="333333"/>
                </a:solidFill>
              </a:rPr>
              <a:t>Unit Tests target a Black Box; Integration Tests are between Black Boxes</a:t>
            </a:r>
            <a:endParaRPr lang="en-US" sz="2000" dirty="0"/>
          </a:p>
        </p:txBody>
      </p:sp>
      <p:sp>
        <p:nvSpPr>
          <p:cNvPr id="12" name="TextBox 11">
            <a:extLst>
              <a:ext uri="{FF2B5EF4-FFF2-40B4-BE49-F238E27FC236}">
                <a16:creationId xmlns:a16="http://schemas.microsoft.com/office/drawing/2014/main" id="{E51D64BA-5655-70E5-49E5-9F8F2E6B4ECE}"/>
              </a:ext>
            </a:extLst>
          </p:cNvPr>
          <p:cNvSpPr txBox="1"/>
          <p:nvPr/>
        </p:nvSpPr>
        <p:spPr>
          <a:xfrm>
            <a:off x="548640" y="4400045"/>
            <a:ext cx="5974079" cy="400110"/>
          </a:xfrm>
          <a:prstGeom prst="rect">
            <a:avLst/>
          </a:prstGeom>
          <a:noFill/>
        </p:spPr>
        <p:txBody>
          <a:bodyPr wrap="square">
            <a:spAutoFit/>
          </a:bodyPr>
          <a:lstStyle/>
          <a:p>
            <a:pPr marL="285750" indent="-285750">
              <a:spcAft>
                <a:spcPts val="1400"/>
              </a:spcAft>
              <a:buFont typeface="Arial" panose="020B0604020202020204" pitchFamily="34" charset="0"/>
              <a:buChar char="•"/>
            </a:pPr>
            <a:r>
              <a:rPr lang="en-US" sz="2000" dirty="0"/>
              <a:t>Easier collaboration, changes confined to a module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p:bldP spid="10" grpId="0"/>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Information Hiding</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800" dirty="0">
                <a:solidFill>
                  <a:srgbClr val="64748B"/>
                </a:solidFill>
              </a:rPr>
              <a:t>The key insight</a:t>
            </a:r>
            <a:endParaRPr lang="en-US" sz="1800" dirty="0"/>
          </a:p>
        </p:txBody>
      </p:sp>
      <p:sp>
        <p:nvSpPr>
          <p:cNvPr id="4" name="Text 2"/>
          <p:cNvSpPr/>
          <p:nvPr/>
        </p:nvSpPr>
        <p:spPr>
          <a:xfrm>
            <a:off x="548640" y="1645920"/>
            <a:ext cx="7772400" cy="548640"/>
          </a:xfrm>
          <a:prstGeom prst="rect">
            <a:avLst/>
          </a:prstGeom>
          <a:noFill/>
          <a:ln/>
        </p:spPr>
        <p:txBody>
          <a:bodyPr wrap="square" rtlCol="0" anchor="ctr"/>
          <a:lstStyle/>
          <a:p>
            <a:pPr marL="0" indent="0">
              <a:buNone/>
            </a:pPr>
            <a:r>
              <a:rPr lang="en-US" sz="2200" b="1" dirty="0">
                <a:solidFill>
                  <a:srgbClr val="000000"/>
                </a:solidFill>
              </a:rPr>
              <a:t>Hide design decisions that are likely to change (Parnas)</a:t>
            </a:r>
            <a:endParaRPr lang="en-US" sz="2200" dirty="0"/>
          </a:p>
        </p:txBody>
      </p:sp>
      <p:sp>
        <p:nvSpPr>
          <p:cNvPr id="5" name="Text 3"/>
          <p:cNvSpPr/>
          <p:nvPr/>
        </p:nvSpPr>
        <p:spPr>
          <a:xfrm>
            <a:off x="548640" y="2280891"/>
            <a:ext cx="7772400" cy="418312"/>
          </a:xfrm>
          <a:prstGeom prst="rect">
            <a:avLst/>
          </a:prstGeom>
          <a:noFill/>
          <a:ln/>
        </p:spPr>
        <p:txBody>
          <a:bodyPr wrap="square" rtlCol="0" anchor="ctr"/>
          <a:lstStyle/>
          <a:p>
            <a:pPr marL="342900" indent="-342900">
              <a:spcAft>
                <a:spcPts val="1200"/>
              </a:spcAft>
              <a:buFont typeface="Arial" panose="020B0604020202020204" pitchFamily="34" charset="0"/>
              <a:buChar char="•"/>
            </a:pPr>
            <a:r>
              <a:rPr lang="en-US" sz="2000" dirty="0">
                <a:solidFill>
                  <a:srgbClr val="333333"/>
                </a:solidFill>
              </a:rPr>
              <a:t>Data Structures</a:t>
            </a:r>
            <a:endParaRPr lang="en-US" sz="2000" dirty="0"/>
          </a:p>
        </p:txBody>
      </p:sp>
      <p:sp>
        <p:nvSpPr>
          <p:cNvPr id="6" name="Shape 4"/>
          <p:cNvSpPr/>
          <p:nvPr/>
        </p:nvSpPr>
        <p:spPr>
          <a:xfrm>
            <a:off x="548640" y="4820044"/>
            <a:ext cx="8046720" cy="548640"/>
          </a:xfrm>
          <a:prstGeom prst="rect">
            <a:avLst/>
          </a:prstGeom>
          <a:solidFill>
            <a:srgbClr val="F1F5F9"/>
          </a:solidFill>
          <a:ln/>
        </p:spPr>
        <p:txBody>
          <a:bodyPr/>
          <a:lstStyle/>
          <a:p>
            <a:endParaRPr lang="en-US"/>
          </a:p>
        </p:txBody>
      </p:sp>
      <p:sp>
        <p:nvSpPr>
          <p:cNvPr id="7" name="Text 5"/>
          <p:cNvSpPr/>
          <p:nvPr/>
        </p:nvSpPr>
        <p:spPr>
          <a:xfrm>
            <a:off x="731520" y="4911484"/>
            <a:ext cx="7680960" cy="365760"/>
          </a:xfrm>
          <a:prstGeom prst="rect">
            <a:avLst/>
          </a:prstGeom>
          <a:noFill/>
          <a:ln/>
        </p:spPr>
        <p:txBody>
          <a:bodyPr wrap="square" rtlCol="0" anchor="ctr"/>
          <a:lstStyle/>
          <a:p>
            <a:pPr marL="0" indent="0">
              <a:buNone/>
            </a:pPr>
            <a:r>
              <a:rPr lang="en-US" sz="1600" i="1" dirty="0">
                <a:solidFill>
                  <a:srgbClr val="64748B"/>
                </a:solidFill>
              </a:rPr>
              <a:t>If a decision is hard to change later, hide it now</a:t>
            </a:r>
            <a:endParaRPr lang="en-US" sz="1600" dirty="0"/>
          </a:p>
        </p:txBody>
      </p:sp>
      <p:sp>
        <p:nvSpPr>
          <p:cNvPr id="9" name="TextBox 8">
            <a:extLst>
              <a:ext uri="{FF2B5EF4-FFF2-40B4-BE49-F238E27FC236}">
                <a16:creationId xmlns:a16="http://schemas.microsoft.com/office/drawing/2014/main" id="{497D6DE5-5F29-28AC-B589-76A5BA50AFFF}"/>
              </a:ext>
            </a:extLst>
          </p:cNvPr>
          <p:cNvSpPr txBox="1"/>
          <p:nvPr/>
        </p:nvSpPr>
        <p:spPr>
          <a:xfrm>
            <a:off x="548640" y="2929154"/>
            <a:ext cx="4572000" cy="369332"/>
          </a:xfrm>
          <a:prstGeom prst="rect">
            <a:avLst/>
          </a:prstGeom>
          <a:noFill/>
        </p:spPr>
        <p:txBody>
          <a:bodyPr wrap="square">
            <a:spAutoFit/>
          </a:bodyPr>
          <a:lstStyle/>
          <a:p>
            <a:pPr marL="285750" indent="-285750">
              <a:buFont typeface="Arial" panose="020B0604020202020204" pitchFamily="34" charset="0"/>
              <a:buChar char="•"/>
            </a:pPr>
            <a:r>
              <a:rPr lang="en-US" sz="1800" dirty="0">
                <a:solidFill>
                  <a:srgbClr val="333333"/>
                </a:solidFill>
              </a:rPr>
              <a:t>Algorithms</a:t>
            </a:r>
            <a:endParaRPr lang="en-US" dirty="0"/>
          </a:p>
        </p:txBody>
      </p:sp>
      <p:sp>
        <p:nvSpPr>
          <p:cNvPr id="13" name="TextBox 12">
            <a:extLst>
              <a:ext uri="{FF2B5EF4-FFF2-40B4-BE49-F238E27FC236}">
                <a16:creationId xmlns:a16="http://schemas.microsoft.com/office/drawing/2014/main" id="{D91810C0-7933-BEAA-0007-E7992DA4D04F}"/>
              </a:ext>
            </a:extLst>
          </p:cNvPr>
          <p:cNvSpPr txBox="1"/>
          <p:nvPr/>
        </p:nvSpPr>
        <p:spPr>
          <a:xfrm>
            <a:off x="548640" y="3528437"/>
            <a:ext cx="4572000" cy="369332"/>
          </a:xfrm>
          <a:prstGeom prst="rect">
            <a:avLst/>
          </a:prstGeom>
          <a:noFill/>
        </p:spPr>
        <p:txBody>
          <a:bodyPr wrap="square">
            <a:spAutoFit/>
          </a:bodyPr>
          <a:lstStyle/>
          <a:p>
            <a:pPr marL="285750" indent="-285750">
              <a:buFont typeface="Arial" panose="020B0604020202020204" pitchFamily="34" charset="0"/>
              <a:buChar char="•"/>
            </a:pPr>
            <a:r>
              <a:rPr lang="en-US" sz="1800" dirty="0">
                <a:solidFill>
                  <a:srgbClr val="333333"/>
                </a:solidFill>
              </a:rPr>
              <a:t>External Dependencies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Deep vs Shallow Modules</a:t>
            </a:r>
            <a:endParaRPr lang="en-US" sz="4000" dirty="0"/>
          </a:p>
        </p:txBody>
      </p:sp>
      <p:sp>
        <p:nvSpPr>
          <p:cNvPr id="3" name="Text 1"/>
          <p:cNvSpPr/>
          <p:nvPr/>
        </p:nvSpPr>
        <p:spPr>
          <a:xfrm>
            <a:off x="457200" y="1143000"/>
            <a:ext cx="8229600" cy="457200"/>
          </a:xfrm>
          <a:prstGeom prst="rect">
            <a:avLst/>
          </a:prstGeom>
          <a:noFill/>
          <a:ln/>
        </p:spPr>
        <p:txBody>
          <a:bodyPr wrap="square" rtlCol="0" anchor="ctr"/>
          <a:lstStyle/>
          <a:p>
            <a:pPr marL="0" indent="0">
              <a:buNone/>
            </a:pPr>
            <a:r>
              <a:rPr lang="en-US" sz="1800" dirty="0">
                <a:solidFill>
                  <a:srgbClr val="64748B"/>
                </a:solidFill>
              </a:rPr>
              <a:t>John Ousterhout's insight in a Philosophy of Software Design</a:t>
            </a:r>
            <a:endParaRPr lang="en-US" sz="1800" dirty="0"/>
          </a:p>
        </p:txBody>
      </p:sp>
      <p:sp>
        <p:nvSpPr>
          <p:cNvPr id="4" name="Shape 2"/>
          <p:cNvSpPr/>
          <p:nvPr/>
        </p:nvSpPr>
        <p:spPr>
          <a:xfrm>
            <a:off x="1397876" y="2333297"/>
            <a:ext cx="1734207" cy="365760"/>
          </a:xfrm>
          <a:prstGeom prst="rect">
            <a:avLst/>
          </a:prstGeom>
          <a:solidFill>
            <a:srgbClr val="2C3E50"/>
          </a:solidFill>
          <a:ln/>
        </p:spPr>
        <p:txBody>
          <a:bodyPr/>
          <a:lstStyle/>
          <a:p>
            <a:endParaRPr lang="en-US"/>
          </a:p>
        </p:txBody>
      </p:sp>
      <p:sp>
        <p:nvSpPr>
          <p:cNvPr id="5" name="Text 3"/>
          <p:cNvSpPr/>
          <p:nvPr/>
        </p:nvSpPr>
        <p:spPr>
          <a:xfrm>
            <a:off x="1397876" y="2333297"/>
            <a:ext cx="1734207" cy="365760"/>
          </a:xfrm>
          <a:prstGeom prst="rect">
            <a:avLst/>
          </a:prstGeom>
          <a:noFill/>
          <a:ln/>
        </p:spPr>
        <p:txBody>
          <a:bodyPr wrap="square" rtlCol="0" anchor="ctr"/>
          <a:lstStyle/>
          <a:p>
            <a:pPr marL="0" indent="0" algn="ctr">
              <a:buNone/>
            </a:pPr>
            <a:r>
              <a:rPr lang="en-US" sz="1400" dirty="0">
                <a:solidFill>
                  <a:srgbClr val="FFFFFF"/>
                </a:solidFill>
              </a:rPr>
              <a:t>Interface</a:t>
            </a:r>
            <a:endParaRPr lang="en-US" sz="1400" dirty="0"/>
          </a:p>
        </p:txBody>
      </p:sp>
      <p:sp>
        <p:nvSpPr>
          <p:cNvPr id="6" name="Shape 4"/>
          <p:cNvSpPr/>
          <p:nvPr/>
        </p:nvSpPr>
        <p:spPr>
          <a:xfrm>
            <a:off x="1397876" y="2699057"/>
            <a:ext cx="1734207" cy="2011680"/>
          </a:xfrm>
          <a:prstGeom prst="rect">
            <a:avLst/>
          </a:prstGeom>
          <a:solidFill>
            <a:srgbClr val="2980B9"/>
          </a:solidFill>
          <a:ln/>
        </p:spPr>
        <p:txBody>
          <a:bodyPr/>
          <a:lstStyle/>
          <a:p>
            <a:endParaRPr lang="en-US"/>
          </a:p>
        </p:txBody>
      </p:sp>
      <p:sp>
        <p:nvSpPr>
          <p:cNvPr id="7" name="Text 5"/>
          <p:cNvSpPr/>
          <p:nvPr/>
        </p:nvSpPr>
        <p:spPr>
          <a:xfrm>
            <a:off x="1397876" y="3430577"/>
            <a:ext cx="1734207" cy="457200"/>
          </a:xfrm>
          <a:prstGeom prst="rect">
            <a:avLst/>
          </a:prstGeom>
          <a:noFill/>
          <a:ln/>
        </p:spPr>
        <p:txBody>
          <a:bodyPr wrap="square" rtlCol="0" anchor="ctr"/>
          <a:lstStyle/>
          <a:p>
            <a:pPr marL="0" indent="0" algn="ctr">
              <a:buNone/>
            </a:pPr>
            <a:r>
              <a:rPr lang="en-US" sz="1600" dirty="0">
                <a:solidFill>
                  <a:srgbClr val="FFFFFF"/>
                </a:solidFill>
              </a:rPr>
              <a:t>Implementation</a:t>
            </a:r>
            <a:endParaRPr lang="en-US" sz="1600" dirty="0"/>
          </a:p>
        </p:txBody>
      </p:sp>
      <p:sp>
        <p:nvSpPr>
          <p:cNvPr id="8" name="Text 6"/>
          <p:cNvSpPr/>
          <p:nvPr/>
        </p:nvSpPr>
        <p:spPr>
          <a:xfrm>
            <a:off x="457200" y="4893616"/>
            <a:ext cx="3657600" cy="729417"/>
          </a:xfrm>
          <a:prstGeom prst="rect">
            <a:avLst/>
          </a:prstGeom>
          <a:noFill/>
          <a:ln/>
        </p:spPr>
        <p:txBody>
          <a:bodyPr wrap="square" rtlCol="0" anchor="ctr"/>
          <a:lstStyle/>
          <a:p>
            <a:pPr marL="0" indent="0" algn="ctr">
              <a:buNone/>
            </a:pPr>
            <a:r>
              <a:rPr lang="en-US" sz="2000" b="1" dirty="0">
                <a:solidFill>
                  <a:srgbClr val="333333"/>
                </a:solidFill>
              </a:rPr>
              <a:t>Deep: Narrow interface, deep implementation</a:t>
            </a:r>
            <a:endParaRPr lang="en-US" sz="2000" b="1" dirty="0"/>
          </a:p>
        </p:txBody>
      </p:sp>
      <p:sp>
        <p:nvSpPr>
          <p:cNvPr id="9" name="Shape 7"/>
          <p:cNvSpPr/>
          <p:nvPr/>
        </p:nvSpPr>
        <p:spPr>
          <a:xfrm>
            <a:off x="4834759" y="2333297"/>
            <a:ext cx="3852041" cy="365760"/>
          </a:xfrm>
          <a:prstGeom prst="rect">
            <a:avLst/>
          </a:prstGeom>
          <a:solidFill>
            <a:srgbClr val="2C3E50"/>
          </a:solidFill>
          <a:ln/>
        </p:spPr>
        <p:txBody>
          <a:bodyPr/>
          <a:lstStyle/>
          <a:p>
            <a:endParaRPr lang="en-US"/>
          </a:p>
        </p:txBody>
      </p:sp>
      <p:sp>
        <p:nvSpPr>
          <p:cNvPr id="10" name="Text 8"/>
          <p:cNvSpPr/>
          <p:nvPr/>
        </p:nvSpPr>
        <p:spPr>
          <a:xfrm>
            <a:off x="5029200" y="2333297"/>
            <a:ext cx="3200400" cy="365760"/>
          </a:xfrm>
          <a:prstGeom prst="rect">
            <a:avLst/>
          </a:prstGeom>
          <a:noFill/>
          <a:ln/>
        </p:spPr>
        <p:txBody>
          <a:bodyPr wrap="square" rtlCol="0" anchor="ctr"/>
          <a:lstStyle/>
          <a:p>
            <a:pPr marL="0" indent="0" algn="ctr">
              <a:buNone/>
            </a:pPr>
            <a:r>
              <a:rPr lang="en-US" sz="1400" dirty="0">
                <a:solidFill>
                  <a:srgbClr val="FFFFFF"/>
                </a:solidFill>
              </a:rPr>
              <a:t>Interface</a:t>
            </a:r>
            <a:endParaRPr lang="en-US" sz="1400" dirty="0"/>
          </a:p>
        </p:txBody>
      </p:sp>
      <p:sp>
        <p:nvSpPr>
          <p:cNvPr id="11" name="Shape 9"/>
          <p:cNvSpPr/>
          <p:nvPr/>
        </p:nvSpPr>
        <p:spPr>
          <a:xfrm>
            <a:off x="4834759" y="2699057"/>
            <a:ext cx="3852041" cy="731520"/>
          </a:xfrm>
          <a:prstGeom prst="rect">
            <a:avLst/>
          </a:prstGeom>
          <a:solidFill>
            <a:srgbClr val="2980B9"/>
          </a:solidFill>
          <a:ln/>
        </p:spPr>
        <p:txBody>
          <a:bodyPr/>
          <a:lstStyle/>
          <a:p>
            <a:endParaRPr lang="en-US"/>
          </a:p>
        </p:txBody>
      </p:sp>
      <p:sp>
        <p:nvSpPr>
          <p:cNvPr id="12" name="Text 10"/>
          <p:cNvSpPr/>
          <p:nvPr/>
        </p:nvSpPr>
        <p:spPr>
          <a:xfrm>
            <a:off x="5029200" y="2790497"/>
            <a:ext cx="3200400" cy="548640"/>
          </a:xfrm>
          <a:prstGeom prst="rect">
            <a:avLst/>
          </a:prstGeom>
          <a:noFill/>
          <a:ln/>
        </p:spPr>
        <p:txBody>
          <a:bodyPr wrap="square" rtlCol="0" anchor="ctr"/>
          <a:lstStyle/>
          <a:p>
            <a:pPr marL="0" indent="0" algn="ctr">
              <a:buNone/>
            </a:pPr>
            <a:r>
              <a:rPr lang="en-US" sz="1600" dirty="0">
                <a:solidFill>
                  <a:srgbClr val="FFFFFF"/>
                </a:solidFill>
              </a:rPr>
              <a:t>Impl</a:t>
            </a:r>
            <a:endParaRPr lang="en-US" sz="1600" dirty="0"/>
          </a:p>
        </p:txBody>
      </p:sp>
      <p:sp>
        <p:nvSpPr>
          <p:cNvPr id="13" name="Text 11"/>
          <p:cNvSpPr/>
          <p:nvPr/>
        </p:nvSpPr>
        <p:spPr>
          <a:xfrm>
            <a:off x="5029200" y="4893616"/>
            <a:ext cx="3657600" cy="731520"/>
          </a:xfrm>
          <a:prstGeom prst="rect">
            <a:avLst/>
          </a:prstGeom>
          <a:noFill/>
          <a:ln/>
        </p:spPr>
        <p:txBody>
          <a:bodyPr wrap="square" rtlCol="0" anchor="ctr"/>
          <a:lstStyle/>
          <a:p>
            <a:pPr marL="0" indent="0" algn="ctr">
              <a:buNone/>
            </a:pPr>
            <a:r>
              <a:rPr lang="en-US" sz="2000" b="1" dirty="0">
                <a:solidFill>
                  <a:srgbClr val="333333"/>
                </a:solidFill>
              </a:rPr>
              <a:t>Shallow: Wide interface, shallow implementation</a:t>
            </a:r>
            <a:endParaRPr lang="en-US" sz="20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D3DCC-7BD5-9D05-07C2-C2B9923B09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2C6A92-E055-E69B-B177-96907461C125}"/>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Facade</a:t>
            </a:r>
            <a:endParaRPr lang="en-US" sz="4000" dirty="0"/>
          </a:p>
        </p:txBody>
      </p:sp>
      <p:sp>
        <p:nvSpPr>
          <p:cNvPr id="3" name="Text 1">
            <a:extLst>
              <a:ext uri="{FF2B5EF4-FFF2-40B4-BE49-F238E27FC236}">
                <a16:creationId xmlns:a16="http://schemas.microsoft.com/office/drawing/2014/main" id="{66B62FDD-1FF3-FDE7-26D4-1AE8B093CC97}"/>
              </a:ext>
            </a:extLst>
          </p:cNvPr>
          <p:cNvSpPr/>
          <p:nvPr/>
        </p:nvSpPr>
        <p:spPr>
          <a:xfrm>
            <a:off x="457200" y="1143000"/>
            <a:ext cx="8229600" cy="457200"/>
          </a:xfrm>
          <a:prstGeom prst="rect">
            <a:avLst/>
          </a:prstGeom>
          <a:noFill/>
          <a:ln/>
        </p:spPr>
        <p:txBody>
          <a:bodyPr wrap="square" rtlCol="0" anchor="ctr"/>
          <a:lstStyle/>
          <a:p>
            <a:pPr marL="0" indent="0">
              <a:buNone/>
            </a:pPr>
            <a:r>
              <a:rPr lang="en-US" sz="1800" dirty="0">
                <a:solidFill>
                  <a:srgbClr val="64748B"/>
                </a:solidFill>
              </a:rPr>
              <a:t>Create Deep Modules Using A Facade</a:t>
            </a:r>
            <a:endParaRPr lang="en-US" sz="1800" dirty="0"/>
          </a:p>
        </p:txBody>
      </p:sp>
      <p:pic>
        <p:nvPicPr>
          <p:cNvPr id="16" name="Graphic 15">
            <a:extLst>
              <a:ext uri="{FF2B5EF4-FFF2-40B4-BE49-F238E27FC236}">
                <a16:creationId xmlns:a16="http://schemas.microsoft.com/office/drawing/2014/main" id="{54121F33-3C05-3E7D-1AAE-67E627EB40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8250" y="2117834"/>
            <a:ext cx="6667500" cy="3810000"/>
          </a:xfrm>
          <a:prstGeom prst="rect">
            <a:avLst/>
          </a:prstGeom>
        </p:spPr>
      </p:pic>
    </p:spTree>
    <p:extLst>
      <p:ext uri="{BB962C8B-B14F-4D97-AF65-F5344CB8AC3E}">
        <p14:creationId xmlns:p14="http://schemas.microsoft.com/office/powerpoint/2010/main" val="2231079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980B9"/>
        </a:solidFill>
        <a:effectLst/>
      </p:bgPr>
    </p:bg>
    <p:spTree>
      <p:nvGrpSpPr>
        <p:cNvPr id="1" name="">
          <a:extLst>
            <a:ext uri="{FF2B5EF4-FFF2-40B4-BE49-F238E27FC236}">
              <a16:creationId xmlns:a16="http://schemas.microsoft.com/office/drawing/2014/main" id="{8B574707-8D68-312C-B83C-D5BB2FA9883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6782E35-018F-91D8-54ED-C163C2A103A7}"/>
              </a:ext>
            </a:extLst>
          </p:cNvPr>
          <p:cNvSpPr/>
          <p:nvPr/>
        </p:nvSpPr>
        <p:spPr>
          <a:xfrm>
            <a:off x="457200" y="2286000"/>
            <a:ext cx="8229600" cy="1097280"/>
          </a:xfrm>
          <a:prstGeom prst="rect">
            <a:avLst/>
          </a:prstGeom>
          <a:noFill/>
          <a:ln/>
        </p:spPr>
        <p:txBody>
          <a:bodyPr wrap="square" rtlCol="0" anchor="ctr"/>
          <a:lstStyle/>
          <a:p>
            <a:pPr marL="0" indent="0">
              <a:buNone/>
            </a:pPr>
            <a:r>
              <a:rPr lang="en-US" sz="4400" b="1" dirty="0">
                <a:solidFill>
                  <a:srgbClr val="FFFFFF"/>
                </a:solidFill>
              </a:rPr>
              <a:t>C# Modules</a:t>
            </a:r>
            <a:endParaRPr lang="en-US" sz="4400" dirty="0"/>
          </a:p>
        </p:txBody>
      </p:sp>
      <p:sp>
        <p:nvSpPr>
          <p:cNvPr id="3" name="Text 1">
            <a:extLst>
              <a:ext uri="{FF2B5EF4-FFF2-40B4-BE49-F238E27FC236}">
                <a16:creationId xmlns:a16="http://schemas.microsoft.com/office/drawing/2014/main" id="{F02A1472-D5A2-0895-53C8-D4BAFA9D6B48}"/>
              </a:ext>
            </a:extLst>
          </p:cNvPr>
          <p:cNvSpPr/>
          <p:nvPr/>
        </p:nvSpPr>
        <p:spPr>
          <a:xfrm>
            <a:off x="457200" y="3383280"/>
            <a:ext cx="8229600" cy="731520"/>
          </a:xfrm>
          <a:prstGeom prst="rect">
            <a:avLst/>
          </a:prstGeom>
          <a:noFill/>
          <a:ln/>
        </p:spPr>
        <p:txBody>
          <a:bodyPr wrap="square" rtlCol="0" anchor="ctr"/>
          <a:lstStyle/>
          <a:p>
            <a:pPr marL="0" indent="0">
              <a:buNone/>
            </a:pPr>
            <a:r>
              <a:rPr lang="en-US" sz="2000" dirty="0">
                <a:solidFill>
                  <a:srgbClr val="FFFFFF"/>
                </a:solidFill>
              </a:rPr>
              <a:t>What are modules in C#</a:t>
            </a:r>
            <a:endParaRPr lang="en-US" sz="2000" dirty="0"/>
          </a:p>
        </p:txBody>
      </p:sp>
    </p:spTree>
    <p:extLst>
      <p:ext uri="{BB962C8B-B14F-4D97-AF65-F5344CB8AC3E}">
        <p14:creationId xmlns:p14="http://schemas.microsoft.com/office/powerpoint/2010/main" val="2807496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C# Module Mechanisms</a:t>
            </a:r>
            <a:endParaRPr lang="en-US" sz="4000" dirty="0"/>
          </a:p>
        </p:txBody>
      </p:sp>
      <p:sp>
        <p:nvSpPr>
          <p:cNvPr id="4" name="Shape 2"/>
          <p:cNvSpPr/>
          <p:nvPr/>
        </p:nvSpPr>
        <p:spPr>
          <a:xfrm>
            <a:off x="457200" y="4981903"/>
            <a:ext cx="8046720" cy="1097280"/>
          </a:xfrm>
          <a:prstGeom prst="rect">
            <a:avLst/>
          </a:prstGeom>
          <a:solidFill>
            <a:srgbClr val="F1F5F9"/>
          </a:solidFill>
          <a:ln/>
        </p:spPr>
        <p:txBody>
          <a:bodyPr/>
          <a:lstStyle/>
          <a:p>
            <a:endParaRPr lang="en-US"/>
          </a:p>
        </p:txBody>
      </p:sp>
      <p:sp>
        <p:nvSpPr>
          <p:cNvPr id="5" name="Text 3"/>
          <p:cNvSpPr/>
          <p:nvPr/>
        </p:nvSpPr>
        <p:spPr>
          <a:xfrm>
            <a:off x="731520" y="5073343"/>
            <a:ext cx="7680960" cy="914400"/>
          </a:xfrm>
          <a:prstGeom prst="rect">
            <a:avLst/>
          </a:prstGeom>
          <a:noFill/>
          <a:ln/>
        </p:spPr>
        <p:txBody>
          <a:bodyPr wrap="square" rtlCol="0" anchor="ctr"/>
          <a:lstStyle/>
          <a:p>
            <a:pPr marL="0" indent="0" algn="ctr">
              <a:buNone/>
            </a:pPr>
            <a:r>
              <a:rPr lang="en-US" sz="1800" dirty="0">
                <a:solidFill>
                  <a:srgbClr val="333333"/>
                </a:solidFill>
              </a:rPr>
              <a:t>Preferred Module: Information Hiding (Parnas) + Deep (Ousterhout) =&gt; Assembly</a:t>
            </a:r>
          </a:p>
        </p:txBody>
      </p:sp>
      <p:graphicFrame>
        <p:nvGraphicFramePr>
          <p:cNvPr id="6" name="Table 5">
            <a:extLst>
              <a:ext uri="{FF2B5EF4-FFF2-40B4-BE49-F238E27FC236}">
                <a16:creationId xmlns:a16="http://schemas.microsoft.com/office/drawing/2014/main" id="{0A5BC57D-4DFC-09DA-EFA8-AA19ABC8A56F}"/>
              </a:ext>
            </a:extLst>
          </p:cNvPr>
          <p:cNvGraphicFramePr>
            <a:graphicFrameLocks noGrp="1"/>
          </p:cNvGraphicFramePr>
          <p:nvPr>
            <p:extLst>
              <p:ext uri="{D42A27DB-BD31-4B8C-83A1-F6EECF244321}">
                <p14:modId xmlns:p14="http://schemas.microsoft.com/office/powerpoint/2010/main" val="1378016079"/>
              </p:ext>
            </p:extLst>
          </p:nvPr>
        </p:nvGraphicFramePr>
        <p:xfrm>
          <a:off x="731520" y="1396998"/>
          <a:ext cx="7680960" cy="3139790"/>
        </p:xfrm>
        <a:graphic>
          <a:graphicData uri="http://schemas.openxmlformats.org/drawingml/2006/table">
            <a:tbl>
              <a:tblPr firstRow="1" bandRow="1">
                <a:tableStyleId>{5A111915-BE36-4E01-A7E5-04B1672EAD32}</a:tableStyleId>
              </a:tblPr>
              <a:tblGrid>
                <a:gridCol w="2768425">
                  <a:extLst>
                    <a:ext uri="{9D8B030D-6E8A-4147-A177-3AD203B41FA5}">
                      <a16:colId xmlns:a16="http://schemas.microsoft.com/office/drawing/2014/main" val="1276854376"/>
                    </a:ext>
                  </a:extLst>
                </a:gridCol>
                <a:gridCol w="4912535">
                  <a:extLst>
                    <a:ext uri="{9D8B030D-6E8A-4147-A177-3AD203B41FA5}">
                      <a16:colId xmlns:a16="http://schemas.microsoft.com/office/drawing/2014/main" val="3331960705"/>
                    </a:ext>
                  </a:extLst>
                </a:gridCol>
              </a:tblGrid>
              <a:tr h="609775">
                <a:tc>
                  <a:txBody>
                    <a:bodyPr/>
                    <a:lstStyle/>
                    <a:p>
                      <a:pPr algn="ctr"/>
                      <a:r>
                        <a:rPr lang="en-US" dirty="0"/>
                        <a:t>Mechanism</a:t>
                      </a:r>
                    </a:p>
                  </a:txBody>
                  <a:tcPr/>
                </a:tc>
                <a:tc>
                  <a:txBody>
                    <a:bodyPr/>
                    <a:lstStyle/>
                    <a:p>
                      <a:pPr algn="ctr"/>
                      <a:r>
                        <a:rPr lang="en-US" dirty="0"/>
                        <a:t>Information Hiding</a:t>
                      </a:r>
                    </a:p>
                  </a:txBody>
                  <a:tcPr/>
                </a:tc>
                <a:extLst>
                  <a:ext uri="{0D108BD9-81ED-4DB2-BD59-A6C34878D82A}">
                    <a16:rowId xmlns:a16="http://schemas.microsoft.com/office/drawing/2014/main" val="330964535"/>
                  </a:ext>
                </a:extLst>
              </a:tr>
              <a:tr h="609775">
                <a:tc>
                  <a:txBody>
                    <a:bodyPr/>
                    <a:lstStyle/>
                    <a:p>
                      <a:pPr algn="ctr"/>
                      <a:r>
                        <a:rPr lang="en-US" dirty="0"/>
                        <a:t>Method</a:t>
                      </a:r>
                    </a:p>
                  </a:txBody>
                  <a:tcPr/>
                </a:tc>
                <a:tc>
                  <a:txBody>
                    <a:bodyPr/>
                    <a:lstStyle/>
                    <a:p>
                      <a:pPr algn="ctr"/>
                      <a:r>
                        <a:rPr lang="en-US" dirty="0"/>
                        <a:t>Method body hidden behind signature</a:t>
                      </a:r>
                    </a:p>
                  </a:txBody>
                  <a:tcPr/>
                </a:tc>
                <a:extLst>
                  <a:ext uri="{0D108BD9-81ED-4DB2-BD59-A6C34878D82A}">
                    <a16:rowId xmlns:a16="http://schemas.microsoft.com/office/drawing/2014/main" val="3477075676"/>
                  </a:ext>
                </a:extLst>
              </a:tr>
              <a:tr h="609775">
                <a:tc>
                  <a:txBody>
                    <a:bodyPr/>
                    <a:lstStyle/>
                    <a:p>
                      <a:pPr algn="ctr"/>
                      <a:r>
                        <a:rPr lang="en-US" dirty="0"/>
                        <a:t>Class</a:t>
                      </a:r>
                    </a:p>
                  </a:txBody>
                  <a:tcPr/>
                </a:tc>
                <a:tc>
                  <a:txBody>
                    <a:bodyPr/>
                    <a:lstStyle/>
                    <a:p>
                      <a:pPr algn="ctr"/>
                      <a:r>
                        <a:rPr lang="en-US" dirty="0"/>
                        <a:t>Access Modifiers: Private access modifier hides class implementation; has methods</a:t>
                      </a:r>
                    </a:p>
                  </a:txBody>
                  <a:tcPr/>
                </a:tc>
                <a:extLst>
                  <a:ext uri="{0D108BD9-81ED-4DB2-BD59-A6C34878D82A}">
                    <a16:rowId xmlns:a16="http://schemas.microsoft.com/office/drawing/2014/main" val="1443250567"/>
                  </a:ext>
                </a:extLst>
              </a:tr>
              <a:tr h="609775">
                <a:tc>
                  <a:txBody>
                    <a:bodyPr/>
                    <a:lstStyle/>
                    <a:p>
                      <a:pPr algn="ctr"/>
                      <a:r>
                        <a:rPr lang="en-US" dirty="0"/>
                        <a:t>Namespace</a:t>
                      </a:r>
                    </a:p>
                  </a:txBody>
                  <a:tcPr/>
                </a:tc>
                <a:tc>
                  <a:txBody>
                    <a:bodyPr/>
                    <a:lstStyle/>
                    <a:p>
                      <a:pPr algn="ctr"/>
                      <a:r>
                        <a:rPr lang="en-US" dirty="0"/>
                        <a:t>None – controls visibility only; can span many assemblies</a:t>
                      </a:r>
                    </a:p>
                  </a:txBody>
                  <a:tcPr/>
                </a:tc>
                <a:extLst>
                  <a:ext uri="{0D108BD9-81ED-4DB2-BD59-A6C34878D82A}">
                    <a16:rowId xmlns:a16="http://schemas.microsoft.com/office/drawing/2014/main" val="1020977608"/>
                  </a:ext>
                </a:extLst>
              </a:tr>
              <a:tr h="609775">
                <a:tc>
                  <a:txBody>
                    <a:bodyPr/>
                    <a:lstStyle/>
                    <a:p>
                      <a:pPr algn="ctr"/>
                      <a:r>
                        <a:rPr lang="en-US" dirty="0"/>
                        <a:t>Assembly</a:t>
                      </a:r>
                    </a:p>
                  </a:txBody>
                  <a:tcPr/>
                </a:tc>
                <a:tc>
                  <a:txBody>
                    <a:bodyPr/>
                    <a:lstStyle/>
                    <a:p>
                      <a:pPr algn="ctr"/>
                      <a:r>
                        <a:rPr lang="en-US" dirty="0"/>
                        <a:t>Access Modifiers: Hides private or internal, only exposes public.</a:t>
                      </a:r>
                    </a:p>
                  </a:txBody>
                  <a:tcPr/>
                </a:tc>
                <a:extLst>
                  <a:ext uri="{0D108BD9-81ED-4DB2-BD59-A6C34878D82A}">
                    <a16:rowId xmlns:a16="http://schemas.microsoft.com/office/drawing/2014/main" val="166243362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7EEAD-19E7-FB3F-5122-E9A7D0DC36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8D5D449-92BD-F552-0609-70E03B95B43D}"/>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C# Access Modifiers</a:t>
            </a:r>
            <a:endParaRPr lang="en-US" sz="4000" dirty="0"/>
          </a:p>
        </p:txBody>
      </p:sp>
      <p:sp>
        <p:nvSpPr>
          <p:cNvPr id="4" name="Shape 2">
            <a:extLst>
              <a:ext uri="{FF2B5EF4-FFF2-40B4-BE49-F238E27FC236}">
                <a16:creationId xmlns:a16="http://schemas.microsoft.com/office/drawing/2014/main" id="{D28E0484-59F9-4630-62BA-B41F5BBC8237}"/>
              </a:ext>
            </a:extLst>
          </p:cNvPr>
          <p:cNvSpPr/>
          <p:nvPr/>
        </p:nvSpPr>
        <p:spPr>
          <a:xfrm>
            <a:off x="457200" y="4981903"/>
            <a:ext cx="8046720" cy="1097280"/>
          </a:xfrm>
          <a:prstGeom prst="rect">
            <a:avLst/>
          </a:prstGeom>
          <a:solidFill>
            <a:srgbClr val="F1F5F9"/>
          </a:solidFill>
          <a:ln/>
        </p:spPr>
        <p:txBody>
          <a:bodyPr/>
          <a:lstStyle/>
          <a:p>
            <a:endParaRPr lang="en-US" dirty="0"/>
          </a:p>
        </p:txBody>
      </p:sp>
      <p:sp>
        <p:nvSpPr>
          <p:cNvPr id="5" name="Text 3">
            <a:extLst>
              <a:ext uri="{FF2B5EF4-FFF2-40B4-BE49-F238E27FC236}">
                <a16:creationId xmlns:a16="http://schemas.microsoft.com/office/drawing/2014/main" id="{47D38584-125A-30DC-118F-98246B674519}"/>
              </a:ext>
            </a:extLst>
          </p:cNvPr>
          <p:cNvSpPr/>
          <p:nvPr/>
        </p:nvSpPr>
        <p:spPr>
          <a:xfrm>
            <a:off x="731520" y="5073343"/>
            <a:ext cx="7680960" cy="914400"/>
          </a:xfrm>
          <a:prstGeom prst="rect">
            <a:avLst/>
          </a:prstGeom>
          <a:noFill/>
          <a:ln/>
        </p:spPr>
        <p:txBody>
          <a:bodyPr wrap="square" rtlCol="0" anchor="ctr"/>
          <a:lstStyle/>
          <a:p>
            <a:pPr marL="0" indent="0" algn="ctr">
              <a:buNone/>
            </a:pPr>
            <a:r>
              <a:rPr lang="en-US" sz="1800" dirty="0">
                <a:solidFill>
                  <a:srgbClr val="333333"/>
                </a:solidFill>
              </a:rPr>
              <a:t>Look for opportunities to hide details in your module by making a class </a:t>
            </a:r>
            <a:r>
              <a:rPr lang="en-US" sz="1800" b="1" dirty="0">
                <a:solidFill>
                  <a:srgbClr val="333333"/>
                </a:solidFill>
              </a:rPr>
              <a:t>internal</a:t>
            </a:r>
          </a:p>
        </p:txBody>
      </p:sp>
      <p:graphicFrame>
        <p:nvGraphicFramePr>
          <p:cNvPr id="6" name="Table 5">
            <a:extLst>
              <a:ext uri="{FF2B5EF4-FFF2-40B4-BE49-F238E27FC236}">
                <a16:creationId xmlns:a16="http://schemas.microsoft.com/office/drawing/2014/main" id="{13E49448-F321-DCEC-7FB9-7333A184221B}"/>
              </a:ext>
            </a:extLst>
          </p:cNvPr>
          <p:cNvGraphicFramePr>
            <a:graphicFrameLocks noGrp="1"/>
          </p:cNvGraphicFramePr>
          <p:nvPr>
            <p:extLst>
              <p:ext uri="{D42A27DB-BD31-4B8C-83A1-F6EECF244321}">
                <p14:modId xmlns:p14="http://schemas.microsoft.com/office/powerpoint/2010/main" val="1316748456"/>
              </p:ext>
            </p:extLst>
          </p:nvPr>
        </p:nvGraphicFramePr>
        <p:xfrm>
          <a:off x="731520" y="1396998"/>
          <a:ext cx="7680960" cy="2439100"/>
        </p:xfrm>
        <a:graphic>
          <a:graphicData uri="http://schemas.openxmlformats.org/drawingml/2006/table">
            <a:tbl>
              <a:tblPr firstRow="1" bandRow="1">
                <a:tableStyleId>{5A111915-BE36-4E01-A7E5-04B1672EAD32}</a:tableStyleId>
              </a:tblPr>
              <a:tblGrid>
                <a:gridCol w="2768425">
                  <a:extLst>
                    <a:ext uri="{9D8B030D-6E8A-4147-A177-3AD203B41FA5}">
                      <a16:colId xmlns:a16="http://schemas.microsoft.com/office/drawing/2014/main" val="1276854376"/>
                    </a:ext>
                  </a:extLst>
                </a:gridCol>
                <a:gridCol w="4912535">
                  <a:extLst>
                    <a:ext uri="{9D8B030D-6E8A-4147-A177-3AD203B41FA5}">
                      <a16:colId xmlns:a16="http://schemas.microsoft.com/office/drawing/2014/main" val="3331960705"/>
                    </a:ext>
                  </a:extLst>
                </a:gridCol>
              </a:tblGrid>
              <a:tr h="609775">
                <a:tc>
                  <a:txBody>
                    <a:bodyPr/>
                    <a:lstStyle/>
                    <a:p>
                      <a:pPr algn="ctr"/>
                      <a:r>
                        <a:rPr lang="en-US" dirty="0"/>
                        <a:t>Mechanism</a:t>
                      </a:r>
                    </a:p>
                  </a:txBody>
                  <a:tcPr/>
                </a:tc>
                <a:tc>
                  <a:txBody>
                    <a:bodyPr/>
                    <a:lstStyle/>
                    <a:p>
                      <a:pPr algn="ctr"/>
                      <a:r>
                        <a:rPr lang="en-US" dirty="0"/>
                        <a:t>Information Hiding</a:t>
                      </a:r>
                    </a:p>
                  </a:txBody>
                  <a:tcPr/>
                </a:tc>
                <a:extLst>
                  <a:ext uri="{0D108BD9-81ED-4DB2-BD59-A6C34878D82A}">
                    <a16:rowId xmlns:a16="http://schemas.microsoft.com/office/drawing/2014/main" val="330964535"/>
                  </a:ext>
                </a:extLst>
              </a:tr>
              <a:tr h="609775">
                <a:tc>
                  <a:txBody>
                    <a:bodyPr/>
                    <a:lstStyle/>
                    <a:p>
                      <a:pPr algn="ctr"/>
                      <a:r>
                        <a:rPr lang="en-US" dirty="0"/>
                        <a:t>Public</a:t>
                      </a:r>
                    </a:p>
                  </a:txBody>
                  <a:tcPr/>
                </a:tc>
                <a:tc>
                  <a:txBody>
                    <a:bodyPr/>
                    <a:lstStyle/>
                    <a:p>
                      <a:pPr algn="ctr"/>
                      <a:r>
                        <a:rPr lang="en-US" dirty="0"/>
                        <a:t>Export – visible outside the module</a:t>
                      </a:r>
                    </a:p>
                  </a:txBody>
                  <a:tcPr/>
                </a:tc>
                <a:extLst>
                  <a:ext uri="{0D108BD9-81ED-4DB2-BD59-A6C34878D82A}">
                    <a16:rowId xmlns:a16="http://schemas.microsoft.com/office/drawing/2014/main" val="3477075676"/>
                  </a:ext>
                </a:extLst>
              </a:tr>
              <a:tr h="609775">
                <a:tc>
                  <a:txBody>
                    <a:bodyPr/>
                    <a:lstStyle/>
                    <a:p>
                      <a:pPr algn="ctr"/>
                      <a:r>
                        <a:rPr lang="en-US" dirty="0"/>
                        <a:t>Internal</a:t>
                      </a:r>
                    </a:p>
                  </a:txBody>
                  <a:tcPr/>
                </a:tc>
                <a:tc>
                  <a:txBody>
                    <a:bodyPr/>
                    <a:lstStyle/>
                    <a:p>
                      <a:pPr algn="ctr"/>
                      <a:r>
                        <a:rPr lang="en-US" dirty="0"/>
                        <a:t>Local – implementation details of the module</a:t>
                      </a:r>
                    </a:p>
                  </a:txBody>
                  <a:tcPr/>
                </a:tc>
                <a:extLst>
                  <a:ext uri="{0D108BD9-81ED-4DB2-BD59-A6C34878D82A}">
                    <a16:rowId xmlns:a16="http://schemas.microsoft.com/office/drawing/2014/main" val="1443250567"/>
                  </a:ext>
                </a:extLst>
              </a:tr>
              <a:tr h="609775">
                <a:tc>
                  <a:txBody>
                    <a:bodyPr/>
                    <a:lstStyle/>
                    <a:p>
                      <a:pPr algn="ctr"/>
                      <a:r>
                        <a:rPr lang="en-US" dirty="0"/>
                        <a:t>Private</a:t>
                      </a:r>
                    </a:p>
                  </a:txBody>
                  <a:tcPr/>
                </a:tc>
                <a:tc>
                  <a:txBody>
                    <a:bodyPr/>
                    <a:lstStyle/>
                    <a:p>
                      <a:pPr algn="ctr"/>
                      <a:r>
                        <a:rPr lang="en-US" dirty="0"/>
                        <a:t>Class – implementation details of a class</a:t>
                      </a:r>
                    </a:p>
                  </a:txBody>
                  <a:tcPr/>
                </a:tc>
                <a:extLst>
                  <a:ext uri="{0D108BD9-81ED-4DB2-BD59-A6C34878D82A}">
                    <a16:rowId xmlns:a16="http://schemas.microsoft.com/office/drawing/2014/main" val="1020977608"/>
                  </a:ext>
                </a:extLst>
              </a:tr>
            </a:tbl>
          </a:graphicData>
        </a:graphic>
      </p:graphicFrame>
    </p:spTree>
    <p:extLst>
      <p:ext uri="{BB962C8B-B14F-4D97-AF65-F5344CB8AC3E}">
        <p14:creationId xmlns:p14="http://schemas.microsoft.com/office/powerpoint/2010/main" val="4215999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90895-5C05-4DBE-06E2-99E1B8815AF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82838D3-C6A5-9A7D-975D-D4895791ED2F}"/>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Test at Module Boundaries</a:t>
            </a:r>
            <a:endParaRPr lang="en-US" sz="4000" dirty="0"/>
          </a:p>
        </p:txBody>
      </p:sp>
      <p:sp>
        <p:nvSpPr>
          <p:cNvPr id="4" name="Text 2">
            <a:extLst>
              <a:ext uri="{FF2B5EF4-FFF2-40B4-BE49-F238E27FC236}">
                <a16:creationId xmlns:a16="http://schemas.microsoft.com/office/drawing/2014/main" id="{0AC02B7B-A79D-66FD-8868-E7FEDE9EA2FD}"/>
              </a:ext>
            </a:extLst>
          </p:cNvPr>
          <p:cNvSpPr/>
          <p:nvPr/>
        </p:nvSpPr>
        <p:spPr>
          <a:xfrm>
            <a:off x="548640" y="1234440"/>
            <a:ext cx="7772400" cy="457200"/>
          </a:xfrm>
          <a:prstGeom prst="rect">
            <a:avLst/>
          </a:prstGeom>
          <a:noFill/>
          <a:ln/>
        </p:spPr>
        <p:txBody>
          <a:bodyPr wrap="square" rtlCol="0" anchor="ctr"/>
          <a:lstStyle/>
          <a:p>
            <a:pPr marL="0" indent="0">
              <a:buNone/>
            </a:pPr>
            <a:r>
              <a:rPr lang="en-US" sz="1800" i="1" dirty="0">
                <a:solidFill>
                  <a:srgbClr val="333333"/>
                </a:solidFill>
              </a:rPr>
              <a:t>Test the interface, not the internals</a:t>
            </a:r>
            <a:endParaRPr lang="en-US" sz="1800" i="1" dirty="0"/>
          </a:p>
        </p:txBody>
      </p:sp>
      <p:sp>
        <p:nvSpPr>
          <p:cNvPr id="18" name="TextBox 17">
            <a:extLst>
              <a:ext uri="{FF2B5EF4-FFF2-40B4-BE49-F238E27FC236}">
                <a16:creationId xmlns:a16="http://schemas.microsoft.com/office/drawing/2014/main" id="{DF35A4AE-3F1A-9D24-7844-8AC943A1F4A2}"/>
              </a:ext>
            </a:extLst>
          </p:cNvPr>
          <p:cNvSpPr txBox="1"/>
          <p:nvPr/>
        </p:nvSpPr>
        <p:spPr>
          <a:xfrm>
            <a:off x="589630" y="1849821"/>
            <a:ext cx="7690419" cy="4708981"/>
          </a:xfrm>
          <a:prstGeom prst="rect">
            <a:avLst/>
          </a:prstGeom>
          <a:noFill/>
        </p:spPr>
        <p:txBody>
          <a:bodyPr wrap="square">
            <a:spAutoFit/>
          </a:bodyPr>
          <a:lstStyle/>
          <a:p>
            <a:r>
              <a:rPr lang="en-US" sz="2000" b="1" dirty="0"/>
              <a:t>No InternalsVisibleTo</a:t>
            </a:r>
          </a:p>
          <a:p>
            <a:endParaRPr lang="en-US" sz="2000" dirty="0"/>
          </a:p>
          <a:p>
            <a:r>
              <a:rPr lang="en-US" sz="2000" dirty="0"/>
              <a:t> </a:t>
            </a:r>
            <a:r>
              <a:rPr lang="en-US" sz="2000" dirty="0">
                <a:solidFill>
                  <a:srgbClr val="C00000"/>
                </a:solidFill>
              </a:rPr>
              <a:t>NEVER use `InternalsVisibleTo` to expose internal classes for testing.</a:t>
            </a:r>
          </a:p>
          <a:p>
            <a:endParaRPr lang="en-US" sz="2000" dirty="0"/>
          </a:p>
          <a:p>
            <a:r>
              <a:rPr lang="en-US" sz="2000" dirty="0"/>
              <a:t>Internal classes should NOT be driven by unit tests directly.</a:t>
            </a:r>
          </a:p>
          <a:p>
            <a:endParaRPr lang="en-US" sz="2000" dirty="0"/>
          </a:p>
          <a:p>
            <a:r>
              <a:rPr lang="en-US" sz="2000" dirty="0"/>
              <a:t>Internal classes should emerge as implementation details through refactoring:</a:t>
            </a:r>
          </a:p>
          <a:p>
            <a:endParaRPr lang="en-US" sz="2000" dirty="0"/>
          </a:p>
          <a:p>
            <a:r>
              <a:rPr lang="en-US" sz="2000" dirty="0"/>
              <a:t>1. First, implement exported behavior in the </a:t>
            </a:r>
            <a:r>
              <a:rPr lang="en-US" sz="2000" b="1" dirty="0"/>
              <a:t>public</a:t>
            </a:r>
            <a:r>
              <a:rPr lang="en-US" sz="2000" dirty="0"/>
              <a:t> class (keep it simple)</a:t>
            </a:r>
          </a:p>
          <a:p>
            <a:r>
              <a:rPr lang="en-US" sz="2000" dirty="0"/>
              <a:t>2. As complexity grows, extract internal helper classes through refactoring</a:t>
            </a:r>
          </a:p>
          <a:p>
            <a:r>
              <a:rPr lang="en-US" sz="2000" dirty="0"/>
              <a:t>3. Tests always go through the </a:t>
            </a:r>
            <a:r>
              <a:rPr lang="en-US" sz="2000" b="1" dirty="0"/>
              <a:t>public</a:t>
            </a:r>
            <a:r>
              <a:rPr lang="en-US" sz="2000" dirty="0"/>
              <a:t> interface - internal classes are covered by those tests</a:t>
            </a:r>
          </a:p>
          <a:p>
            <a:endParaRPr lang="en-US" sz="2000" dirty="0"/>
          </a:p>
        </p:txBody>
      </p:sp>
    </p:spTree>
    <p:extLst>
      <p:ext uri="{BB962C8B-B14F-4D97-AF65-F5344CB8AC3E}">
        <p14:creationId xmlns:p14="http://schemas.microsoft.com/office/powerpoint/2010/main" val="2482672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6F673-FD53-9402-5C14-07F71F59F40E}"/>
            </a:ext>
          </a:extLst>
        </p:cNvPr>
        <p:cNvGrpSpPr/>
        <p:nvPr/>
      </p:nvGrpSpPr>
      <p:grpSpPr>
        <a:xfrm>
          <a:off x="0" y="0"/>
          <a:ext cx="0" cy="0"/>
          <a:chOff x="0" y="0"/>
          <a:chExt cx="0" cy="0"/>
        </a:xfrm>
      </p:grpSpPr>
      <p:sp>
        <p:nvSpPr>
          <p:cNvPr id="9" name="Shape 3">
            <a:extLst>
              <a:ext uri="{FF2B5EF4-FFF2-40B4-BE49-F238E27FC236}">
                <a16:creationId xmlns:a16="http://schemas.microsoft.com/office/drawing/2014/main" id="{00AE43DB-AF70-CB79-A4D6-93692329C0AC}"/>
              </a:ext>
            </a:extLst>
          </p:cNvPr>
          <p:cNvSpPr/>
          <p:nvPr/>
        </p:nvSpPr>
        <p:spPr>
          <a:xfrm>
            <a:off x="457200" y="1495272"/>
            <a:ext cx="8229600" cy="2499360"/>
          </a:xfrm>
          <a:prstGeom prst="rect">
            <a:avLst/>
          </a:prstGeom>
          <a:solidFill>
            <a:srgbClr val="F1F5F9"/>
          </a:solidFill>
          <a:ln/>
        </p:spPr>
        <p:txBody>
          <a:bodyPr/>
          <a:lstStyle/>
          <a:p>
            <a:endParaRPr lang="en-US"/>
          </a:p>
        </p:txBody>
      </p:sp>
      <p:sp>
        <p:nvSpPr>
          <p:cNvPr id="2" name="Text 0">
            <a:extLst>
              <a:ext uri="{FF2B5EF4-FFF2-40B4-BE49-F238E27FC236}">
                <a16:creationId xmlns:a16="http://schemas.microsoft.com/office/drawing/2014/main" id="{DFE34BF6-2DC6-455A-73BF-7A681F6E1AD5}"/>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Modules Are Not Layers</a:t>
            </a:r>
            <a:endParaRPr lang="en-US" sz="4000" dirty="0"/>
          </a:p>
        </p:txBody>
      </p:sp>
      <p:sp>
        <p:nvSpPr>
          <p:cNvPr id="3" name="TextBox 2">
            <a:extLst>
              <a:ext uri="{FF2B5EF4-FFF2-40B4-BE49-F238E27FC236}">
                <a16:creationId xmlns:a16="http://schemas.microsoft.com/office/drawing/2014/main" id="{32D93968-DFFE-35A0-420A-BB19BAF7C091}"/>
              </a:ext>
            </a:extLst>
          </p:cNvPr>
          <p:cNvSpPr txBox="1"/>
          <p:nvPr/>
        </p:nvSpPr>
        <p:spPr>
          <a:xfrm>
            <a:off x="1103586" y="1629103"/>
            <a:ext cx="6085490" cy="2031325"/>
          </a:xfrm>
          <a:prstGeom prst="rect">
            <a:avLst/>
          </a:prstGeom>
          <a:noFill/>
        </p:spPr>
        <p:txBody>
          <a:bodyPr wrap="square" rtlCol="0">
            <a:spAutoFit/>
          </a:bodyPr>
          <a:lstStyle/>
          <a:p>
            <a:r>
              <a:rPr lang="en-GB" dirty="0" err="1"/>
              <a:t>MyApp.sln</a:t>
            </a:r>
            <a:br>
              <a:rPr lang="en-GB" dirty="0"/>
            </a:br>
            <a:r>
              <a:rPr lang="en-GB" dirty="0"/>
              <a:t>│</a:t>
            </a:r>
            <a:br>
              <a:rPr lang="en-GB" dirty="0"/>
            </a:br>
            <a:r>
              <a:rPr lang="en-GB" dirty="0"/>
              <a:t>│ ── </a:t>
            </a:r>
            <a:r>
              <a:rPr lang="en-GB" dirty="0" err="1"/>
              <a:t>src</a:t>
            </a:r>
            <a:r>
              <a:rPr lang="en-GB" dirty="0"/>
              <a:t>/</a:t>
            </a:r>
            <a:br>
              <a:rPr lang="en-GB" dirty="0"/>
            </a:br>
            <a:r>
              <a:rPr lang="en-GB" dirty="0"/>
              <a:t>│       │ ── </a:t>
            </a:r>
            <a:r>
              <a:rPr lang="en-GB" dirty="0" err="1"/>
              <a:t>MyApp.Web</a:t>
            </a:r>
            <a:r>
              <a:rPr lang="en-GB" dirty="0"/>
              <a:t>/</a:t>
            </a:r>
            <a:r>
              <a:rPr lang="en-GB" dirty="0" err="1"/>
              <a:t>MyApp.Web.csproj</a:t>
            </a:r>
            <a:br>
              <a:rPr lang="en-GB" dirty="0"/>
            </a:br>
            <a:r>
              <a:rPr lang="en-GB" dirty="0"/>
              <a:t>│       │ ── </a:t>
            </a:r>
            <a:r>
              <a:rPr lang="en-GB" dirty="0" err="1"/>
              <a:t>MyApp.Application</a:t>
            </a:r>
            <a:r>
              <a:rPr lang="en-GB" dirty="0"/>
              <a:t>/</a:t>
            </a:r>
            <a:r>
              <a:rPr lang="en-GB" dirty="0" err="1"/>
              <a:t>MyApp.Application.csproj</a:t>
            </a:r>
            <a:br>
              <a:rPr lang="en-GB" dirty="0"/>
            </a:br>
            <a:r>
              <a:rPr lang="en-GB" dirty="0"/>
              <a:t>│       │ ── </a:t>
            </a:r>
            <a:r>
              <a:rPr lang="en-GB" dirty="0" err="1"/>
              <a:t>MyApp.Domain</a:t>
            </a:r>
            <a:r>
              <a:rPr lang="en-GB" dirty="0"/>
              <a:t>/</a:t>
            </a:r>
            <a:r>
              <a:rPr lang="en-GB" dirty="0" err="1"/>
              <a:t>MyApp.Domain.csproj</a:t>
            </a:r>
            <a:br>
              <a:rPr lang="en-GB" dirty="0"/>
            </a:br>
            <a:r>
              <a:rPr lang="en-GB" dirty="0"/>
              <a:t>│       │ ── </a:t>
            </a:r>
            <a:r>
              <a:rPr lang="en-GB" dirty="0" err="1"/>
              <a:t>MyApp.Infrastructure</a:t>
            </a:r>
            <a:r>
              <a:rPr lang="en-GB" dirty="0"/>
              <a:t>/</a:t>
            </a:r>
            <a:r>
              <a:rPr lang="en-GB" dirty="0" err="1"/>
              <a:t>MyApp.Infrastructure.csproj</a:t>
            </a:r>
            <a:endParaRPr lang="en-US" sz="1000" dirty="0"/>
          </a:p>
        </p:txBody>
      </p:sp>
      <p:sp>
        <p:nvSpPr>
          <p:cNvPr id="10" name="TextBox 9">
            <a:extLst>
              <a:ext uri="{FF2B5EF4-FFF2-40B4-BE49-F238E27FC236}">
                <a16:creationId xmlns:a16="http://schemas.microsoft.com/office/drawing/2014/main" id="{05C08542-76DF-C1A3-F40D-BC69F49CE2BF}"/>
              </a:ext>
            </a:extLst>
          </p:cNvPr>
          <p:cNvSpPr txBox="1"/>
          <p:nvPr/>
        </p:nvSpPr>
        <p:spPr>
          <a:xfrm>
            <a:off x="798787" y="4582566"/>
            <a:ext cx="7725103" cy="707886"/>
          </a:xfrm>
          <a:prstGeom prst="rect">
            <a:avLst/>
          </a:prstGeom>
          <a:noFill/>
        </p:spPr>
        <p:txBody>
          <a:bodyPr wrap="square" rtlCol="0">
            <a:spAutoFit/>
          </a:bodyPr>
          <a:lstStyle/>
          <a:p>
            <a:r>
              <a:rPr lang="en-US" sz="2000" b="1" dirty="0"/>
              <a:t>This is a common .NET anti-pattern</a:t>
            </a:r>
            <a:r>
              <a:rPr lang="en-US" sz="2000" dirty="0"/>
              <a:t>; your modules may be </a:t>
            </a:r>
            <a:r>
              <a:rPr lang="en-US" sz="2000" i="1" dirty="0"/>
              <a:t>organized by</a:t>
            </a:r>
            <a:r>
              <a:rPr lang="en-US" sz="2000" dirty="0"/>
              <a:t> layers (see later), but </a:t>
            </a:r>
            <a:r>
              <a:rPr lang="en-US" sz="2000" i="1" dirty="0"/>
              <a:t>it is not a layer</a:t>
            </a:r>
            <a:r>
              <a:rPr lang="en-US" sz="2000" dirty="0"/>
              <a:t>.  </a:t>
            </a:r>
            <a:r>
              <a:rPr lang="en-US" sz="2000" b="1" dirty="0"/>
              <a:t>Don’t use assemblies as layers</a:t>
            </a:r>
            <a:r>
              <a:rPr lang="en-US" sz="2000" dirty="0"/>
              <a:t>.</a:t>
            </a:r>
          </a:p>
        </p:txBody>
      </p:sp>
    </p:spTree>
    <p:extLst>
      <p:ext uri="{BB962C8B-B14F-4D97-AF65-F5344CB8AC3E}">
        <p14:creationId xmlns:p14="http://schemas.microsoft.com/office/powerpoint/2010/main" val="2457400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27174-DFD9-6C45-B097-53E895AC32FF}"/>
            </a:ext>
          </a:extLst>
        </p:cNvPr>
        <p:cNvGrpSpPr/>
        <p:nvPr/>
      </p:nvGrpSpPr>
      <p:grpSpPr>
        <a:xfrm>
          <a:off x="0" y="0"/>
          <a:ext cx="0" cy="0"/>
          <a:chOff x="0" y="0"/>
          <a:chExt cx="0" cy="0"/>
        </a:xfrm>
      </p:grpSpPr>
      <p:sp>
        <p:nvSpPr>
          <p:cNvPr id="9" name="Shape 3">
            <a:extLst>
              <a:ext uri="{FF2B5EF4-FFF2-40B4-BE49-F238E27FC236}">
                <a16:creationId xmlns:a16="http://schemas.microsoft.com/office/drawing/2014/main" id="{CD909604-6A0B-79C3-C97E-A4A209D60522}"/>
              </a:ext>
            </a:extLst>
          </p:cNvPr>
          <p:cNvSpPr/>
          <p:nvPr/>
        </p:nvSpPr>
        <p:spPr>
          <a:xfrm>
            <a:off x="457200" y="1400678"/>
            <a:ext cx="8229600" cy="3673261"/>
          </a:xfrm>
          <a:prstGeom prst="rect">
            <a:avLst/>
          </a:prstGeom>
          <a:solidFill>
            <a:srgbClr val="F1F5F9"/>
          </a:solidFill>
          <a:ln/>
        </p:spPr>
        <p:txBody>
          <a:bodyPr/>
          <a:lstStyle/>
          <a:p>
            <a:endParaRPr lang="en-US"/>
          </a:p>
        </p:txBody>
      </p:sp>
      <p:sp>
        <p:nvSpPr>
          <p:cNvPr id="2" name="Text 0">
            <a:extLst>
              <a:ext uri="{FF2B5EF4-FFF2-40B4-BE49-F238E27FC236}">
                <a16:creationId xmlns:a16="http://schemas.microsoft.com/office/drawing/2014/main" id="{074375A6-344A-7067-F99F-00E133F7C68C}"/>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Folders are not Modules</a:t>
            </a:r>
            <a:endParaRPr lang="en-US" sz="4000" dirty="0"/>
          </a:p>
        </p:txBody>
      </p:sp>
      <p:sp>
        <p:nvSpPr>
          <p:cNvPr id="3" name="TextBox 2">
            <a:extLst>
              <a:ext uri="{FF2B5EF4-FFF2-40B4-BE49-F238E27FC236}">
                <a16:creationId xmlns:a16="http://schemas.microsoft.com/office/drawing/2014/main" id="{D343F512-36D5-36D7-9528-FA2192EC5526}"/>
              </a:ext>
            </a:extLst>
          </p:cNvPr>
          <p:cNvSpPr txBox="1"/>
          <p:nvPr/>
        </p:nvSpPr>
        <p:spPr>
          <a:xfrm>
            <a:off x="1103586" y="1534510"/>
            <a:ext cx="6085490" cy="3539430"/>
          </a:xfrm>
          <a:prstGeom prst="rect">
            <a:avLst/>
          </a:prstGeom>
          <a:noFill/>
        </p:spPr>
        <p:txBody>
          <a:bodyPr wrap="square" rtlCol="0">
            <a:spAutoFit/>
          </a:bodyPr>
          <a:lstStyle/>
          <a:p>
            <a:r>
              <a:rPr lang="en-GB" sz="1400" dirty="0" err="1"/>
              <a:t>MyApp.sln</a:t>
            </a:r>
            <a:br>
              <a:rPr lang="en-GB" sz="1400" dirty="0"/>
            </a:br>
            <a:r>
              <a:rPr lang="en-GB" sz="1400" dirty="0"/>
              <a:t>│</a:t>
            </a:r>
            <a:br>
              <a:rPr lang="en-GB" sz="1400" dirty="0"/>
            </a:br>
            <a:r>
              <a:rPr lang="en-GB" sz="1400" dirty="0"/>
              <a:t>│ ── </a:t>
            </a:r>
            <a:r>
              <a:rPr lang="en-GB" sz="1400" dirty="0" err="1"/>
              <a:t>src</a:t>
            </a:r>
            <a:r>
              <a:rPr lang="en-GB" sz="1400" dirty="0"/>
              <a:t>/</a:t>
            </a:r>
            <a:br>
              <a:rPr lang="en-GB" sz="1400" dirty="0"/>
            </a:br>
            <a:r>
              <a:rPr lang="en-GB" sz="1400" dirty="0"/>
              <a:t>│       │ ── </a:t>
            </a:r>
            <a:r>
              <a:rPr lang="en-GB" sz="1400" dirty="0" err="1"/>
              <a:t>MyApp.Web</a:t>
            </a:r>
            <a:r>
              <a:rPr lang="en-GB" sz="1400" dirty="0"/>
              <a:t>/</a:t>
            </a:r>
            <a:r>
              <a:rPr lang="en-GB" sz="1400" dirty="0" err="1"/>
              <a:t>MyApp.Web.csproj</a:t>
            </a:r>
            <a:br>
              <a:rPr lang="en-GB" sz="1400" dirty="0"/>
            </a:br>
            <a:r>
              <a:rPr lang="en-GB" sz="1400" dirty="0"/>
              <a:t>│           │ ── Features</a:t>
            </a:r>
            <a:br>
              <a:rPr lang="en-GB" sz="1400" dirty="0"/>
            </a:br>
            <a:r>
              <a:rPr lang="en-GB" sz="1400" dirty="0"/>
              <a:t>|               | ── Orders</a:t>
            </a:r>
            <a:br>
              <a:rPr lang="en-GB" sz="1400" dirty="0"/>
            </a:br>
            <a:r>
              <a:rPr lang="en-GB" sz="1400" dirty="0"/>
              <a:t>│                     | ── Create</a:t>
            </a:r>
            <a:br>
              <a:rPr lang="en-GB" sz="1400" dirty="0"/>
            </a:br>
            <a:r>
              <a:rPr lang="en-GB" sz="1400" dirty="0"/>
              <a:t>│                         │   ── </a:t>
            </a:r>
            <a:r>
              <a:rPr lang="en-GB" sz="1400" dirty="0" err="1"/>
              <a:t>CreateOrderCommand.cs</a:t>
            </a:r>
            <a:br>
              <a:rPr lang="en-GB" sz="1400" dirty="0"/>
            </a:br>
            <a:r>
              <a:rPr lang="en-GB" sz="1400" dirty="0"/>
              <a:t>│                         │   ── </a:t>
            </a:r>
            <a:r>
              <a:rPr lang="en-GB" sz="1400" dirty="0" err="1"/>
              <a:t>CreateOrderHandler.cs</a:t>
            </a:r>
            <a:br>
              <a:rPr lang="en-GB" sz="1400" dirty="0"/>
            </a:br>
            <a:r>
              <a:rPr lang="en-GB" sz="1400" dirty="0"/>
              <a:t>│                         |   ── </a:t>
            </a:r>
            <a:r>
              <a:rPr lang="en-GB" sz="1400" dirty="0" err="1"/>
              <a:t>CreateOrderValidator.cs</a:t>
            </a:r>
            <a:br>
              <a:rPr lang="en-GB" sz="1400" dirty="0"/>
            </a:br>
            <a:r>
              <a:rPr lang="en-GB" sz="1400" dirty="0"/>
              <a:t>│                         |  ── Cancel</a:t>
            </a:r>
          </a:p>
          <a:p>
            <a:r>
              <a:rPr lang="en-GB" sz="1400" dirty="0"/>
              <a:t>|                                   …</a:t>
            </a:r>
            <a:br>
              <a:rPr lang="en-GB" sz="1400" dirty="0"/>
            </a:br>
            <a:r>
              <a:rPr lang="en-GB" sz="1400" dirty="0"/>
              <a:t>|                     | ── Customers</a:t>
            </a:r>
            <a:br>
              <a:rPr lang="en-GB" sz="1400" dirty="0"/>
            </a:br>
            <a:r>
              <a:rPr lang="en-GB" sz="1400" dirty="0"/>
              <a:t>│                           | ── </a:t>
            </a:r>
            <a:r>
              <a:rPr lang="en-GB" sz="1400" dirty="0" err="1"/>
              <a:t>GetById</a:t>
            </a:r>
            <a:br>
              <a:rPr lang="en-GB" sz="1400" dirty="0"/>
            </a:br>
            <a:r>
              <a:rPr lang="en-GB" sz="1400" dirty="0"/>
              <a:t>│                           | ── Register</a:t>
            </a:r>
          </a:p>
          <a:p>
            <a:endParaRPr lang="en-US" sz="1400" dirty="0"/>
          </a:p>
        </p:txBody>
      </p:sp>
      <p:sp>
        <p:nvSpPr>
          <p:cNvPr id="10" name="TextBox 9">
            <a:extLst>
              <a:ext uri="{FF2B5EF4-FFF2-40B4-BE49-F238E27FC236}">
                <a16:creationId xmlns:a16="http://schemas.microsoft.com/office/drawing/2014/main" id="{F2F00A43-E94D-B697-D47C-0ED5768CDE6F}"/>
              </a:ext>
            </a:extLst>
          </p:cNvPr>
          <p:cNvSpPr txBox="1"/>
          <p:nvPr/>
        </p:nvSpPr>
        <p:spPr>
          <a:xfrm>
            <a:off x="840829" y="5457322"/>
            <a:ext cx="7725103" cy="1323439"/>
          </a:xfrm>
          <a:prstGeom prst="rect">
            <a:avLst/>
          </a:prstGeom>
          <a:noFill/>
        </p:spPr>
        <p:txBody>
          <a:bodyPr wrap="square" rtlCol="0">
            <a:spAutoFit/>
          </a:bodyPr>
          <a:lstStyle/>
          <a:p>
            <a:r>
              <a:rPr lang="en-US" sz="2000" b="1" dirty="0"/>
              <a:t>This is a common .NET anti-pattern</a:t>
            </a:r>
            <a:r>
              <a:rPr lang="en-US" sz="2000" dirty="0"/>
              <a:t>; a folder is not a module. It cannot do information hiding. </a:t>
            </a:r>
            <a:r>
              <a:rPr lang="en-US" sz="2000" b="1" dirty="0"/>
              <a:t>Do not use folders as modules.</a:t>
            </a:r>
          </a:p>
          <a:p>
            <a:endParaRPr lang="en-US" sz="2000" b="1" dirty="0"/>
          </a:p>
          <a:p>
            <a:r>
              <a:rPr lang="en-US" sz="2000" b="1" dirty="0"/>
              <a:t>Architecture Tests are NOT a good alternative (pathological-coupling)</a:t>
            </a:r>
          </a:p>
        </p:txBody>
      </p:sp>
    </p:spTree>
    <p:extLst>
      <p:ext uri="{BB962C8B-B14F-4D97-AF65-F5344CB8AC3E}">
        <p14:creationId xmlns:p14="http://schemas.microsoft.com/office/powerpoint/2010/main" val="3808214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FCB7F-1C4C-FA5F-7AC9-477AB03838A3}"/>
            </a:ext>
          </a:extLst>
        </p:cNvPr>
        <p:cNvGrpSpPr/>
        <p:nvPr/>
      </p:nvGrpSpPr>
      <p:grpSpPr>
        <a:xfrm>
          <a:off x="0" y="0"/>
          <a:ext cx="0" cy="0"/>
          <a:chOff x="0" y="0"/>
          <a:chExt cx="0" cy="0"/>
        </a:xfrm>
      </p:grpSpPr>
      <p:sp>
        <p:nvSpPr>
          <p:cNvPr id="9" name="Shape 3">
            <a:extLst>
              <a:ext uri="{FF2B5EF4-FFF2-40B4-BE49-F238E27FC236}">
                <a16:creationId xmlns:a16="http://schemas.microsoft.com/office/drawing/2014/main" id="{07B7368A-011D-5335-7215-30E30B619E29}"/>
              </a:ext>
            </a:extLst>
          </p:cNvPr>
          <p:cNvSpPr/>
          <p:nvPr/>
        </p:nvSpPr>
        <p:spPr>
          <a:xfrm>
            <a:off x="457200" y="1400678"/>
            <a:ext cx="8229600" cy="3673261"/>
          </a:xfrm>
          <a:prstGeom prst="rect">
            <a:avLst/>
          </a:prstGeom>
          <a:solidFill>
            <a:srgbClr val="F1F5F9"/>
          </a:solidFill>
          <a:ln/>
        </p:spPr>
        <p:txBody>
          <a:bodyPr/>
          <a:lstStyle/>
          <a:p>
            <a:endParaRPr lang="en-US"/>
          </a:p>
        </p:txBody>
      </p:sp>
      <p:sp>
        <p:nvSpPr>
          <p:cNvPr id="2" name="Text 0">
            <a:extLst>
              <a:ext uri="{FF2B5EF4-FFF2-40B4-BE49-F238E27FC236}">
                <a16:creationId xmlns:a16="http://schemas.microsoft.com/office/drawing/2014/main" id="{0A4CA37A-D353-6FD2-A7B2-4ED62E0534D2}"/>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Use An Assembly As A Module</a:t>
            </a:r>
            <a:endParaRPr lang="en-US" sz="4000" dirty="0"/>
          </a:p>
        </p:txBody>
      </p:sp>
      <p:sp>
        <p:nvSpPr>
          <p:cNvPr id="3" name="TextBox 2">
            <a:extLst>
              <a:ext uri="{FF2B5EF4-FFF2-40B4-BE49-F238E27FC236}">
                <a16:creationId xmlns:a16="http://schemas.microsoft.com/office/drawing/2014/main" id="{4035455B-A173-F417-8DE0-66919EC446F7}"/>
              </a:ext>
            </a:extLst>
          </p:cNvPr>
          <p:cNvSpPr txBox="1"/>
          <p:nvPr/>
        </p:nvSpPr>
        <p:spPr>
          <a:xfrm>
            <a:off x="1103586" y="1534510"/>
            <a:ext cx="6085490" cy="3323987"/>
          </a:xfrm>
          <a:prstGeom prst="rect">
            <a:avLst/>
          </a:prstGeom>
          <a:noFill/>
        </p:spPr>
        <p:txBody>
          <a:bodyPr wrap="square" rtlCol="0">
            <a:spAutoFit/>
          </a:bodyPr>
          <a:lstStyle/>
          <a:p>
            <a:r>
              <a:rPr lang="en-GB" sz="1400" dirty="0" err="1"/>
              <a:t>MyApp.sln</a:t>
            </a:r>
            <a:br>
              <a:rPr lang="en-GB" sz="1400" dirty="0"/>
            </a:br>
            <a:r>
              <a:rPr lang="en-GB" sz="1400" dirty="0"/>
              <a:t>│</a:t>
            </a:r>
            <a:br>
              <a:rPr lang="en-GB" sz="1400" dirty="0"/>
            </a:br>
            <a:r>
              <a:rPr lang="en-GB" sz="1400" dirty="0"/>
              <a:t>│ ── </a:t>
            </a:r>
            <a:r>
              <a:rPr lang="en-GB" sz="1400" dirty="0" err="1"/>
              <a:t>src</a:t>
            </a:r>
            <a:r>
              <a:rPr lang="en-GB" sz="1400" dirty="0"/>
              <a:t>/</a:t>
            </a:r>
            <a:br>
              <a:rPr lang="en-GB" sz="1400" dirty="0"/>
            </a:br>
            <a:r>
              <a:rPr lang="en-GB" sz="1400" dirty="0"/>
              <a:t>│       │ ── </a:t>
            </a:r>
            <a:r>
              <a:rPr lang="en-GB" sz="1400" dirty="0" err="1"/>
              <a:t>Framing.csproj</a:t>
            </a:r>
            <a:br>
              <a:rPr lang="en-GB" sz="1400" dirty="0"/>
            </a:br>
            <a:r>
              <a:rPr lang="en-GB" sz="1400" dirty="0"/>
              <a:t>│           │ ── </a:t>
            </a:r>
            <a:r>
              <a:rPr lang="en-GB" sz="1400" dirty="0" err="1"/>
              <a:t>Framer.cs</a:t>
            </a:r>
            <a:br>
              <a:rPr lang="en-GB" sz="1400" dirty="0"/>
            </a:br>
            <a:r>
              <a:rPr lang="en-GB" sz="1400" dirty="0"/>
              <a:t>|           | ── </a:t>
            </a:r>
            <a:r>
              <a:rPr lang="en-GB" sz="1400" dirty="0" err="1"/>
              <a:t>Modifier.cs</a:t>
            </a:r>
            <a:endParaRPr lang="en-GB" sz="1400" dirty="0"/>
          </a:p>
          <a:p>
            <a:r>
              <a:rPr lang="en-GB" sz="1400" dirty="0"/>
              <a:t>|           | ── </a:t>
            </a:r>
            <a:r>
              <a:rPr lang="en-GB" sz="1400" dirty="0" err="1"/>
              <a:t>Ability.cs</a:t>
            </a:r>
            <a:br>
              <a:rPr lang="en-GB" sz="1400" dirty="0"/>
            </a:br>
            <a:r>
              <a:rPr lang="en-GB" sz="1400" dirty="0"/>
              <a:t>|            | ── </a:t>
            </a:r>
            <a:r>
              <a:rPr lang="en-GB" sz="1400" dirty="0" err="1"/>
              <a:t>Rating.cs</a:t>
            </a:r>
            <a:endParaRPr lang="en-GB" sz="1400" dirty="0"/>
          </a:p>
          <a:p>
            <a:r>
              <a:rPr lang="en-GB" sz="1400" dirty="0"/>
              <a:t>|            | ── </a:t>
            </a:r>
            <a:r>
              <a:rPr lang="en-GB" sz="1400" dirty="0" err="1"/>
              <a:t>Participant.cs</a:t>
            </a:r>
            <a:r>
              <a:rPr lang="en-GB" sz="1400" dirty="0"/>
              <a:t> </a:t>
            </a:r>
          </a:p>
          <a:p>
            <a:r>
              <a:rPr lang="en-GB" sz="1400" dirty="0"/>
              <a:t>|         │ ── </a:t>
            </a:r>
            <a:r>
              <a:rPr lang="en-GB" sz="1400" dirty="0" err="1"/>
              <a:t>Resolution.csproj</a:t>
            </a:r>
            <a:r>
              <a:rPr lang="en-GB" sz="1400" dirty="0"/>
              <a:t> </a:t>
            </a:r>
          </a:p>
          <a:p>
            <a:r>
              <a:rPr lang="en-GB" sz="1400" dirty="0"/>
              <a:t>|             | - </a:t>
            </a:r>
            <a:r>
              <a:rPr lang="en-GB" sz="1400" dirty="0" err="1"/>
              <a:t>DiceRoller.cs</a:t>
            </a:r>
            <a:br>
              <a:rPr lang="en-GB" sz="1400" dirty="0"/>
            </a:br>
            <a:r>
              <a:rPr lang="en-GB" sz="1400" dirty="0"/>
              <a:t>|             | - </a:t>
            </a:r>
            <a:r>
              <a:rPr lang="en-GB" sz="1400" dirty="0" err="1"/>
              <a:t>DiceRoll.cs</a:t>
            </a:r>
            <a:endParaRPr lang="en-GB" sz="1400" dirty="0"/>
          </a:p>
          <a:p>
            <a:endParaRPr lang="en-GB" sz="1400" dirty="0"/>
          </a:p>
          <a:p>
            <a:r>
              <a:rPr lang="en-GB" sz="1400" dirty="0"/>
              <a:t>…	</a:t>
            </a:r>
            <a:br>
              <a:rPr lang="en-GB" sz="1400" dirty="0"/>
            </a:br>
            <a:endParaRPr lang="en-US" sz="1400" dirty="0"/>
          </a:p>
        </p:txBody>
      </p:sp>
      <p:sp>
        <p:nvSpPr>
          <p:cNvPr id="10" name="TextBox 9">
            <a:extLst>
              <a:ext uri="{FF2B5EF4-FFF2-40B4-BE49-F238E27FC236}">
                <a16:creationId xmlns:a16="http://schemas.microsoft.com/office/drawing/2014/main" id="{493A3616-8CA6-04C9-B379-1643A037479D}"/>
              </a:ext>
            </a:extLst>
          </p:cNvPr>
          <p:cNvSpPr txBox="1"/>
          <p:nvPr/>
        </p:nvSpPr>
        <p:spPr>
          <a:xfrm>
            <a:off x="840829" y="5457322"/>
            <a:ext cx="7725103" cy="707886"/>
          </a:xfrm>
          <a:prstGeom prst="rect">
            <a:avLst/>
          </a:prstGeom>
          <a:noFill/>
        </p:spPr>
        <p:txBody>
          <a:bodyPr wrap="square" rtlCol="0">
            <a:spAutoFit/>
          </a:bodyPr>
          <a:lstStyle/>
          <a:p>
            <a:r>
              <a:rPr lang="en-US" sz="2000" b="1" dirty="0"/>
              <a:t>Each assembly is a module. </a:t>
            </a:r>
            <a:r>
              <a:rPr lang="en-US" sz="2000" dirty="0"/>
              <a:t> We can use folder organization within the module if it becomes large, separating exports from details for example.</a:t>
            </a:r>
            <a:endParaRPr lang="en-US" sz="2000" b="1" dirty="0"/>
          </a:p>
        </p:txBody>
      </p:sp>
    </p:spTree>
    <p:extLst>
      <p:ext uri="{BB962C8B-B14F-4D97-AF65-F5344CB8AC3E}">
        <p14:creationId xmlns:p14="http://schemas.microsoft.com/office/powerpoint/2010/main" val="760336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6BEFF-CA8D-F342-65DE-FCB44ECDC6DD}"/>
            </a:ext>
          </a:extLst>
        </p:cNvPr>
        <p:cNvGrpSpPr/>
        <p:nvPr/>
      </p:nvGrpSpPr>
      <p:grpSpPr>
        <a:xfrm>
          <a:off x="0" y="0"/>
          <a:ext cx="0" cy="0"/>
          <a:chOff x="0" y="0"/>
          <a:chExt cx="0" cy="0"/>
        </a:xfrm>
      </p:grpSpPr>
      <p:sp>
        <p:nvSpPr>
          <p:cNvPr id="11" name="Shape 3">
            <a:extLst>
              <a:ext uri="{FF2B5EF4-FFF2-40B4-BE49-F238E27FC236}">
                <a16:creationId xmlns:a16="http://schemas.microsoft.com/office/drawing/2014/main" id="{5903219C-A723-CA20-A87A-41128EDA025F}"/>
              </a:ext>
            </a:extLst>
          </p:cNvPr>
          <p:cNvSpPr/>
          <p:nvPr/>
        </p:nvSpPr>
        <p:spPr>
          <a:xfrm>
            <a:off x="457200" y="3044036"/>
            <a:ext cx="8229600" cy="963007"/>
          </a:xfrm>
          <a:prstGeom prst="rect">
            <a:avLst/>
          </a:prstGeom>
          <a:solidFill>
            <a:srgbClr val="F1F5F9"/>
          </a:solidFill>
          <a:ln/>
        </p:spPr>
        <p:txBody>
          <a:bodyPr/>
          <a:lstStyle/>
          <a:p>
            <a:endParaRPr lang="en-US"/>
          </a:p>
        </p:txBody>
      </p:sp>
      <p:sp>
        <p:nvSpPr>
          <p:cNvPr id="2" name="Text 0">
            <a:extLst>
              <a:ext uri="{FF2B5EF4-FFF2-40B4-BE49-F238E27FC236}">
                <a16:creationId xmlns:a16="http://schemas.microsoft.com/office/drawing/2014/main" id="{26AE11BB-BCE0-3BDB-42E4-63C79C35EA91}"/>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Assemblies As Modules</a:t>
            </a:r>
            <a:endParaRPr lang="en-US" sz="4000" dirty="0"/>
          </a:p>
        </p:txBody>
      </p:sp>
      <p:sp>
        <p:nvSpPr>
          <p:cNvPr id="5" name="TextBox 4">
            <a:extLst>
              <a:ext uri="{FF2B5EF4-FFF2-40B4-BE49-F238E27FC236}">
                <a16:creationId xmlns:a16="http://schemas.microsoft.com/office/drawing/2014/main" id="{AC48AC3F-D880-D151-F437-02144495F06C}"/>
              </a:ext>
            </a:extLst>
          </p:cNvPr>
          <p:cNvSpPr txBox="1"/>
          <p:nvPr/>
        </p:nvSpPr>
        <p:spPr>
          <a:xfrm>
            <a:off x="604345" y="1680920"/>
            <a:ext cx="4572000" cy="400110"/>
          </a:xfrm>
          <a:prstGeom prst="rect">
            <a:avLst/>
          </a:prstGeom>
          <a:noFill/>
        </p:spPr>
        <p:txBody>
          <a:bodyPr wrap="square">
            <a:spAutoFit/>
          </a:bodyPr>
          <a:lstStyle/>
          <a:p>
            <a:pPr marL="342900" indent="-342900">
              <a:buFont typeface="Arial" panose="020B0604020202020204" pitchFamily="34" charset="0"/>
              <a:buChar char="•"/>
            </a:pPr>
            <a:r>
              <a:rPr lang="en-US" sz="2000" dirty="0"/>
              <a:t>Assembly = Module boundary in C#</a:t>
            </a:r>
          </a:p>
        </p:txBody>
      </p:sp>
      <p:sp>
        <p:nvSpPr>
          <p:cNvPr id="7" name="TextBox 6">
            <a:extLst>
              <a:ext uri="{FF2B5EF4-FFF2-40B4-BE49-F238E27FC236}">
                <a16:creationId xmlns:a16="http://schemas.microsoft.com/office/drawing/2014/main" id="{0BB19DF4-863E-4A8E-FD1B-9CB81C552401}"/>
              </a:ext>
            </a:extLst>
          </p:cNvPr>
          <p:cNvSpPr txBox="1"/>
          <p:nvPr/>
        </p:nvSpPr>
        <p:spPr>
          <a:xfrm>
            <a:off x="604345" y="2151726"/>
            <a:ext cx="6836980" cy="707886"/>
          </a:xfrm>
          <a:prstGeom prst="rect">
            <a:avLst/>
          </a:prstGeom>
          <a:noFill/>
        </p:spPr>
        <p:txBody>
          <a:bodyPr wrap="square">
            <a:spAutoFit/>
          </a:bodyPr>
          <a:lstStyle/>
          <a:p>
            <a:pPr marL="285750" indent="-285750">
              <a:buFont typeface="Arial" panose="020B0604020202020204" pitchFamily="34" charset="0"/>
              <a:buChar char="•"/>
            </a:pPr>
            <a:r>
              <a:rPr lang="en-US" sz="2000" dirty="0"/>
              <a:t>public = exports from the module</a:t>
            </a:r>
          </a:p>
          <a:p>
            <a:pPr marL="285750" indent="-285750">
              <a:buFont typeface="Arial" panose="020B0604020202020204" pitchFamily="34" charset="0"/>
              <a:buChar char="•"/>
            </a:pPr>
            <a:r>
              <a:rPr lang="en-US" sz="2000" dirty="0"/>
              <a:t>internal = implementation details, can change</a:t>
            </a:r>
          </a:p>
        </p:txBody>
      </p:sp>
      <p:sp>
        <p:nvSpPr>
          <p:cNvPr id="8" name="TextBox 7">
            <a:extLst>
              <a:ext uri="{FF2B5EF4-FFF2-40B4-BE49-F238E27FC236}">
                <a16:creationId xmlns:a16="http://schemas.microsoft.com/office/drawing/2014/main" id="{7841BE89-654E-5FD3-DE8E-962076D023AE}"/>
              </a:ext>
            </a:extLst>
          </p:cNvPr>
          <p:cNvSpPr txBox="1"/>
          <p:nvPr/>
        </p:nvSpPr>
        <p:spPr>
          <a:xfrm>
            <a:off x="604345" y="3191237"/>
            <a:ext cx="6836980" cy="707886"/>
          </a:xfrm>
          <a:prstGeom prst="rect">
            <a:avLst/>
          </a:prstGeom>
          <a:noFill/>
        </p:spPr>
        <p:txBody>
          <a:bodyPr wrap="square">
            <a:spAutoFit/>
          </a:bodyPr>
          <a:lstStyle/>
          <a:p>
            <a:r>
              <a:rPr lang="en-US" sz="2000" dirty="0"/>
              <a:t>Exports are narrow – deep modules; use a facade</a:t>
            </a:r>
          </a:p>
          <a:p>
            <a:r>
              <a:rPr lang="en-US" sz="2000" dirty="0"/>
              <a:t>Exports may be interfaces – alternative implementations</a:t>
            </a:r>
          </a:p>
        </p:txBody>
      </p:sp>
      <p:sp>
        <p:nvSpPr>
          <p:cNvPr id="14" name="TextBox 13">
            <a:extLst>
              <a:ext uri="{FF2B5EF4-FFF2-40B4-BE49-F238E27FC236}">
                <a16:creationId xmlns:a16="http://schemas.microsoft.com/office/drawing/2014/main" id="{C7B30974-126A-5D15-E49E-3F0CD1C3771D}"/>
              </a:ext>
            </a:extLst>
          </p:cNvPr>
          <p:cNvSpPr txBox="1"/>
          <p:nvPr/>
        </p:nvSpPr>
        <p:spPr>
          <a:xfrm>
            <a:off x="604345" y="4236545"/>
            <a:ext cx="8082455" cy="707886"/>
          </a:xfrm>
          <a:prstGeom prst="rect">
            <a:avLst/>
          </a:prstGeom>
          <a:noFill/>
        </p:spPr>
        <p:txBody>
          <a:bodyPr wrap="square">
            <a:spAutoFit/>
          </a:bodyPr>
          <a:lstStyle/>
          <a:p>
            <a:pPr marL="285750" indent="-285750">
              <a:buFont typeface="Arial" panose="020B0604020202020204" pitchFamily="34" charset="0"/>
              <a:buChar char="•"/>
            </a:pPr>
            <a:r>
              <a:rPr lang="en-US" sz="2000" dirty="0"/>
              <a:t>[InternalsVisibleTo] = DON’T, allows access to internals</a:t>
            </a:r>
          </a:p>
          <a:p>
            <a:pPr marL="285750" indent="-285750">
              <a:buFont typeface="Arial" panose="020B0604020202020204" pitchFamily="34" charset="0"/>
              <a:buChar char="•"/>
            </a:pPr>
            <a:r>
              <a:rPr lang="en-US" sz="2000" dirty="0"/>
              <a:t>Testing? = No, tests rely on module exports, not implementation details</a:t>
            </a:r>
          </a:p>
        </p:txBody>
      </p:sp>
      <p:sp>
        <p:nvSpPr>
          <p:cNvPr id="15" name="Shape 3">
            <a:extLst>
              <a:ext uri="{FF2B5EF4-FFF2-40B4-BE49-F238E27FC236}">
                <a16:creationId xmlns:a16="http://schemas.microsoft.com/office/drawing/2014/main" id="{15D8CAA3-BDE3-450B-CA10-36FC5E3A8B50}"/>
              </a:ext>
            </a:extLst>
          </p:cNvPr>
          <p:cNvSpPr/>
          <p:nvPr/>
        </p:nvSpPr>
        <p:spPr>
          <a:xfrm>
            <a:off x="457200" y="5224773"/>
            <a:ext cx="8229600" cy="963007"/>
          </a:xfrm>
          <a:prstGeom prst="rect">
            <a:avLst/>
          </a:prstGeom>
          <a:solidFill>
            <a:srgbClr val="F1F5F9"/>
          </a:solidFill>
          <a:ln/>
        </p:spPr>
        <p:txBody>
          <a:bodyPr/>
          <a:lstStyle/>
          <a:p>
            <a:endParaRPr lang="en-US"/>
          </a:p>
        </p:txBody>
      </p:sp>
      <p:sp>
        <p:nvSpPr>
          <p:cNvPr id="16" name="TextBox 15">
            <a:extLst>
              <a:ext uri="{FF2B5EF4-FFF2-40B4-BE49-F238E27FC236}">
                <a16:creationId xmlns:a16="http://schemas.microsoft.com/office/drawing/2014/main" id="{8F89B19B-03DE-A8DD-485B-82B65BED1A89}"/>
              </a:ext>
            </a:extLst>
          </p:cNvPr>
          <p:cNvSpPr txBox="1"/>
          <p:nvPr/>
        </p:nvSpPr>
        <p:spPr>
          <a:xfrm>
            <a:off x="604345" y="5371974"/>
            <a:ext cx="6836980" cy="707886"/>
          </a:xfrm>
          <a:prstGeom prst="rect">
            <a:avLst/>
          </a:prstGeom>
          <a:noFill/>
        </p:spPr>
        <p:txBody>
          <a:bodyPr wrap="square">
            <a:spAutoFit/>
          </a:bodyPr>
          <a:lstStyle/>
          <a:p>
            <a:r>
              <a:rPr lang="en-US" sz="2000" dirty="0"/>
              <a:t>Refactoring – changing the details of a module </a:t>
            </a:r>
          </a:p>
          <a:p>
            <a:r>
              <a:rPr lang="en-US" sz="2000" dirty="0"/>
              <a:t>Refactoring – does not change the exports of a module (</a:t>
            </a:r>
            <a:r>
              <a:rPr lang="en-US" sz="2000" b="1" dirty="0"/>
              <a:t>public</a:t>
            </a:r>
            <a:r>
              <a:rPr lang="en-US" sz="2000" dirty="0"/>
              <a:t>!)</a:t>
            </a:r>
          </a:p>
        </p:txBody>
      </p:sp>
    </p:spTree>
    <p:extLst>
      <p:ext uri="{BB962C8B-B14F-4D97-AF65-F5344CB8AC3E}">
        <p14:creationId xmlns:p14="http://schemas.microsoft.com/office/powerpoint/2010/main" val="2780907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980B9"/>
        </a:solidFill>
        <a:effectLst/>
      </p:bgPr>
    </p:bg>
    <p:spTree>
      <p:nvGrpSpPr>
        <p:cNvPr id="1" name="">
          <a:extLst>
            <a:ext uri="{FF2B5EF4-FFF2-40B4-BE49-F238E27FC236}">
              <a16:creationId xmlns:a16="http://schemas.microsoft.com/office/drawing/2014/main" id="{6D33E460-E147-4C86-B149-278F502C40A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530DFEB-312C-5BF0-259B-D1AE633B65B2}"/>
              </a:ext>
            </a:extLst>
          </p:cNvPr>
          <p:cNvSpPr/>
          <p:nvPr/>
        </p:nvSpPr>
        <p:spPr>
          <a:xfrm>
            <a:off x="457200" y="2286000"/>
            <a:ext cx="8229600" cy="1097280"/>
          </a:xfrm>
          <a:prstGeom prst="rect">
            <a:avLst/>
          </a:prstGeom>
          <a:noFill/>
          <a:ln/>
        </p:spPr>
        <p:txBody>
          <a:bodyPr wrap="square" rtlCol="0" anchor="ctr"/>
          <a:lstStyle/>
          <a:p>
            <a:pPr marL="0" indent="0">
              <a:buNone/>
            </a:pPr>
            <a:r>
              <a:rPr lang="en-US" sz="4400" b="1" dirty="0">
                <a:solidFill>
                  <a:srgbClr val="FFFFFF"/>
                </a:solidFill>
              </a:rPr>
              <a:t>Running Example</a:t>
            </a:r>
            <a:endParaRPr lang="en-US" sz="4400" dirty="0"/>
          </a:p>
        </p:txBody>
      </p:sp>
      <p:sp>
        <p:nvSpPr>
          <p:cNvPr id="3" name="Text 1">
            <a:extLst>
              <a:ext uri="{FF2B5EF4-FFF2-40B4-BE49-F238E27FC236}">
                <a16:creationId xmlns:a16="http://schemas.microsoft.com/office/drawing/2014/main" id="{52BDF10D-017C-4E25-7E8D-8A32409F68C2}"/>
              </a:ext>
            </a:extLst>
          </p:cNvPr>
          <p:cNvSpPr/>
          <p:nvPr/>
        </p:nvSpPr>
        <p:spPr>
          <a:xfrm>
            <a:off x="457200" y="3383280"/>
            <a:ext cx="8229600" cy="731520"/>
          </a:xfrm>
          <a:prstGeom prst="rect">
            <a:avLst/>
          </a:prstGeom>
          <a:noFill/>
          <a:ln/>
        </p:spPr>
        <p:txBody>
          <a:bodyPr wrap="square" rtlCol="0" anchor="ctr"/>
          <a:lstStyle/>
          <a:p>
            <a:pPr marL="0" indent="0">
              <a:buNone/>
            </a:pPr>
            <a:r>
              <a:rPr lang="en-US" sz="2000" dirty="0">
                <a:solidFill>
                  <a:srgbClr val="FFFFFF"/>
                </a:solidFill>
              </a:rPr>
              <a:t>Let’s try to be concrete</a:t>
            </a:r>
            <a:endParaRPr lang="en-US" sz="2000" dirty="0"/>
          </a:p>
        </p:txBody>
      </p:sp>
    </p:spTree>
    <p:extLst>
      <p:ext uri="{BB962C8B-B14F-4D97-AF65-F5344CB8AC3E}">
        <p14:creationId xmlns:p14="http://schemas.microsoft.com/office/powerpoint/2010/main" val="2870831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C23F5-7302-7573-9EF2-0615FC8EF04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727363F-7924-C7A1-3A46-37A9031CFAEA}"/>
              </a:ext>
            </a:extLst>
          </p:cNvPr>
          <p:cNvSpPr/>
          <p:nvPr/>
        </p:nvSpPr>
        <p:spPr>
          <a:xfrm>
            <a:off x="457200" y="457200"/>
            <a:ext cx="8229600" cy="640080"/>
          </a:xfrm>
          <a:prstGeom prst="rect">
            <a:avLst/>
          </a:prstGeom>
          <a:noFill/>
          <a:ln/>
        </p:spPr>
        <p:txBody>
          <a:bodyPr wrap="square" rtlCol="0" anchor="ctr"/>
          <a:lstStyle/>
          <a:p>
            <a:pPr marL="0" indent="0">
              <a:buNone/>
            </a:pPr>
            <a:r>
              <a:rPr lang="en-US" sz="4000" b="1" dirty="0">
                <a:solidFill>
                  <a:srgbClr val="2C3E50"/>
                </a:solidFill>
              </a:rPr>
              <a:t>Our Running Example</a:t>
            </a:r>
            <a:endParaRPr lang="en-US" sz="4000" dirty="0"/>
          </a:p>
        </p:txBody>
      </p:sp>
      <p:sp>
        <p:nvSpPr>
          <p:cNvPr id="3" name="Text 1">
            <a:extLst>
              <a:ext uri="{FF2B5EF4-FFF2-40B4-BE49-F238E27FC236}">
                <a16:creationId xmlns:a16="http://schemas.microsoft.com/office/drawing/2014/main" id="{D0E7D6FB-075D-F7C1-20DF-427B9B50F198}"/>
              </a:ext>
            </a:extLst>
          </p:cNvPr>
          <p:cNvSpPr/>
          <p:nvPr/>
        </p:nvSpPr>
        <p:spPr>
          <a:xfrm>
            <a:off x="457200" y="1016000"/>
            <a:ext cx="8229600" cy="457200"/>
          </a:xfrm>
          <a:prstGeom prst="rect">
            <a:avLst/>
          </a:prstGeom>
          <a:noFill/>
          <a:ln/>
        </p:spPr>
        <p:txBody>
          <a:bodyPr wrap="square" rtlCol="0" anchor="ctr"/>
          <a:lstStyle/>
          <a:p>
            <a:pPr marL="0" indent="0">
              <a:buNone/>
            </a:pPr>
            <a:r>
              <a:rPr lang="en-US" sz="1800" dirty="0">
                <a:solidFill>
                  <a:srgbClr val="64748B"/>
                </a:solidFill>
              </a:rPr>
              <a:t>QuestWorlds Contest System</a:t>
            </a:r>
            <a:endParaRPr lang="en-US" sz="1800" dirty="0"/>
          </a:p>
        </p:txBody>
      </p:sp>
      <p:sp>
        <p:nvSpPr>
          <p:cNvPr id="5" name="Content Placeholder 2">
            <a:extLst>
              <a:ext uri="{FF2B5EF4-FFF2-40B4-BE49-F238E27FC236}">
                <a16:creationId xmlns:a16="http://schemas.microsoft.com/office/drawing/2014/main" id="{2770C56A-26CB-18B2-E8F3-F7E90BCB6002}"/>
              </a:ext>
            </a:extLst>
          </p:cNvPr>
          <p:cNvSpPr txBox="1">
            <a:spLocks/>
          </p:cNvSpPr>
          <p:nvPr/>
        </p:nvSpPr>
        <p:spPr>
          <a:xfrm>
            <a:off x="352945" y="1782154"/>
            <a:ext cx="3760839" cy="1700981"/>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sz="1800"/>
            </a:pPr>
            <a:r>
              <a:rPr lang="en-GB" sz="1800" dirty="0"/>
              <a:t>Example domain </a:t>
            </a:r>
          </a:p>
          <a:p>
            <a:pPr>
              <a:defRPr sz="1800"/>
            </a:pPr>
            <a:r>
              <a:rPr lang="en-GB" sz="1800" dirty="0"/>
              <a:t>It has several procedures, but for this exercise, we will focus on modelling its simple resolution engine: </a:t>
            </a:r>
            <a:r>
              <a:rPr lang="en-GB" sz="1800" b="1" dirty="0"/>
              <a:t>contests</a:t>
            </a:r>
            <a:r>
              <a:rPr lang="en-GB" sz="1800" dirty="0"/>
              <a:t>.</a:t>
            </a:r>
          </a:p>
        </p:txBody>
      </p:sp>
      <p:pic>
        <p:nvPicPr>
          <p:cNvPr id="6" name="Picture 2">
            <a:extLst>
              <a:ext uri="{FF2B5EF4-FFF2-40B4-BE49-F238E27FC236}">
                <a16:creationId xmlns:a16="http://schemas.microsoft.com/office/drawing/2014/main" id="{A5F35881-0923-B2FD-4CF9-0B8DA38610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3058" y="1315729"/>
            <a:ext cx="3470787" cy="52061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183A129-EC3C-447F-A6F4-5318081B9EDA}"/>
              </a:ext>
            </a:extLst>
          </p:cNvPr>
          <p:cNvSpPr txBox="1"/>
          <p:nvPr/>
        </p:nvSpPr>
        <p:spPr>
          <a:xfrm>
            <a:off x="231059" y="6244911"/>
            <a:ext cx="4340942" cy="276999"/>
          </a:xfrm>
          <a:prstGeom prst="rect">
            <a:avLst/>
          </a:prstGeom>
          <a:noFill/>
        </p:spPr>
        <p:txBody>
          <a:bodyPr wrap="square">
            <a:spAutoFit/>
          </a:bodyPr>
          <a:lstStyle/>
          <a:p>
            <a:r>
              <a:rPr lang="en-US" sz="1200" dirty="0"/>
              <a:t>https://</a:t>
            </a:r>
            <a:r>
              <a:rPr lang="en-US" sz="1200" dirty="0" err="1"/>
              <a:t>www.drivethrurpg.com</a:t>
            </a:r>
            <a:r>
              <a:rPr lang="en-US" sz="1200" dirty="0"/>
              <a:t>/</a:t>
            </a:r>
            <a:r>
              <a:rPr lang="en-US" sz="1200" dirty="0" err="1"/>
              <a:t>en</a:t>
            </a:r>
            <a:r>
              <a:rPr lang="en-US" sz="1200" dirty="0"/>
              <a:t>/product/509287/</a:t>
            </a:r>
            <a:r>
              <a:rPr lang="en-US" sz="1200" dirty="0" err="1"/>
              <a:t>questworlds</a:t>
            </a:r>
            <a:endParaRPr lang="en-US" sz="1200" dirty="0"/>
          </a:p>
        </p:txBody>
      </p:sp>
    </p:spTree>
    <p:extLst>
      <p:ext uri="{BB962C8B-B14F-4D97-AF65-F5344CB8AC3E}">
        <p14:creationId xmlns:p14="http://schemas.microsoft.com/office/powerpoint/2010/main" val="3550907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a:extLst>
              <a:ext uri="{FF2B5EF4-FFF2-40B4-BE49-F238E27FC236}">
                <a16:creationId xmlns:a16="http://schemas.microsoft.com/office/drawing/2014/main" id="{54E4E3B7-2B88-AE7C-A7D8-3EE2B4FBC472}"/>
              </a:ext>
            </a:extLst>
          </p:cNvPr>
          <p:cNvSpPr/>
          <p:nvPr/>
        </p:nvSpPr>
        <p:spPr>
          <a:xfrm>
            <a:off x="457200" y="1097281"/>
            <a:ext cx="8229600" cy="5198416"/>
          </a:xfrm>
          <a:prstGeom prst="rect">
            <a:avLst/>
          </a:prstGeom>
          <a:solidFill>
            <a:srgbClr val="F1F5F9"/>
          </a:solidFill>
          <a:ln/>
        </p:spPr>
        <p:txBody>
          <a:bodyPr/>
          <a:lstStyle/>
          <a:p>
            <a:endParaRPr lang="en-US"/>
          </a:p>
        </p:txBody>
      </p:sp>
      <p:sp>
        <p:nvSpPr>
          <p:cNvPr id="2" name="Text 0"/>
          <p:cNvSpPr/>
          <p:nvPr/>
        </p:nvSpPr>
        <p:spPr>
          <a:xfrm>
            <a:off x="457200" y="457200"/>
            <a:ext cx="8229600" cy="640080"/>
          </a:xfrm>
          <a:prstGeom prst="rect">
            <a:avLst/>
          </a:prstGeom>
          <a:noFill/>
          <a:ln/>
        </p:spPr>
        <p:txBody>
          <a:bodyPr wrap="square" rtlCol="0" anchor="ctr"/>
          <a:lstStyle/>
          <a:p>
            <a:pPr marL="0" indent="0">
              <a:buNone/>
            </a:pPr>
            <a:r>
              <a:rPr lang="en-US" sz="4000" b="1" dirty="0">
                <a:solidFill>
                  <a:srgbClr val="2C3E50"/>
                </a:solidFill>
              </a:rPr>
              <a:t>RDD Design Story</a:t>
            </a:r>
            <a:endParaRPr lang="en-US" sz="4000" dirty="0"/>
          </a:p>
        </p:txBody>
      </p:sp>
      <p:sp>
        <p:nvSpPr>
          <p:cNvPr id="4" name="Text 2"/>
          <p:cNvSpPr/>
          <p:nvPr/>
        </p:nvSpPr>
        <p:spPr>
          <a:xfrm>
            <a:off x="685800" y="1355834"/>
            <a:ext cx="7772400" cy="4635063"/>
          </a:xfrm>
          <a:prstGeom prst="rect">
            <a:avLst/>
          </a:prstGeom>
          <a:noFill/>
          <a:ln/>
        </p:spPr>
        <p:txBody>
          <a:bodyPr wrap="square" rtlCol="0" anchor="ctr"/>
          <a:lstStyle/>
          <a:p>
            <a:r>
              <a:rPr lang="en-US" sz="1800" dirty="0">
                <a:solidFill>
                  <a:schemeClr val="bg1">
                    <a:lumMod val="50000"/>
                  </a:schemeClr>
                </a:solidFill>
              </a:rPr>
              <a:t>"</a:t>
            </a:r>
            <a:r>
              <a:rPr lang="en-GB" dirty="0">
                <a:solidFill>
                  <a:schemeClr val="bg1">
                    <a:lumMod val="50000"/>
                  </a:schemeClr>
                </a:solidFill>
              </a:rPr>
              <a:t>A GM wants to run a QuestWorlds contest with a player.  They open the QuestWorlds website and generate a session ID, which they share with their players. </a:t>
            </a:r>
          </a:p>
          <a:p>
            <a:endParaRPr lang="en-GB" dirty="0">
              <a:solidFill>
                <a:schemeClr val="bg1">
                  <a:lumMod val="50000"/>
                </a:schemeClr>
              </a:solidFill>
            </a:endParaRPr>
          </a:p>
          <a:p>
            <a:r>
              <a:rPr lang="en-GB" dirty="0">
                <a:solidFill>
                  <a:schemeClr val="bg1">
                    <a:lumMod val="50000"/>
                  </a:schemeClr>
                </a:solidFill>
              </a:rPr>
              <a:t>The GM creates a new contest by entering the prize and setting the Target Number for the resistance. </a:t>
            </a:r>
          </a:p>
          <a:p>
            <a:endParaRPr lang="en-GB" dirty="0">
              <a:solidFill>
                <a:schemeClr val="bg1">
                  <a:lumMod val="50000"/>
                </a:schemeClr>
              </a:solidFill>
            </a:endParaRPr>
          </a:p>
          <a:p>
            <a:r>
              <a:rPr lang="en-GB" dirty="0">
                <a:solidFill>
                  <a:schemeClr val="bg1">
                    <a:lumMod val="50000"/>
                  </a:schemeClr>
                </a:solidFill>
              </a:rPr>
              <a:t>A player joins the session and records an ability they believe will help them overcome the obstacle and its rating. </a:t>
            </a:r>
          </a:p>
          <a:p>
            <a:endParaRPr lang="en-GB" dirty="0">
              <a:solidFill>
                <a:schemeClr val="bg1">
                  <a:lumMod val="50000"/>
                </a:schemeClr>
              </a:solidFill>
            </a:endParaRPr>
          </a:p>
          <a:p>
            <a:r>
              <a:rPr lang="en-GB" dirty="0">
                <a:solidFill>
                  <a:schemeClr val="bg1">
                    <a:lumMod val="50000"/>
                  </a:schemeClr>
                </a:solidFill>
              </a:rPr>
              <a:t>The GM determines any stretch, situational modifiers, hindrances, and augments. </a:t>
            </a:r>
          </a:p>
          <a:p>
            <a:endParaRPr lang="en-GB" dirty="0">
              <a:solidFill>
                <a:schemeClr val="bg1">
                  <a:lumMod val="50000"/>
                </a:schemeClr>
              </a:solidFill>
            </a:endParaRPr>
          </a:p>
          <a:p>
            <a:r>
              <a:rPr lang="en-GB" dirty="0">
                <a:solidFill>
                  <a:schemeClr val="bg1">
                    <a:lumMod val="50000"/>
                  </a:schemeClr>
                </a:solidFill>
              </a:rPr>
              <a:t>The system rolls a D20 for both the GM. </a:t>
            </a:r>
          </a:p>
          <a:p>
            <a:endParaRPr lang="en-GB" dirty="0">
              <a:solidFill>
                <a:schemeClr val="bg1">
                  <a:lumMod val="50000"/>
                </a:schemeClr>
              </a:solidFill>
            </a:endParaRPr>
          </a:p>
          <a:p>
            <a:r>
              <a:rPr lang="en-GB" dirty="0">
                <a:solidFill>
                  <a:schemeClr val="bg1">
                    <a:lumMod val="50000"/>
                  </a:schemeClr>
                </a:solidFill>
              </a:rPr>
              <a:t>The system evaluates the results, adjudicates the winner, and determines possible consequences or benefits. The outcome is shared with the GM and the Player. </a:t>
            </a:r>
            <a:r>
              <a:rPr lang="en-US" sz="1800" dirty="0">
                <a:solidFill>
                  <a:schemeClr val="bg1">
                    <a:lumMod val="50000"/>
                  </a:schemeClr>
                </a:solidFill>
              </a:rPr>
              <a:t>"</a:t>
            </a:r>
          </a:p>
        </p:txBody>
      </p:sp>
    </p:spTree>
    <p:extLst>
      <p:ext uri="{BB962C8B-B14F-4D97-AF65-F5344CB8AC3E}">
        <p14:creationId xmlns:p14="http://schemas.microsoft.com/office/powerpoint/2010/main" val="8471212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CA1F-7A38-2B2D-4BB5-894F06B78B85}"/>
            </a:ext>
          </a:extLst>
        </p:cNvPr>
        <p:cNvGrpSpPr/>
        <p:nvPr/>
      </p:nvGrpSpPr>
      <p:grpSpPr>
        <a:xfrm>
          <a:off x="0" y="0"/>
          <a:ext cx="0" cy="0"/>
          <a:chOff x="0" y="0"/>
          <a:chExt cx="0" cy="0"/>
        </a:xfrm>
      </p:grpSpPr>
      <p:pic>
        <p:nvPicPr>
          <p:cNvPr id="15" name="Picture 14" descr="A diagram of a program&#10;&#10;AI-generated content may be incorrect.">
            <a:extLst>
              <a:ext uri="{FF2B5EF4-FFF2-40B4-BE49-F238E27FC236}">
                <a16:creationId xmlns:a16="http://schemas.microsoft.com/office/drawing/2014/main" id="{8C042A93-61E5-79F0-859D-1FD705AE0452}"/>
              </a:ext>
            </a:extLst>
          </p:cNvPr>
          <p:cNvPicPr>
            <a:picLocks noChangeAspect="1"/>
          </p:cNvPicPr>
          <p:nvPr/>
        </p:nvPicPr>
        <p:blipFill>
          <a:blip r:embed="rId3"/>
          <a:stretch>
            <a:fillRect/>
          </a:stretch>
        </p:blipFill>
        <p:spPr>
          <a:xfrm>
            <a:off x="2313979" y="361774"/>
            <a:ext cx="4516042" cy="6364145"/>
          </a:xfrm>
          <a:prstGeom prst="rect">
            <a:avLst/>
          </a:prstGeom>
        </p:spPr>
      </p:pic>
    </p:spTree>
    <p:extLst>
      <p:ext uri="{BB962C8B-B14F-4D97-AF65-F5344CB8AC3E}">
        <p14:creationId xmlns:p14="http://schemas.microsoft.com/office/powerpoint/2010/main" val="41169274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1">
    <p:bg>
      <p:bgPr>
        <a:solidFill>
          <a:srgbClr val="2980B9"/>
        </a:solidFill>
        <a:effectLst/>
      </p:bgPr>
    </p:bg>
    <p:spTree>
      <p:nvGrpSpPr>
        <p:cNvPr id="1" name=""/>
        <p:cNvGrpSpPr/>
        <p:nvPr/>
      </p:nvGrpSpPr>
      <p:grpSpPr>
        <a:xfrm>
          <a:off x="0" y="0"/>
          <a:ext cx="0" cy="0"/>
          <a:chOff x="0" y="0"/>
          <a:chExt cx="0" cy="0"/>
        </a:xfrm>
      </p:grpSpPr>
      <p:sp>
        <p:nvSpPr>
          <p:cNvPr id="2" name="Text 0"/>
          <p:cNvSpPr/>
          <p:nvPr/>
        </p:nvSpPr>
        <p:spPr>
          <a:xfrm>
            <a:off x="457200" y="2286000"/>
            <a:ext cx="8229600" cy="1097280"/>
          </a:xfrm>
          <a:prstGeom prst="rect">
            <a:avLst/>
          </a:prstGeom>
          <a:noFill/>
          <a:ln/>
        </p:spPr>
        <p:txBody>
          <a:bodyPr wrap="square" rtlCol="0" anchor="ctr"/>
          <a:lstStyle/>
          <a:p>
            <a:pPr marL="0" indent="0">
              <a:buNone/>
            </a:pPr>
            <a:r>
              <a:rPr lang="en-US" sz="4400" b="1" dirty="0">
                <a:solidFill>
                  <a:srgbClr val="FFFFFF"/>
                </a:solidFill>
              </a:rPr>
              <a:t>Finding Modules</a:t>
            </a:r>
            <a:endParaRPr lang="en-US" sz="4400" dirty="0"/>
          </a:p>
        </p:txBody>
      </p:sp>
      <p:sp>
        <p:nvSpPr>
          <p:cNvPr id="3" name="Text 1"/>
          <p:cNvSpPr/>
          <p:nvPr/>
        </p:nvSpPr>
        <p:spPr>
          <a:xfrm>
            <a:off x="457200" y="3383280"/>
            <a:ext cx="8229600" cy="731520"/>
          </a:xfrm>
          <a:prstGeom prst="rect">
            <a:avLst/>
          </a:prstGeom>
          <a:noFill/>
          <a:ln/>
        </p:spPr>
        <p:txBody>
          <a:bodyPr wrap="square" rtlCol="0" anchor="ctr"/>
          <a:lstStyle/>
          <a:p>
            <a:pPr marL="0" indent="0">
              <a:buNone/>
            </a:pPr>
            <a:r>
              <a:rPr lang="en-US" sz="2000" dirty="0">
                <a:solidFill>
                  <a:srgbClr val="FFFFFF"/>
                </a:solidFill>
              </a:rPr>
              <a:t>Discovery techniques and review criteria</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Module Discovery</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800" dirty="0">
                <a:solidFill>
                  <a:srgbClr val="64748B"/>
                </a:solidFill>
              </a:rPr>
              <a:t>Multiple approaches</a:t>
            </a:r>
            <a:endParaRPr lang="en-US" sz="1800" dirty="0"/>
          </a:p>
        </p:txBody>
      </p:sp>
      <p:sp>
        <p:nvSpPr>
          <p:cNvPr id="4" name="Shape 2"/>
          <p:cNvSpPr/>
          <p:nvPr/>
        </p:nvSpPr>
        <p:spPr>
          <a:xfrm>
            <a:off x="457200" y="2316480"/>
            <a:ext cx="3657600" cy="1645920"/>
          </a:xfrm>
          <a:prstGeom prst="roundRect">
            <a:avLst/>
          </a:prstGeom>
          <a:solidFill>
            <a:srgbClr val="2C3E50"/>
          </a:solidFill>
          <a:ln/>
        </p:spPr>
        <p:txBody>
          <a:bodyPr/>
          <a:lstStyle/>
          <a:p>
            <a:endParaRPr lang="en-US"/>
          </a:p>
        </p:txBody>
      </p:sp>
      <p:sp>
        <p:nvSpPr>
          <p:cNvPr id="5" name="Text 3"/>
          <p:cNvSpPr/>
          <p:nvPr/>
        </p:nvSpPr>
        <p:spPr>
          <a:xfrm>
            <a:off x="457200" y="2316480"/>
            <a:ext cx="3657600" cy="1645920"/>
          </a:xfrm>
          <a:prstGeom prst="rect">
            <a:avLst/>
          </a:prstGeom>
          <a:noFill/>
          <a:ln/>
        </p:spPr>
        <p:txBody>
          <a:bodyPr wrap="square" rtlCol="0" anchor="ctr"/>
          <a:lstStyle/>
          <a:p>
            <a:pPr marL="0" indent="0" algn="ctr">
              <a:buNone/>
            </a:pPr>
            <a:r>
              <a:rPr lang="en-US" sz="1800" dirty="0">
                <a:solidFill>
                  <a:srgbClr val="FFFFFF"/>
                </a:solidFill>
              </a:rPr>
              <a:t>Workflow Decomposition</a:t>
            </a:r>
            <a:endParaRPr lang="en-US" sz="1800" dirty="0"/>
          </a:p>
          <a:p>
            <a:pPr marL="0" indent="0" algn="ctr">
              <a:buNone/>
            </a:pPr>
            <a:endParaRPr lang="en-US" sz="1800" dirty="0"/>
          </a:p>
          <a:p>
            <a:pPr marL="0" indent="0" algn="ctr">
              <a:buNone/>
            </a:pPr>
            <a:r>
              <a:rPr lang="en-US" sz="1800" dirty="0">
                <a:solidFill>
                  <a:srgbClr val="FFFFFF"/>
                </a:solidFill>
              </a:rPr>
              <a:t>Event Storming</a:t>
            </a:r>
            <a:endParaRPr lang="en-US" sz="1800" dirty="0"/>
          </a:p>
          <a:p>
            <a:pPr marL="0" indent="0" algn="ctr">
              <a:buNone/>
            </a:pPr>
            <a:r>
              <a:rPr lang="en-US" sz="1800" dirty="0">
                <a:solidFill>
                  <a:srgbClr val="FFFFFF"/>
                </a:solidFill>
              </a:rPr>
              <a:t>BPMN</a:t>
            </a:r>
            <a:endParaRPr lang="en-US" sz="1800" dirty="0"/>
          </a:p>
        </p:txBody>
      </p:sp>
      <p:sp>
        <p:nvSpPr>
          <p:cNvPr id="6" name="Shape 4"/>
          <p:cNvSpPr/>
          <p:nvPr/>
        </p:nvSpPr>
        <p:spPr>
          <a:xfrm>
            <a:off x="4846320" y="2316480"/>
            <a:ext cx="3657600" cy="1645920"/>
          </a:xfrm>
          <a:prstGeom prst="roundRect">
            <a:avLst/>
          </a:prstGeom>
          <a:solidFill>
            <a:srgbClr val="2980B9"/>
          </a:solidFill>
          <a:ln/>
        </p:spPr>
        <p:txBody>
          <a:bodyPr/>
          <a:lstStyle/>
          <a:p>
            <a:endParaRPr lang="en-US"/>
          </a:p>
        </p:txBody>
      </p:sp>
      <p:sp>
        <p:nvSpPr>
          <p:cNvPr id="7" name="Text 5"/>
          <p:cNvSpPr/>
          <p:nvPr/>
        </p:nvSpPr>
        <p:spPr>
          <a:xfrm>
            <a:off x="4846320" y="2316480"/>
            <a:ext cx="3657600" cy="1645920"/>
          </a:xfrm>
          <a:prstGeom prst="rect">
            <a:avLst/>
          </a:prstGeom>
          <a:noFill/>
          <a:ln/>
        </p:spPr>
        <p:txBody>
          <a:bodyPr wrap="square" rtlCol="0" anchor="ctr"/>
          <a:lstStyle/>
          <a:p>
            <a:pPr marL="0" indent="0" algn="ctr">
              <a:buNone/>
            </a:pPr>
            <a:r>
              <a:rPr lang="en-US" sz="1800" dirty="0">
                <a:solidFill>
                  <a:srgbClr val="FFFFFF"/>
                </a:solidFill>
              </a:rPr>
              <a:t>Actor/Action</a:t>
            </a:r>
            <a:endParaRPr lang="en-US" sz="1800" dirty="0"/>
          </a:p>
          <a:p>
            <a:pPr marL="0" indent="0" algn="ctr">
              <a:buNone/>
            </a:pPr>
            <a:endParaRPr lang="en-US" sz="1800" dirty="0"/>
          </a:p>
          <a:p>
            <a:pPr marL="0" indent="0" algn="ctr">
              <a:buNone/>
            </a:pPr>
            <a:r>
              <a:rPr lang="en-US" sz="1800" dirty="0">
                <a:solidFill>
                  <a:srgbClr val="FFFFFF"/>
                </a:solidFill>
              </a:rPr>
              <a:t>Use Cases</a:t>
            </a:r>
            <a:endParaRPr lang="en-US" sz="1800" dirty="0"/>
          </a:p>
          <a:p>
            <a:pPr marL="0" indent="0" algn="ctr">
              <a:buNone/>
            </a:pPr>
            <a:r>
              <a:rPr lang="en-US" sz="1800" dirty="0">
                <a:solidFill>
                  <a:srgbClr val="FFFFFF"/>
                </a:solidFill>
              </a:rPr>
              <a:t>Domain Storytelling</a:t>
            </a:r>
            <a:endParaRPr lang="en-US" sz="1800" dirty="0"/>
          </a:p>
          <a:p>
            <a:pPr marL="0" indent="0" algn="ctr">
              <a:buNone/>
            </a:pPr>
            <a:r>
              <a:rPr lang="en-US" sz="1800" dirty="0">
                <a:solidFill>
                  <a:srgbClr val="FFFFFF"/>
                </a:solidFill>
              </a:rPr>
              <a:t>RDD</a:t>
            </a:r>
            <a:endParaRPr lang="en-US" sz="1800" dirty="0"/>
          </a:p>
        </p:txBody>
      </p:sp>
      <p:sp>
        <p:nvSpPr>
          <p:cNvPr id="8" name="Text 6"/>
          <p:cNvSpPr/>
          <p:nvPr/>
        </p:nvSpPr>
        <p:spPr>
          <a:xfrm>
            <a:off x="457200" y="4328160"/>
            <a:ext cx="8046720" cy="457200"/>
          </a:xfrm>
          <a:prstGeom prst="rect">
            <a:avLst/>
          </a:prstGeom>
          <a:noFill/>
          <a:ln/>
        </p:spPr>
        <p:txBody>
          <a:bodyPr wrap="square" rtlCol="0" anchor="ctr"/>
          <a:lstStyle/>
          <a:p>
            <a:pPr marL="0" indent="0" algn="ctr">
              <a:buNone/>
            </a:pPr>
            <a:r>
              <a:rPr lang="en-US" sz="1800" dirty="0">
                <a:solidFill>
                  <a:srgbClr val="333333"/>
                </a:solidFill>
              </a:rPr>
              <a:t>Both reveal candidate modules through different lenses</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Workflow Decomposition</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800" dirty="0">
                <a:solidFill>
                  <a:srgbClr val="64748B"/>
                </a:solidFill>
              </a:rPr>
              <a:t>Follow the work through the system</a:t>
            </a:r>
            <a:endParaRPr lang="en-US" sz="1800" dirty="0"/>
          </a:p>
        </p:txBody>
      </p:sp>
      <p:sp>
        <p:nvSpPr>
          <p:cNvPr id="4" name="Shape 2"/>
          <p:cNvSpPr/>
          <p:nvPr/>
        </p:nvSpPr>
        <p:spPr>
          <a:xfrm>
            <a:off x="457200" y="1828800"/>
            <a:ext cx="1828800" cy="640080"/>
          </a:xfrm>
          <a:prstGeom prst="roundRect">
            <a:avLst/>
          </a:prstGeom>
          <a:solidFill>
            <a:srgbClr val="2980B9"/>
          </a:solidFill>
          <a:ln/>
        </p:spPr>
        <p:txBody>
          <a:bodyPr/>
          <a:lstStyle/>
          <a:p>
            <a:endParaRPr lang="en-US"/>
          </a:p>
        </p:txBody>
      </p:sp>
      <p:sp>
        <p:nvSpPr>
          <p:cNvPr id="5" name="Text 3"/>
          <p:cNvSpPr/>
          <p:nvPr/>
        </p:nvSpPr>
        <p:spPr>
          <a:xfrm>
            <a:off x="457200" y="1828800"/>
            <a:ext cx="1828800" cy="640080"/>
          </a:xfrm>
          <a:prstGeom prst="rect">
            <a:avLst/>
          </a:prstGeom>
          <a:noFill/>
          <a:ln/>
        </p:spPr>
        <p:txBody>
          <a:bodyPr wrap="square" rtlCol="0" anchor="ctr"/>
          <a:lstStyle/>
          <a:p>
            <a:pPr marL="0" indent="0" algn="ctr">
              <a:buNone/>
            </a:pPr>
            <a:r>
              <a:rPr lang="en-US" sz="1600" dirty="0">
                <a:solidFill>
                  <a:srgbClr val="FFFFFF"/>
                </a:solidFill>
              </a:rPr>
              <a:t>Step 1</a:t>
            </a:r>
            <a:endParaRPr lang="en-US" sz="1600" dirty="0"/>
          </a:p>
        </p:txBody>
      </p:sp>
      <p:sp>
        <p:nvSpPr>
          <p:cNvPr id="6" name="Text 4"/>
          <p:cNvSpPr/>
          <p:nvPr/>
        </p:nvSpPr>
        <p:spPr>
          <a:xfrm>
            <a:off x="2377440" y="1828800"/>
            <a:ext cx="36576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7" name="Shape 5"/>
          <p:cNvSpPr/>
          <p:nvPr/>
        </p:nvSpPr>
        <p:spPr>
          <a:xfrm>
            <a:off x="2834640" y="1828800"/>
            <a:ext cx="1828800" cy="640080"/>
          </a:xfrm>
          <a:prstGeom prst="roundRect">
            <a:avLst/>
          </a:prstGeom>
          <a:solidFill>
            <a:srgbClr val="2980B9"/>
          </a:solidFill>
          <a:ln/>
        </p:spPr>
        <p:txBody>
          <a:bodyPr/>
          <a:lstStyle/>
          <a:p>
            <a:endParaRPr lang="en-US"/>
          </a:p>
        </p:txBody>
      </p:sp>
      <p:sp>
        <p:nvSpPr>
          <p:cNvPr id="8" name="Text 6"/>
          <p:cNvSpPr/>
          <p:nvPr/>
        </p:nvSpPr>
        <p:spPr>
          <a:xfrm>
            <a:off x="2834640" y="1828800"/>
            <a:ext cx="1828800" cy="640080"/>
          </a:xfrm>
          <a:prstGeom prst="rect">
            <a:avLst/>
          </a:prstGeom>
          <a:noFill/>
          <a:ln/>
        </p:spPr>
        <p:txBody>
          <a:bodyPr wrap="square" rtlCol="0" anchor="ctr"/>
          <a:lstStyle/>
          <a:p>
            <a:pPr marL="0" indent="0" algn="ctr">
              <a:buNone/>
            </a:pPr>
            <a:r>
              <a:rPr lang="en-US" sz="1600" dirty="0">
                <a:solidFill>
                  <a:srgbClr val="FFFFFF"/>
                </a:solidFill>
              </a:rPr>
              <a:t>Step 2</a:t>
            </a:r>
            <a:endParaRPr lang="en-US" sz="1600" dirty="0"/>
          </a:p>
        </p:txBody>
      </p:sp>
      <p:sp>
        <p:nvSpPr>
          <p:cNvPr id="9" name="Text 7"/>
          <p:cNvSpPr/>
          <p:nvPr/>
        </p:nvSpPr>
        <p:spPr>
          <a:xfrm>
            <a:off x="4754880" y="1828800"/>
            <a:ext cx="36576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0" name="Shape 8"/>
          <p:cNvSpPr/>
          <p:nvPr/>
        </p:nvSpPr>
        <p:spPr>
          <a:xfrm>
            <a:off x="5212080" y="1828800"/>
            <a:ext cx="1828800" cy="640080"/>
          </a:xfrm>
          <a:prstGeom prst="roundRect">
            <a:avLst/>
          </a:prstGeom>
          <a:solidFill>
            <a:srgbClr val="2980B9"/>
          </a:solidFill>
          <a:ln/>
        </p:spPr>
        <p:txBody>
          <a:bodyPr/>
          <a:lstStyle/>
          <a:p>
            <a:endParaRPr lang="en-US"/>
          </a:p>
        </p:txBody>
      </p:sp>
      <p:sp>
        <p:nvSpPr>
          <p:cNvPr id="11" name="Text 9"/>
          <p:cNvSpPr/>
          <p:nvPr/>
        </p:nvSpPr>
        <p:spPr>
          <a:xfrm>
            <a:off x="5212080" y="1828800"/>
            <a:ext cx="1828800" cy="640080"/>
          </a:xfrm>
          <a:prstGeom prst="rect">
            <a:avLst/>
          </a:prstGeom>
          <a:noFill/>
          <a:ln/>
        </p:spPr>
        <p:txBody>
          <a:bodyPr wrap="square" rtlCol="0" anchor="ctr"/>
          <a:lstStyle/>
          <a:p>
            <a:pPr marL="0" indent="0" algn="ctr">
              <a:buNone/>
            </a:pPr>
            <a:r>
              <a:rPr lang="en-US" sz="1600" dirty="0">
                <a:solidFill>
                  <a:srgbClr val="FFFFFF"/>
                </a:solidFill>
              </a:rPr>
              <a:t>Step 3</a:t>
            </a:r>
            <a:endParaRPr lang="en-US" sz="1600" dirty="0"/>
          </a:p>
        </p:txBody>
      </p:sp>
      <p:sp>
        <p:nvSpPr>
          <p:cNvPr id="12" name="Text 10"/>
          <p:cNvSpPr/>
          <p:nvPr/>
        </p:nvSpPr>
        <p:spPr>
          <a:xfrm>
            <a:off x="7132320" y="1828800"/>
            <a:ext cx="36576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3" name="Shape 11"/>
          <p:cNvSpPr/>
          <p:nvPr/>
        </p:nvSpPr>
        <p:spPr>
          <a:xfrm>
            <a:off x="7589520" y="1828800"/>
            <a:ext cx="1097280" cy="640080"/>
          </a:xfrm>
          <a:prstGeom prst="roundRect">
            <a:avLst/>
          </a:prstGeom>
          <a:solidFill>
            <a:srgbClr val="2980B9"/>
          </a:solidFill>
          <a:ln/>
        </p:spPr>
        <p:txBody>
          <a:bodyPr/>
          <a:lstStyle/>
          <a:p>
            <a:endParaRPr lang="en-US"/>
          </a:p>
        </p:txBody>
      </p:sp>
      <p:sp>
        <p:nvSpPr>
          <p:cNvPr id="14" name="Text 12"/>
          <p:cNvSpPr/>
          <p:nvPr/>
        </p:nvSpPr>
        <p:spPr>
          <a:xfrm>
            <a:off x="7589520" y="1828800"/>
            <a:ext cx="1097280" cy="640080"/>
          </a:xfrm>
          <a:prstGeom prst="rect">
            <a:avLst/>
          </a:prstGeom>
          <a:noFill/>
          <a:ln/>
        </p:spPr>
        <p:txBody>
          <a:bodyPr wrap="square" rtlCol="0" anchor="ctr"/>
          <a:lstStyle/>
          <a:p>
            <a:pPr marL="0" indent="0" algn="ctr">
              <a:buNone/>
            </a:pPr>
            <a:r>
              <a:rPr lang="en-US" sz="1600" dirty="0">
                <a:solidFill>
                  <a:srgbClr val="FFFFFF"/>
                </a:solidFill>
              </a:rPr>
              <a:t>...</a:t>
            </a:r>
            <a:endParaRPr lang="en-US" sz="1600" dirty="0"/>
          </a:p>
        </p:txBody>
      </p:sp>
      <p:sp>
        <p:nvSpPr>
          <p:cNvPr id="15" name="Text 13"/>
          <p:cNvSpPr/>
          <p:nvPr/>
        </p:nvSpPr>
        <p:spPr>
          <a:xfrm>
            <a:off x="640080" y="2926080"/>
            <a:ext cx="7772400" cy="457200"/>
          </a:xfrm>
          <a:prstGeom prst="rect">
            <a:avLst/>
          </a:prstGeom>
          <a:noFill/>
          <a:ln/>
        </p:spPr>
        <p:txBody>
          <a:bodyPr wrap="square" rtlCol="0" anchor="ctr"/>
          <a:lstStyle/>
          <a:p>
            <a:pPr>
              <a:spcAft>
                <a:spcPts val="1200"/>
              </a:spcAft>
            </a:pPr>
            <a:r>
              <a:rPr lang="en-US" sz="1800" dirty="0">
                <a:solidFill>
                  <a:srgbClr val="333333"/>
                </a:solidFill>
              </a:rPr>
              <a:t>Each step = potential module</a:t>
            </a:r>
          </a:p>
        </p:txBody>
      </p:sp>
      <p:sp>
        <p:nvSpPr>
          <p:cNvPr id="17" name="TextBox 16">
            <a:extLst>
              <a:ext uri="{FF2B5EF4-FFF2-40B4-BE49-F238E27FC236}">
                <a16:creationId xmlns:a16="http://schemas.microsoft.com/office/drawing/2014/main" id="{5576BA1D-2BD4-34F1-669A-A7011011D917}"/>
              </a:ext>
            </a:extLst>
          </p:cNvPr>
          <p:cNvSpPr txBox="1"/>
          <p:nvPr/>
        </p:nvSpPr>
        <p:spPr>
          <a:xfrm>
            <a:off x="640080" y="3474721"/>
            <a:ext cx="7487920" cy="1661993"/>
          </a:xfrm>
          <a:prstGeom prst="rect">
            <a:avLst/>
          </a:prstGeom>
          <a:noFill/>
        </p:spPr>
        <p:txBody>
          <a:bodyPr wrap="square">
            <a:spAutoFit/>
          </a:bodyPr>
          <a:lstStyle/>
          <a:p>
            <a:pPr>
              <a:spcAft>
                <a:spcPts val="1200"/>
              </a:spcAft>
            </a:pPr>
            <a:r>
              <a:rPr lang="en-US" dirty="0">
                <a:solidFill>
                  <a:srgbClr val="333333"/>
                </a:solidFill>
              </a:rPr>
              <a:t>Identify the major steps in processing</a:t>
            </a:r>
          </a:p>
          <a:p>
            <a:pPr marL="285750" indent="-285750">
              <a:spcAft>
                <a:spcPts val="1200"/>
              </a:spcAft>
              <a:buFont typeface="Arial" panose="020B0604020202020204" pitchFamily="34" charset="0"/>
              <a:buChar char="•"/>
            </a:pPr>
            <a:r>
              <a:rPr lang="en-US" dirty="0">
                <a:solidFill>
                  <a:srgbClr val="333333"/>
                </a:solidFill>
              </a:rPr>
              <a:t>Event Storming</a:t>
            </a:r>
          </a:p>
          <a:p>
            <a:pPr marL="285750" indent="-285750">
              <a:spcAft>
                <a:spcPts val="1200"/>
              </a:spcAft>
              <a:buFont typeface="Arial" panose="020B0604020202020204" pitchFamily="34" charset="0"/>
              <a:buChar char="•"/>
            </a:pPr>
            <a:r>
              <a:rPr lang="en-US" dirty="0">
                <a:solidFill>
                  <a:srgbClr val="333333"/>
                </a:solidFill>
              </a:rPr>
              <a:t>Value Stream Mapping</a:t>
            </a:r>
          </a:p>
          <a:p>
            <a:pPr marL="285750" indent="-285750">
              <a:spcAft>
                <a:spcPts val="1200"/>
              </a:spcAft>
              <a:buFont typeface="Arial" panose="020B0604020202020204" pitchFamily="34" charset="0"/>
              <a:buChar char="•"/>
            </a:pPr>
            <a:r>
              <a:rPr lang="en-US" dirty="0">
                <a:solidFill>
                  <a:srgbClr val="333333"/>
                </a:solidFill>
              </a:rPr>
              <a:t>BPMN diagrams</a:t>
            </a:r>
            <a:endParaRPr lang="en-US" sz="1800" dirty="0">
              <a:solidFill>
                <a:srgbClr val="333333"/>
              </a:solidFill>
            </a:endParaRPr>
          </a:p>
        </p:txBody>
      </p:sp>
      <p:sp>
        <p:nvSpPr>
          <p:cNvPr id="19" name="TextBox 18">
            <a:extLst>
              <a:ext uri="{FF2B5EF4-FFF2-40B4-BE49-F238E27FC236}">
                <a16:creationId xmlns:a16="http://schemas.microsoft.com/office/drawing/2014/main" id="{CE8B8F7E-F448-356D-AAB9-31D3AF8A122D}"/>
              </a:ext>
            </a:extLst>
          </p:cNvPr>
          <p:cNvSpPr txBox="1"/>
          <p:nvPr/>
        </p:nvSpPr>
        <p:spPr>
          <a:xfrm>
            <a:off x="640080" y="5482828"/>
            <a:ext cx="4572000" cy="369332"/>
          </a:xfrm>
          <a:prstGeom prst="rect">
            <a:avLst/>
          </a:prstGeom>
          <a:noFill/>
        </p:spPr>
        <p:txBody>
          <a:bodyPr wrap="square">
            <a:spAutoFit/>
          </a:bodyPr>
          <a:lstStyle/>
          <a:p>
            <a:pPr marL="0" indent="0">
              <a:spcAft>
                <a:spcPts val="1200"/>
              </a:spcAft>
              <a:buNone/>
            </a:pPr>
            <a:r>
              <a:rPr lang="en-US" sz="1800" dirty="0">
                <a:solidFill>
                  <a:srgbClr val="333333"/>
                </a:solidFill>
              </a:rPr>
              <a:t>Good for: business processes, data flows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QuestWorlds: Workflow</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800" dirty="0">
                <a:solidFill>
                  <a:srgbClr val="64748B"/>
                </a:solidFill>
              </a:rPr>
              <a:t>Following the contest flow</a:t>
            </a:r>
            <a:endParaRPr lang="en-US" sz="1800" dirty="0"/>
          </a:p>
        </p:txBody>
      </p:sp>
      <p:sp>
        <p:nvSpPr>
          <p:cNvPr id="4" name="Shape 2"/>
          <p:cNvSpPr/>
          <p:nvPr/>
        </p:nvSpPr>
        <p:spPr>
          <a:xfrm>
            <a:off x="529984" y="1828800"/>
            <a:ext cx="1463040" cy="731520"/>
          </a:xfrm>
          <a:prstGeom prst="roundRect">
            <a:avLst/>
          </a:prstGeom>
          <a:solidFill>
            <a:srgbClr val="2C3E50"/>
          </a:solidFill>
          <a:ln/>
        </p:spPr>
        <p:txBody>
          <a:bodyPr/>
          <a:lstStyle/>
          <a:p>
            <a:endParaRPr lang="en-US"/>
          </a:p>
        </p:txBody>
      </p:sp>
      <p:sp>
        <p:nvSpPr>
          <p:cNvPr id="5" name="Text 3"/>
          <p:cNvSpPr/>
          <p:nvPr/>
        </p:nvSpPr>
        <p:spPr>
          <a:xfrm>
            <a:off x="457200" y="1828800"/>
            <a:ext cx="1463040" cy="731520"/>
          </a:xfrm>
          <a:prstGeom prst="rect">
            <a:avLst/>
          </a:prstGeom>
          <a:noFill/>
          <a:ln/>
        </p:spPr>
        <p:txBody>
          <a:bodyPr wrap="square" rtlCol="0" anchor="ctr"/>
          <a:lstStyle/>
          <a:p>
            <a:pPr marL="0" indent="0" algn="ctr">
              <a:buNone/>
            </a:pPr>
            <a:r>
              <a:rPr lang="en-US" sz="1600" dirty="0">
                <a:solidFill>
                  <a:srgbClr val="FFFFFF"/>
                </a:solidFill>
              </a:rPr>
              <a:t>Session</a:t>
            </a:r>
            <a:endParaRPr lang="en-US" sz="1600" dirty="0"/>
          </a:p>
        </p:txBody>
      </p:sp>
      <p:sp>
        <p:nvSpPr>
          <p:cNvPr id="6" name="Text 4"/>
          <p:cNvSpPr/>
          <p:nvPr/>
        </p:nvSpPr>
        <p:spPr>
          <a:xfrm>
            <a:off x="2148840" y="1828800"/>
            <a:ext cx="457200" cy="73152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7" name="Shape 5"/>
          <p:cNvSpPr/>
          <p:nvPr/>
        </p:nvSpPr>
        <p:spPr>
          <a:xfrm>
            <a:off x="2782089" y="1828800"/>
            <a:ext cx="1446223" cy="731520"/>
          </a:xfrm>
          <a:prstGeom prst="roundRect">
            <a:avLst/>
          </a:prstGeom>
          <a:solidFill>
            <a:srgbClr val="2C3E50"/>
          </a:solidFill>
          <a:ln/>
        </p:spPr>
        <p:txBody>
          <a:bodyPr/>
          <a:lstStyle/>
          <a:p>
            <a:endParaRPr lang="en-US"/>
          </a:p>
        </p:txBody>
      </p:sp>
      <p:sp>
        <p:nvSpPr>
          <p:cNvPr id="8" name="Text 6"/>
          <p:cNvSpPr/>
          <p:nvPr/>
        </p:nvSpPr>
        <p:spPr>
          <a:xfrm>
            <a:off x="2782089" y="1828800"/>
            <a:ext cx="1446223" cy="731520"/>
          </a:xfrm>
          <a:prstGeom prst="rect">
            <a:avLst/>
          </a:prstGeom>
          <a:noFill/>
          <a:ln/>
        </p:spPr>
        <p:txBody>
          <a:bodyPr wrap="square" rtlCol="0" anchor="ctr"/>
          <a:lstStyle/>
          <a:p>
            <a:pPr marL="0" indent="0" algn="ctr">
              <a:buNone/>
            </a:pPr>
            <a:r>
              <a:rPr lang="en-US" sz="1600" dirty="0">
                <a:solidFill>
                  <a:srgbClr val="FFFFFF"/>
                </a:solidFill>
              </a:rPr>
              <a:t>Framing</a:t>
            </a:r>
            <a:endParaRPr lang="en-US" sz="1600" dirty="0"/>
          </a:p>
        </p:txBody>
      </p:sp>
      <p:sp>
        <p:nvSpPr>
          <p:cNvPr id="9" name="Text 7"/>
          <p:cNvSpPr/>
          <p:nvPr/>
        </p:nvSpPr>
        <p:spPr>
          <a:xfrm>
            <a:off x="4465319" y="1828800"/>
            <a:ext cx="457200" cy="73152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0" name="Shape 8"/>
          <p:cNvSpPr/>
          <p:nvPr/>
        </p:nvSpPr>
        <p:spPr>
          <a:xfrm>
            <a:off x="5007128" y="1828800"/>
            <a:ext cx="1352681" cy="731520"/>
          </a:xfrm>
          <a:prstGeom prst="roundRect">
            <a:avLst/>
          </a:prstGeom>
          <a:solidFill>
            <a:srgbClr val="2C3E50"/>
          </a:solidFill>
          <a:ln/>
        </p:spPr>
        <p:txBody>
          <a:bodyPr/>
          <a:lstStyle/>
          <a:p>
            <a:endParaRPr lang="en-US"/>
          </a:p>
        </p:txBody>
      </p:sp>
      <p:sp>
        <p:nvSpPr>
          <p:cNvPr id="11" name="Text 9"/>
          <p:cNvSpPr/>
          <p:nvPr/>
        </p:nvSpPr>
        <p:spPr>
          <a:xfrm>
            <a:off x="5007128" y="1828800"/>
            <a:ext cx="1352681" cy="731520"/>
          </a:xfrm>
          <a:prstGeom prst="rect">
            <a:avLst/>
          </a:prstGeom>
          <a:noFill/>
          <a:ln/>
        </p:spPr>
        <p:txBody>
          <a:bodyPr wrap="square" rtlCol="0" anchor="ctr"/>
          <a:lstStyle/>
          <a:p>
            <a:pPr marL="0" indent="0" algn="ctr">
              <a:buNone/>
            </a:pPr>
            <a:r>
              <a:rPr lang="en-US" sz="1600" dirty="0">
                <a:solidFill>
                  <a:srgbClr val="FFFFFF"/>
                </a:solidFill>
              </a:rPr>
              <a:t>Resolution</a:t>
            </a:r>
            <a:endParaRPr lang="en-US" sz="1600" dirty="0"/>
          </a:p>
        </p:txBody>
      </p:sp>
      <p:sp>
        <p:nvSpPr>
          <p:cNvPr id="12" name="Text 10"/>
          <p:cNvSpPr/>
          <p:nvPr/>
        </p:nvSpPr>
        <p:spPr>
          <a:xfrm>
            <a:off x="6537960" y="1828800"/>
            <a:ext cx="457200" cy="73152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3" name="Shape 11"/>
          <p:cNvSpPr/>
          <p:nvPr/>
        </p:nvSpPr>
        <p:spPr>
          <a:xfrm>
            <a:off x="7173310" y="1828800"/>
            <a:ext cx="1147729" cy="731520"/>
          </a:xfrm>
          <a:prstGeom prst="roundRect">
            <a:avLst/>
          </a:prstGeom>
          <a:solidFill>
            <a:srgbClr val="2C3E50"/>
          </a:solidFill>
          <a:ln/>
        </p:spPr>
        <p:txBody>
          <a:bodyPr/>
          <a:lstStyle/>
          <a:p>
            <a:endParaRPr lang="en-US"/>
          </a:p>
        </p:txBody>
      </p:sp>
      <p:sp>
        <p:nvSpPr>
          <p:cNvPr id="14" name="Text 12"/>
          <p:cNvSpPr/>
          <p:nvPr/>
        </p:nvSpPr>
        <p:spPr>
          <a:xfrm>
            <a:off x="7173310" y="1828800"/>
            <a:ext cx="1092551" cy="731520"/>
          </a:xfrm>
          <a:prstGeom prst="rect">
            <a:avLst/>
          </a:prstGeom>
          <a:noFill/>
          <a:ln/>
        </p:spPr>
        <p:txBody>
          <a:bodyPr wrap="square" rtlCol="0" anchor="ctr"/>
          <a:lstStyle/>
          <a:p>
            <a:pPr marL="0" indent="0" algn="ctr">
              <a:buNone/>
            </a:pPr>
            <a:r>
              <a:rPr lang="en-US" sz="1600" dirty="0">
                <a:solidFill>
                  <a:srgbClr val="FFFFFF"/>
                </a:solidFill>
              </a:rPr>
              <a:t>Outcome</a:t>
            </a:r>
            <a:endParaRPr lang="en-US" sz="1600" dirty="0"/>
          </a:p>
        </p:txBody>
      </p:sp>
      <p:sp>
        <p:nvSpPr>
          <p:cNvPr id="15" name="Text 13"/>
          <p:cNvSpPr/>
          <p:nvPr/>
        </p:nvSpPr>
        <p:spPr>
          <a:xfrm>
            <a:off x="548640" y="2926080"/>
            <a:ext cx="7772400" cy="914400"/>
          </a:xfrm>
          <a:prstGeom prst="rect">
            <a:avLst/>
          </a:prstGeom>
          <a:noFill/>
          <a:ln/>
        </p:spPr>
        <p:txBody>
          <a:bodyPr wrap="square" rtlCol="0" anchor="ctr"/>
          <a:lstStyle/>
          <a:p>
            <a:pPr marL="0" indent="0">
              <a:buNone/>
            </a:pPr>
            <a:r>
              <a:rPr lang="en-US" sz="2000" dirty="0">
                <a:solidFill>
                  <a:srgbClr val="333333"/>
                </a:solidFill>
              </a:rPr>
              <a:t>Candidate modules from workflow:</a:t>
            </a:r>
            <a:endParaRPr lang="en-US" sz="2000" dirty="0"/>
          </a:p>
          <a:p>
            <a:pPr marL="0" indent="0">
              <a:buNone/>
            </a:pPr>
            <a:endParaRPr lang="en-US" sz="2000" dirty="0">
              <a:solidFill>
                <a:srgbClr val="333333"/>
              </a:solidFill>
            </a:endParaRPr>
          </a:p>
          <a:p>
            <a:pPr marL="0" indent="0">
              <a:buNone/>
            </a:pPr>
            <a:r>
              <a:rPr lang="en-US" sz="2000" dirty="0">
                <a:solidFill>
                  <a:srgbClr val="333333"/>
                </a:solidFill>
              </a:rPr>
              <a:t>Session, Framing, Resolution, Adjudication</a:t>
            </a:r>
            <a:endParaRPr lang="en-US" sz="2000" dirty="0"/>
          </a:p>
        </p:txBody>
      </p:sp>
      <p:sp>
        <p:nvSpPr>
          <p:cNvPr id="16" name="Text 14"/>
          <p:cNvSpPr/>
          <p:nvPr/>
        </p:nvSpPr>
        <p:spPr>
          <a:xfrm>
            <a:off x="548640" y="4114800"/>
            <a:ext cx="7772400" cy="457200"/>
          </a:xfrm>
          <a:prstGeom prst="rect">
            <a:avLst/>
          </a:prstGeom>
          <a:noFill/>
          <a:ln/>
        </p:spPr>
        <p:txBody>
          <a:bodyPr wrap="square" rtlCol="0" anchor="ctr"/>
          <a:lstStyle/>
          <a:p>
            <a:pPr marL="0" indent="0">
              <a:buNone/>
            </a:pPr>
            <a:r>
              <a:rPr lang="en-US" sz="1800" i="1" dirty="0">
                <a:solidFill>
                  <a:srgbClr val="64748B"/>
                </a:solidFill>
              </a:rPr>
              <a:t>But are these good modules? Need review criteria...</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Actor/Action</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800" dirty="0">
                <a:solidFill>
                  <a:srgbClr val="64748B"/>
                </a:solidFill>
              </a:rPr>
              <a:t>Who does what to whom?</a:t>
            </a:r>
            <a:endParaRPr lang="en-US" sz="1800" dirty="0"/>
          </a:p>
        </p:txBody>
      </p:sp>
      <p:sp>
        <p:nvSpPr>
          <p:cNvPr id="4" name="Shape 2"/>
          <p:cNvSpPr/>
          <p:nvPr/>
        </p:nvSpPr>
        <p:spPr>
          <a:xfrm>
            <a:off x="914400" y="1828800"/>
            <a:ext cx="1371600" cy="1371600"/>
          </a:xfrm>
          <a:prstGeom prst="ellipse">
            <a:avLst/>
          </a:prstGeom>
          <a:solidFill>
            <a:srgbClr val="2C3E50"/>
          </a:solidFill>
          <a:ln/>
        </p:spPr>
        <p:txBody>
          <a:bodyPr/>
          <a:lstStyle/>
          <a:p>
            <a:endParaRPr lang="en-US"/>
          </a:p>
        </p:txBody>
      </p:sp>
      <p:sp>
        <p:nvSpPr>
          <p:cNvPr id="5" name="Text 3"/>
          <p:cNvSpPr/>
          <p:nvPr/>
        </p:nvSpPr>
        <p:spPr>
          <a:xfrm>
            <a:off x="914400" y="2194560"/>
            <a:ext cx="1371600" cy="640080"/>
          </a:xfrm>
          <a:prstGeom prst="rect">
            <a:avLst/>
          </a:prstGeom>
          <a:noFill/>
          <a:ln/>
        </p:spPr>
        <p:txBody>
          <a:bodyPr wrap="square" rtlCol="0" anchor="ctr"/>
          <a:lstStyle/>
          <a:p>
            <a:pPr marL="0" indent="0" algn="ctr">
              <a:buNone/>
            </a:pPr>
            <a:r>
              <a:rPr lang="en-US" sz="1400" dirty="0">
                <a:solidFill>
                  <a:srgbClr val="FFFFFF"/>
                </a:solidFill>
              </a:rPr>
              <a:t>Actor</a:t>
            </a:r>
            <a:endParaRPr lang="en-US" sz="1400" dirty="0"/>
          </a:p>
        </p:txBody>
      </p:sp>
      <p:sp>
        <p:nvSpPr>
          <p:cNvPr id="6" name="Text 4"/>
          <p:cNvSpPr/>
          <p:nvPr/>
        </p:nvSpPr>
        <p:spPr>
          <a:xfrm>
            <a:off x="2560320" y="2194560"/>
            <a:ext cx="1097280" cy="548640"/>
          </a:xfrm>
          <a:prstGeom prst="rect">
            <a:avLst/>
          </a:prstGeom>
          <a:noFill/>
          <a:ln/>
        </p:spPr>
        <p:txBody>
          <a:bodyPr wrap="square" rtlCol="0" anchor="ctr"/>
          <a:lstStyle/>
          <a:p>
            <a:pPr marL="0" indent="0" algn="ctr">
              <a:buNone/>
            </a:pPr>
            <a:r>
              <a:rPr lang="en-US" sz="1400" dirty="0">
                <a:solidFill>
                  <a:srgbClr val="000000"/>
                </a:solidFill>
              </a:rPr>
              <a:t>performs</a:t>
            </a:r>
            <a:endParaRPr lang="en-US" sz="1400" dirty="0"/>
          </a:p>
        </p:txBody>
      </p:sp>
      <p:sp>
        <p:nvSpPr>
          <p:cNvPr id="7" name="Shape 5"/>
          <p:cNvSpPr/>
          <p:nvPr/>
        </p:nvSpPr>
        <p:spPr>
          <a:xfrm>
            <a:off x="3840480" y="2011680"/>
            <a:ext cx="1828800" cy="914400"/>
          </a:xfrm>
          <a:prstGeom prst="roundRect">
            <a:avLst/>
          </a:prstGeom>
          <a:solidFill>
            <a:srgbClr val="2980B9"/>
          </a:solidFill>
          <a:ln/>
        </p:spPr>
        <p:txBody>
          <a:bodyPr/>
          <a:lstStyle/>
          <a:p>
            <a:endParaRPr lang="en-US"/>
          </a:p>
        </p:txBody>
      </p:sp>
      <p:sp>
        <p:nvSpPr>
          <p:cNvPr id="8" name="Text 6"/>
          <p:cNvSpPr/>
          <p:nvPr/>
        </p:nvSpPr>
        <p:spPr>
          <a:xfrm>
            <a:off x="3840480" y="2011680"/>
            <a:ext cx="1828800" cy="914400"/>
          </a:xfrm>
          <a:prstGeom prst="rect">
            <a:avLst/>
          </a:prstGeom>
          <a:noFill/>
          <a:ln/>
        </p:spPr>
        <p:txBody>
          <a:bodyPr wrap="square" rtlCol="0" anchor="ctr"/>
          <a:lstStyle/>
          <a:p>
            <a:pPr marL="0" indent="0" algn="ctr">
              <a:buNone/>
            </a:pPr>
            <a:r>
              <a:rPr lang="en-US" sz="1400" dirty="0">
                <a:solidFill>
                  <a:srgbClr val="FFFFFF"/>
                </a:solidFill>
              </a:rPr>
              <a:t>Action</a:t>
            </a:r>
            <a:endParaRPr lang="en-US" sz="1400" dirty="0"/>
          </a:p>
        </p:txBody>
      </p:sp>
      <p:sp>
        <p:nvSpPr>
          <p:cNvPr id="9" name="Text 7"/>
          <p:cNvSpPr/>
          <p:nvPr/>
        </p:nvSpPr>
        <p:spPr>
          <a:xfrm>
            <a:off x="5852160" y="2194560"/>
            <a:ext cx="548640" cy="548640"/>
          </a:xfrm>
          <a:prstGeom prst="rect">
            <a:avLst/>
          </a:prstGeom>
          <a:noFill/>
          <a:ln/>
        </p:spPr>
        <p:txBody>
          <a:bodyPr wrap="square" rtlCol="0" anchor="ctr"/>
          <a:lstStyle/>
          <a:p>
            <a:pPr marL="0" indent="0" algn="ctr">
              <a:buNone/>
            </a:pPr>
            <a:r>
              <a:rPr lang="en-US" sz="1400" dirty="0">
                <a:solidFill>
                  <a:srgbClr val="000000"/>
                </a:solidFill>
              </a:rPr>
              <a:t>on</a:t>
            </a:r>
            <a:endParaRPr lang="en-US" sz="1400" dirty="0"/>
          </a:p>
        </p:txBody>
      </p:sp>
      <p:sp>
        <p:nvSpPr>
          <p:cNvPr id="10" name="Shape 8"/>
          <p:cNvSpPr/>
          <p:nvPr/>
        </p:nvSpPr>
        <p:spPr>
          <a:xfrm>
            <a:off x="6583680" y="2011680"/>
            <a:ext cx="1828800" cy="914400"/>
          </a:xfrm>
          <a:prstGeom prst="rect">
            <a:avLst/>
          </a:prstGeom>
          <a:solidFill>
            <a:srgbClr val="F1F5F9"/>
          </a:solidFill>
          <a:ln/>
        </p:spPr>
        <p:txBody>
          <a:bodyPr/>
          <a:lstStyle/>
          <a:p>
            <a:endParaRPr lang="en-US"/>
          </a:p>
        </p:txBody>
      </p:sp>
      <p:sp>
        <p:nvSpPr>
          <p:cNvPr id="11" name="Text 9"/>
          <p:cNvSpPr/>
          <p:nvPr/>
        </p:nvSpPr>
        <p:spPr>
          <a:xfrm>
            <a:off x="6583680" y="2011680"/>
            <a:ext cx="1828800" cy="914400"/>
          </a:xfrm>
          <a:prstGeom prst="rect">
            <a:avLst/>
          </a:prstGeom>
          <a:noFill/>
          <a:ln/>
        </p:spPr>
        <p:txBody>
          <a:bodyPr wrap="square" rtlCol="0" anchor="ctr"/>
          <a:lstStyle/>
          <a:p>
            <a:pPr marL="0" indent="0" algn="ctr">
              <a:buNone/>
            </a:pPr>
            <a:r>
              <a:rPr lang="en-US" sz="1400" dirty="0">
                <a:solidFill>
                  <a:srgbClr val="333333"/>
                </a:solidFill>
              </a:rPr>
              <a:t>Target</a:t>
            </a:r>
            <a:endParaRPr lang="en-US" sz="1400" dirty="0"/>
          </a:p>
        </p:txBody>
      </p:sp>
      <p:sp>
        <p:nvSpPr>
          <p:cNvPr id="12" name="Text 10"/>
          <p:cNvSpPr/>
          <p:nvPr/>
        </p:nvSpPr>
        <p:spPr>
          <a:xfrm>
            <a:off x="685800" y="3375397"/>
            <a:ext cx="7772400" cy="2462629"/>
          </a:xfrm>
          <a:prstGeom prst="rect">
            <a:avLst/>
          </a:prstGeom>
          <a:noFill/>
          <a:ln/>
        </p:spPr>
        <p:txBody>
          <a:bodyPr wrap="square" rtlCol="0" anchor="ctr"/>
          <a:lstStyle/>
          <a:p>
            <a:pPr>
              <a:spcAft>
                <a:spcPts val="1200"/>
              </a:spcAft>
            </a:pPr>
            <a:r>
              <a:rPr lang="en-US" dirty="0">
                <a:solidFill>
                  <a:srgbClr val="333333"/>
                </a:solidFill>
              </a:rPr>
              <a:t>Who does what?</a:t>
            </a:r>
          </a:p>
          <a:p>
            <a:pPr>
              <a:spcAft>
                <a:spcPts val="1200"/>
              </a:spcAft>
            </a:pPr>
            <a:r>
              <a:rPr lang="en-US" dirty="0">
                <a:solidFill>
                  <a:srgbClr val="333333"/>
                </a:solidFill>
              </a:rPr>
              <a:t>Use Case - Identify Actor and their Actions in Architecturally Significant Use Cases</a:t>
            </a:r>
          </a:p>
          <a:p>
            <a:pPr>
              <a:spcAft>
                <a:spcPts val="1200"/>
              </a:spcAft>
            </a:pPr>
            <a:r>
              <a:rPr lang="en-US" dirty="0">
                <a:solidFill>
                  <a:srgbClr val="333333"/>
                </a:solidFill>
              </a:rPr>
              <a:t>Domain Storytelling - Actors perform Actions in Work Items</a:t>
            </a:r>
          </a:p>
        </p:txBody>
      </p:sp>
      <p:sp>
        <p:nvSpPr>
          <p:cNvPr id="14" name="TextBox 13">
            <a:extLst>
              <a:ext uri="{FF2B5EF4-FFF2-40B4-BE49-F238E27FC236}">
                <a16:creationId xmlns:a16="http://schemas.microsoft.com/office/drawing/2014/main" id="{C3EFA270-17E9-F7A5-8CEF-0C1022FA6CD3}"/>
              </a:ext>
            </a:extLst>
          </p:cNvPr>
          <p:cNvSpPr txBox="1"/>
          <p:nvPr/>
        </p:nvSpPr>
        <p:spPr>
          <a:xfrm>
            <a:off x="685800" y="5823892"/>
            <a:ext cx="7617372" cy="369332"/>
          </a:xfrm>
          <a:prstGeom prst="rect">
            <a:avLst/>
          </a:prstGeom>
          <a:noFill/>
        </p:spPr>
        <p:txBody>
          <a:bodyPr wrap="square">
            <a:spAutoFit/>
          </a:bodyPr>
          <a:lstStyle/>
          <a:p>
            <a:pPr>
              <a:spcAft>
                <a:spcPts val="1200"/>
              </a:spcAft>
            </a:pPr>
            <a:r>
              <a:rPr lang="en-US" dirty="0">
                <a:solidFill>
                  <a:srgbClr val="333333"/>
                </a:solidFill>
              </a:rPr>
              <a:t>Good </a:t>
            </a:r>
            <a:r>
              <a:rPr lang="en-US" sz="1800" dirty="0">
                <a:solidFill>
                  <a:srgbClr val="333333"/>
                </a:solidFill>
              </a:rPr>
              <a:t>for: user-centric systems, clear responsibilities</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B6E9256-11DD-B820-34B8-0A58DB48AF90}"/>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QuestWorlds: Actors/Actions</a:t>
            </a:r>
            <a:endParaRPr lang="en-US" sz="4000" dirty="0"/>
          </a:p>
        </p:txBody>
      </p:sp>
      <p:pic>
        <p:nvPicPr>
          <p:cNvPr id="4" name="Graphic 3" descr="Office worker female with solid fill">
            <a:extLst>
              <a:ext uri="{FF2B5EF4-FFF2-40B4-BE49-F238E27FC236}">
                <a16:creationId xmlns:a16="http://schemas.microsoft.com/office/drawing/2014/main" id="{9C5A4F4A-F098-EB53-D677-F049C46752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9352" y="1763111"/>
            <a:ext cx="914400" cy="914400"/>
          </a:xfrm>
          <a:prstGeom prst="rect">
            <a:avLst/>
          </a:prstGeom>
        </p:spPr>
      </p:pic>
      <p:pic>
        <p:nvPicPr>
          <p:cNvPr id="6" name="Graphic 5" descr="Male profile with solid fill">
            <a:extLst>
              <a:ext uri="{FF2B5EF4-FFF2-40B4-BE49-F238E27FC236}">
                <a16:creationId xmlns:a16="http://schemas.microsoft.com/office/drawing/2014/main" id="{C56DF8CE-1A78-CD7A-BB99-A2CBA696A9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7821" y="3581400"/>
            <a:ext cx="914400" cy="914400"/>
          </a:xfrm>
          <a:prstGeom prst="rect">
            <a:avLst/>
          </a:prstGeom>
        </p:spPr>
      </p:pic>
      <p:sp>
        <p:nvSpPr>
          <p:cNvPr id="7" name="TextBox 6">
            <a:extLst>
              <a:ext uri="{FF2B5EF4-FFF2-40B4-BE49-F238E27FC236}">
                <a16:creationId xmlns:a16="http://schemas.microsoft.com/office/drawing/2014/main" id="{E641F75E-C78B-8EC3-35A3-30F7B0EB976A}"/>
              </a:ext>
            </a:extLst>
          </p:cNvPr>
          <p:cNvSpPr txBox="1"/>
          <p:nvPr/>
        </p:nvSpPr>
        <p:spPr>
          <a:xfrm>
            <a:off x="1248104" y="2760123"/>
            <a:ext cx="593834" cy="369332"/>
          </a:xfrm>
          <a:prstGeom prst="rect">
            <a:avLst/>
          </a:prstGeom>
          <a:noFill/>
        </p:spPr>
        <p:txBody>
          <a:bodyPr wrap="square" rtlCol="0">
            <a:spAutoFit/>
          </a:bodyPr>
          <a:lstStyle/>
          <a:p>
            <a:r>
              <a:rPr lang="en-US" dirty="0"/>
              <a:t>GM</a:t>
            </a:r>
          </a:p>
        </p:txBody>
      </p:sp>
      <p:sp>
        <p:nvSpPr>
          <p:cNvPr id="8" name="TextBox 7">
            <a:extLst>
              <a:ext uri="{FF2B5EF4-FFF2-40B4-BE49-F238E27FC236}">
                <a16:creationId xmlns:a16="http://schemas.microsoft.com/office/drawing/2014/main" id="{B462BC97-8BE5-FE1B-EC51-6AA202BBBF8F}"/>
              </a:ext>
            </a:extLst>
          </p:cNvPr>
          <p:cNvSpPr txBox="1"/>
          <p:nvPr/>
        </p:nvSpPr>
        <p:spPr>
          <a:xfrm>
            <a:off x="1132490" y="4700859"/>
            <a:ext cx="825062" cy="369332"/>
          </a:xfrm>
          <a:prstGeom prst="rect">
            <a:avLst/>
          </a:prstGeom>
          <a:noFill/>
        </p:spPr>
        <p:txBody>
          <a:bodyPr wrap="square" rtlCol="0">
            <a:spAutoFit/>
          </a:bodyPr>
          <a:lstStyle/>
          <a:p>
            <a:r>
              <a:rPr lang="en-US" dirty="0"/>
              <a:t>Player</a:t>
            </a:r>
          </a:p>
        </p:txBody>
      </p:sp>
      <p:sp>
        <p:nvSpPr>
          <p:cNvPr id="9" name="TextBox 8">
            <a:extLst>
              <a:ext uri="{FF2B5EF4-FFF2-40B4-BE49-F238E27FC236}">
                <a16:creationId xmlns:a16="http://schemas.microsoft.com/office/drawing/2014/main" id="{7825EBCF-165F-A6D6-CED3-C148C2E259F1}"/>
              </a:ext>
            </a:extLst>
          </p:cNvPr>
          <p:cNvSpPr txBox="1"/>
          <p:nvPr/>
        </p:nvSpPr>
        <p:spPr>
          <a:xfrm>
            <a:off x="5517930" y="2220311"/>
            <a:ext cx="903645" cy="369332"/>
          </a:xfrm>
          <a:prstGeom prst="rect">
            <a:avLst/>
          </a:prstGeom>
          <a:noFill/>
          <a:ln w="15875">
            <a:solidFill>
              <a:srgbClr val="000000"/>
            </a:solidFill>
          </a:ln>
        </p:spPr>
        <p:txBody>
          <a:bodyPr wrap="none" rtlCol="0">
            <a:spAutoFit/>
          </a:bodyPr>
          <a:lstStyle/>
          <a:p>
            <a:r>
              <a:rPr lang="en-US" dirty="0"/>
              <a:t>Contest</a:t>
            </a:r>
          </a:p>
        </p:txBody>
      </p:sp>
      <p:cxnSp>
        <p:nvCxnSpPr>
          <p:cNvPr id="11" name="Straight Arrow Connector 10">
            <a:extLst>
              <a:ext uri="{FF2B5EF4-FFF2-40B4-BE49-F238E27FC236}">
                <a16:creationId xmlns:a16="http://schemas.microsoft.com/office/drawing/2014/main" id="{9D9B36F3-E208-ED6D-77E9-E6683331A215}"/>
              </a:ext>
            </a:extLst>
          </p:cNvPr>
          <p:cNvCxnSpPr/>
          <p:nvPr/>
        </p:nvCxnSpPr>
        <p:spPr>
          <a:xfrm>
            <a:off x="2312276" y="2354317"/>
            <a:ext cx="2921876"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17841FA-BAA7-6C40-BCB5-5D65501388F6}"/>
              </a:ext>
            </a:extLst>
          </p:cNvPr>
          <p:cNvSpPr txBox="1"/>
          <p:nvPr/>
        </p:nvSpPr>
        <p:spPr>
          <a:xfrm>
            <a:off x="3341653" y="1850979"/>
            <a:ext cx="863121" cy="369332"/>
          </a:xfrm>
          <a:prstGeom prst="rect">
            <a:avLst/>
          </a:prstGeom>
          <a:noFill/>
        </p:spPr>
        <p:txBody>
          <a:bodyPr wrap="none" rtlCol="0">
            <a:spAutoFit/>
          </a:bodyPr>
          <a:lstStyle/>
          <a:p>
            <a:r>
              <a:rPr lang="en-US" dirty="0"/>
              <a:t>creates</a:t>
            </a:r>
          </a:p>
        </p:txBody>
      </p:sp>
      <p:sp>
        <p:nvSpPr>
          <p:cNvPr id="13" name="TextBox 12">
            <a:extLst>
              <a:ext uri="{FF2B5EF4-FFF2-40B4-BE49-F238E27FC236}">
                <a16:creationId xmlns:a16="http://schemas.microsoft.com/office/drawing/2014/main" id="{2607DB0F-F741-3B5D-A36A-BFFD3FC82D86}"/>
              </a:ext>
            </a:extLst>
          </p:cNvPr>
          <p:cNvSpPr txBox="1"/>
          <p:nvPr/>
        </p:nvSpPr>
        <p:spPr>
          <a:xfrm>
            <a:off x="5517930" y="2862177"/>
            <a:ext cx="637932" cy="369332"/>
          </a:xfrm>
          <a:prstGeom prst="rect">
            <a:avLst/>
          </a:prstGeom>
          <a:noFill/>
          <a:ln w="15875">
            <a:solidFill>
              <a:srgbClr val="000000"/>
            </a:solidFill>
          </a:ln>
        </p:spPr>
        <p:txBody>
          <a:bodyPr wrap="none" rtlCol="0">
            <a:spAutoFit/>
          </a:bodyPr>
          <a:lstStyle/>
          <a:p>
            <a:r>
              <a:rPr lang="en-US" dirty="0"/>
              <a:t>Prize</a:t>
            </a:r>
          </a:p>
        </p:txBody>
      </p:sp>
      <p:cxnSp>
        <p:nvCxnSpPr>
          <p:cNvPr id="14" name="Straight Arrow Connector 13">
            <a:extLst>
              <a:ext uri="{FF2B5EF4-FFF2-40B4-BE49-F238E27FC236}">
                <a16:creationId xmlns:a16="http://schemas.microsoft.com/office/drawing/2014/main" id="{9E13B9ED-22FE-E02A-EAE5-F43E562A7673}"/>
              </a:ext>
            </a:extLst>
          </p:cNvPr>
          <p:cNvCxnSpPr>
            <a:cxnSpLocks/>
          </p:cNvCxnSpPr>
          <p:nvPr/>
        </p:nvCxnSpPr>
        <p:spPr>
          <a:xfrm>
            <a:off x="2312276" y="2404977"/>
            <a:ext cx="3037490" cy="64186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802BDAC-BA96-3094-7503-EA1787903901}"/>
              </a:ext>
            </a:extLst>
          </p:cNvPr>
          <p:cNvSpPr txBox="1"/>
          <p:nvPr/>
        </p:nvSpPr>
        <p:spPr>
          <a:xfrm>
            <a:off x="3773213" y="2862177"/>
            <a:ext cx="830740" cy="369332"/>
          </a:xfrm>
          <a:prstGeom prst="rect">
            <a:avLst/>
          </a:prstGeom>
          <a:noFill/>
        </p:spPr>
        <p:txBody>
          <a:bodyPr wrap="none" rtlCol="0">
            <a:spAutoFit/>
          </a:bodyPr>
          <a:lstStyle/>
          <a:p>
            <a:r>
              <a:rPr lang="en-US" dirty="0"/>
              <a:t>frames</a:t>
            </a:r>
          </a:p>
        </p:txBody>
      </p:sp>
      <p:sp>
        <p:nvSpPr>
          <p:cNvPr id="17" name="TextBox 16">
            <a:extLst>
              <a:ext uri="{FF2B5EF4-FFF2-40B4-BE49-F238E27FC236}">
                <a16:creationId xmlns:a16="http://schemas.microsoft.com/office/drawing/2014/main" id="{4B9BC15F-7B8B-2D8C-074A-BC277E02B1D6}"/>
              </a:ext>
            </a:extLst>
          </p:cNvPr>
          <p:cNvSpPr txBox="1"/>
          <p:nvPr/>
        </p:nvSpPr>
        <p:spPr>
          <a:xfrm>
            <a:off x="5517929" y="3669268"/>
            <a:ext cx="1170705" cy="369332"/>
          </a:xfrm>
          <a:prstGeom prst="rect">
            <a:avLst/>
          </a:prstGeom>
          <a:noFill/>
          <a:ln w="15875">
            <a:solidFill>
              <a:srgbClr val="000000"/>
            </a:solidFill>
          </a:ln>
        </p:spPr>
        <p:txBody>
          <a:bodyPr wrap="none" rtlCol="0">
            <a:spAutoFit/>
          </a:bodyPr>
          <a:lstStyle/>
          <a:p>
            <a:r>
              <a:rPr lang="en-US" dirty="0"/>
              <a:t>Resistance</a:t>
            </a:r>
          </a:p>
        </p:txBody>
      </p:sp>
      <p:sp>
        <p:nvSpPr>
          <p:cNvPr id="18" name="TextBox 17">
            <a:extLst>
              <a:ext uri="{FF2B5EF4-FFF2-40B4-BE49-F238E27FC236}">
                <a16:creationId xmlns:a16="http://schemas.microsoft.com/office/drawing/2014/main" id="{3332D26F-F31D-FFAC-459A-E0BCDD72CD99}"/>
              </a:ext>
            </a:extLst>
          </p:cNvPr>
          <p:cNvSpPr txBox="1"/>
          <p:nvPr/>
        </p:nvSpPr>
        <p:spPr>
          <a:xfrm>
            <a:off x="6879020" y="3669268"/>
            <a:ext cx="445956" cy="369332"/>
          </a:xfrm>
          <a:prstGeom prst="rect">
            <a:avLst/>
          </a:prstGeom>
          <a:noFill/>
          <a:ln w="15875">
            <a:solidFill>
              <a:srgbClr val="000000"/>
            </a:solidFill>
          </a:ln>
        </p:spPr>
        <p:txBody>
          <a:bodyPr wrap="none" rtlCol="0">
            <a:spAutoFit/>
          </a:bodyPr>
          <a:lstStyle/>
          <a:p>
            <a:r>
              <a:rPr lang="en-US" dirty="0"/>
              <a:t>TN</a:t>
            </a:r>
          </a:p>
        </p:txBody>
      </p:sp>
      <p:cxnSp>
        <p:nvCxnSpPr>
          <p:cNvPr id="19" name="Straight Arrow Connector 18">
            <a:extLst>
              <a:ext uri="{FF2B5EF4-FFF2-40B4-BE49-F238E27FC236}">
                <a16:creationId xmlns:a16="http://schemas.microsoft.com/office/drawing/2014/main" id="{78392DDC-09B6-EA41-3015-93F30AE15B8B}"/>
              </a:ext>
            </a:extLst>
          </p:cNvPr>
          <p:cNvCxnSpPr>
            <a:cxnSpLocks/>
          </p:cNvCxnSpPr>
          <p:nvPr/>
        </p:nvCxnSpPr>
        <p:spPr>
          <a:xfrm>
            <a:off x="2192607" y="2725910"/>
            <a:ext cx="3041545" cy="1167858"/>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A086107-A326-C419-0D60-22379C9928C9}"/>
              </a:ext>
            </a:extLst>
          </p:cNvPr>
          <p:cNvSpPr txBox="1"/>
          <p:nvPr/>
        </p:nvSpPr>
        <p:spPr>
          <a:xfrm>
            <a:off x="3609880" y="3539781"/>
            <a:ext cx="555345" cy="369332"/>
          </a:xfrm>
          <a:prstGeom prst="rect">
            <a:avLst/>
          </a:prstGeom>
          <a:noFill/>
        </p:spPr>
        <p:txBody>
          <a:bodyPr wrap="none" rtlCol="0">
            <a:spAutoFit/>
          </a:bodyPr>
          <a:lstStyle/>
          <a:p>
            <a:r>
              <a:rPr lang="en-US" dirty="0"/>
              <a:t>sets</a:t>
            </a:r>
          </a:p>
        </p:txBody>
      </p:sp>
      <p:sp>
        <p:nvSpPr>
          <p:cNvPr id="23" name="TextBox 22">
            <a:extLst>
              <a:ext uri="{FF2B5EF4-FFF2-40B4-BE49-F238E27FC236}">
                <a16:creationId xmlns:a16="http://schemas.microsoft.com/office/drawing/2014/main" id="{9FCA53AB-05C7-18D2-B55A-61B087A98764}"/>
              </a:ext>
            </a:extLst>
          </p:cNvPr>
          <p:cNvSpPr txBox="1"/>
          <p:nvPr/>
        </p:nvSpPr>
        <p:spPr>
          <a:xfrm>
            <a:off x="5517928" y="4516193"/>
            <a:ext cx="779381" cy="369332"/>
          </a:xfrm>
          <a:prstGeom prst="rect">
            <a:avLst/>
          </a:prstGeom>
          <a:noFill/>
          <a:ln w="15875">
            <a:solidFill>
              <a:srgbClr val="000000"/>
            </a:solidFill>
          </a:ln>
        </p:spPr>
        <p:txBody>
          <a:bodyPr wrap="none" rtlCol="0">
            <a:spAutoFit/>
          </a:bodyPr>
          <a:lstStyle/>
          <a:p>
            <a:r>
              <a:rPr lang="en-US" dirty="0"/>
              <a:t>Ability</a:t>
            </a:r>
          </a:p>
        </p:txBody>
      </p:sp>
      <p:sp>
        <p:nvSpPr>
          <p:cNvPr id="24" name="TextBox 23">
            <a:extLst>
              <a:ext uri="{FF2B5EF4-FFF2-40B4-BE49-F238E27FC236}">
                <a16:creationId xmlns:a16="http://schemas.microsoft.com/office/drawing/2014/main" id="{E12AE5DC-1A07-2413-AC2C-5C6A62C8FDA0}"/>
              </a:ext>
            </a:extLst>
          </p:cNvPr>
          <p:cNvSpPr txBox="1"/>
          <p:nvPr/>
        </p:nvSpPr>
        <p:spPr>
          <a:xfrm>
            <a:off x="6589985" y="4516193"/>
            <a:ext cx="445956" cy="369332"/>
          </a:xfrm>
          <a:prstGeom prst="rect">
            <a:avLst/>
          </a:prstGeom>
          <a:noFill/>
          <a:ln w="15875">
            <a:solidFill>
              <a:srgbClr val="000000"/>
            </a:solidFill>
          </a:ln>
        </p:spPr>
        <p:txBody>
          <a:bodyPr wrap="none" rtlCol="0">
            <a:spAutoFit/>
          </a:bodyPr>
          <a:lstStyle/>
          <a:p>
            <a:r>
              <a:rPr lang="en-US" dirty="0"/>
              <a:t>TN</a:t>
            </a:r>
          </a:p>
        </p:txBody>
      </p:sp>
      <p:cxnSp>
        <p:nvCxnSpPr>
          <p:cNvPr id="25" name="Straight Arrow Connector 24">
            <a:extLst>
              <a:ext uri="{FF2B5EF4-FFF2-40B4-BE49-F238E27FC236}">
                <a16:creationId xmlns:a16="http://schemas.microsoft.com/office/drawing/2014/main" id="{89263A97-AE29-6741-420A-FADEE5E289C4}"/>
              </a:ext>
            </a:extLst>
          </p:cNvPr>
          <p:cNvCxnSpPr>
            <a:cxnSpLocks/>
          </p:cNvCxnSpPr>
          <p:nvPr/>
        </p:nvCxnSpPr>
        <p:spPr>
          <a:xfrm>
            <a:off x="2033752" y="4116930"/>
            <a:ext cx="3316014" cy="583929"/>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679CF21-766C-AEDE-DC32-7F59C9115576}"/>
              </a:ext>
            </a:extLst>
          </p:cNvPr>
          <p:cNvSpPr txBox="1"/>
          <p:nvPr/>
        </p:nvSpPr>
        <p:spPr>
          <a:xfrm>
            <a:off x="4326280" y="4109047"/>
            <a:ext cx="1254959" cy="369332"/>
          </a:xfrm>
          <a:prstGeom prst="rect">
            <a:avLst/>
          </a:prstGeom>
          <a:noFill/>
        </p:spPr>
        <p:txBody>
          <a:bodyPr wrap="none" rtlCol="0">
            <a:spAutoFit/>
          </a:bodyPr>
          <a:lstStyle/>
          <a:p>
            <a:r>
              <a:rPr lang="en-US" dirty="0"/>
              <a:t>determines</a:t>
            </a:r>
          </a:p>
        </p:txBody>
      </p:sp>
      <p:cxnSp>
        <p:nvCxnSpPr>
          <p:cNvPr id="28" name="Straight Arrow Connector 27">
            <a:extLst>
              <a:ext uri="{FF2B5EF4-FFF2-40B4-BE49-F238E27FC236}">
                <a16:creationId xmlns:a16="http://schemas.microsoft.com/office/drawing/2014/main" id="{E22390C1-FF75-248F-4F05-FC72A8C7FE94}"/>
              </a:ext>
            </a:extLst>
          </p:cNvPr>
          <p:cNvCxnSpPr>
            <a:cxnSpLocks/>
          </p:cNvCxnSpPr>
          <p:nvPr/>
        </p:nvCxnSpPr>
        <p:spPr>
          <a:xfrm>
            <a:off x="2033752" y="4386706"/>
            <a:ext cx="3252703" cy="125379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8666AFA0-60B1-7FC6-18E7-2234E4C915F9}"/>
              </a:ext>
            </a:extLst>
          </p:cNvPr>
          <p:cNvSpPr txBox="1"/>
          <p:nvPr/>
        </p:nvSpPr>
        <p:spPr>
          <a:xfrm>
            <a:off x="4572000" y="5019011"/>
            <a:ext cx="1254959" cy="369332"/>
          </a:xfrm>
          <a:prstGeom prst="rect">
            <a:avLst/>
          </a:prstGeom>
          <a:noFill/>
        </p:spPr>
        <p:txBody>
          <a:bodyPr wrap="square" rtlCol="0">
            <a:spAutoFit/>
          </a:bodyPr>
          <a:lstStyle/>
          <a:p>
            <a:r>
              <a:rPr lang="en-US" dirty="0"/>
              <a:t>adds</a:t>
            </a:r>
          </a:p>
        </p:txBody>
      </p:sp>
      <p:sp>
        <p:nvSpPr>
          <p:cNvPr id="31" name="TextBox 30">
            <a:extLst>
              <a:ext uri="{FF2B5EF4-FFF2-40B4-BE49-F238E27FC236}">
                <a16:creationId xmlns:a16="http://schemas.microsoft.com/office/drawing/2014/main" id="{39AFDFD8-631C-8137-10D3-610D8885E51C}"/>
              </a:ext>
            </a:extLst>
          </p:cNvPr>
          <p:cNvSpPr txBox="1"/>
          <p:nvPr/>
        </p:nvSpPr>
        <p:spPr>
          <a:xfrm>
            <a:off x="5517927" y="5426157"/>
            <a:ext cx="997389" cy="369332"/>
          </a:xfrm>
          <a:prstGeom prst="rect">
            <a:avLst/>
          </a:prstGeom>
          <a:noFill/>
          <a:ln w="15875">
            <a:solidFill>
              <a:srgbClr val="000000"/>
            </a:solidFill>
          </a:ln>
        </p:spPr>
        <p:txBody>
          <a:bodyPr wrap="none" rtlCol="0">
            <a:spAutoFit/>
          </a:bodyPr>
          <a:lstStyle/>
          <a:p>
            <a:r>
              <a:rPr lang="en-US" dirty="0"/>
              <a:t>Modifier</a:t>
            </a:r>
          </a:p>
        </p:txBody>
      </p:sp>
      <p:sp>
        <p:nvSpPr>
          <p:cNvPr id="32" name="TextBox 31">
            <a:extLst>
              <a:ext uri="{FF2B5EF4-FFF2-40B4-BE49-F238E27FC236}">
                <a16:creationId xmlns:a16="http://schemas.microsoft.com/office/drawing/2014/main" id="{A04933D9-6C68-F59C-1E84-BEE31E5A6EA4}"/>
              </a:ext>
            </a:extLst>
          </p:cNvPr>
          <p:cNvSpPr txBox="1"/>
          <p:nvPr/>
        </p:nvSpPr>
        <p:spPr>
          <a:xfrm>
            <a:off x="6731961" y="5418173"/>
            <a:ext cx="1186030" cy="369332"/>
          </a:xfrm>
          <a:prstGeom prst="rect">
            <a:avLst/>
          </a:prstGeom>
          <a:noFill/>
        </p:spPr>
        <p:txBody>
          <a:bodyPr wrap="none" rtlCol="0">
            <a:spAutoFit/>
          </a:bodyPr>
          <a:lstStyle/>
          <a:p>
            <a:r>
              <a:rPr lang="en-US" dirty="0"/>
              <a:t>(Augment)</a:t>
            </a:r>
          </a:p>
        </p:txBody>
      </p:sp>
    </p:spTree>
    <p:extLst>
      <p:ext uri="{BB962C8B-B14F-4D97-AF65-F5344CB8AC3E}">
        <p14:creationId xmlns:p14="http://schemas.microsoft.com/office/powerpoint/2010/main" val="212146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B2B4F-F037-3668-4030-BE3D661603B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0E61496-5928-0D19-B2DE-DB3B9A2909BE}"/>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Actor/Action</a:t>
            </a:r>
            <a:endParaRPr lang="en-US" sz="4000" dirty="0"/>
          </a:p>
        </p:txBody>
      </p:sp>
      <p:sp>
        <p:nvSpPr>
          <p:cNvPr id="3" name="Text 1">
            <a:extLst>
              <a:ext uri="{FF2B5EF4-FFF2-40B4-BE49-F238E27FC236}">
                <a16:creationId xmlns:a16="http://schemas.microsoft.com/office/drawing/2014/main" id="{EC7BF1CD-8D06-5703-B3F3-661EABE86ED3}"/>
              </a:ext>
            </a:extLst>
          </p:cNvPr>
          <p:cNvSpPr/>
          <p:nvPr/>
        </p:nvSpPr>
        <p:spPr>
          <a:xfrm>
            <a:off x="457200" y="1143000"/>
            <a:ext cx="8229600" cy="457200"/>
          </a:xfrm>
          <a:prstGeom prst="rect">
            <a:avLst/>
          </a:prstGeom>
          <a:noFill/>
          <a:ln/>
        </p:spPr>
        <p:txBody>
          <a:bodyPr wrap="square" rtlCol="0" anchor="ctr"/>
          <a:lstStyle/>
          <a:p>
            <a:pPr marL="0" indent="0">
              <a:buNone/>
            </a:pPr>
            <a:r>
              <a:rPr lang="en-US" sz="1800" dirty="0">
                <a:solidFill>
                  <a:srgbClr val="64748B"/>
                </a:solidFill>
              </a:rPr>
              <a:t>Assign Responsibilities to Modules</a:t>
            </a:r>
            <a:endParaRPr lang="en-US" sz="1800" dirty="0"/>
          </a:p>
        </p:txBody>
      </p:sp>
      <p:sp>
        <p:nvSpPr>
          <p:cNvPr id="13" name="Shape 2">
            <a:extLst>
              <a:ext uri="{FF2B5EF4-FFF2-40B4-BE49-F238E27FC236}">
                <a16:creationId xmlns:a16="http://schemas.microsoft.com/office/drawing/2014/main" id="{C35F1F46-46CC-CBB9-AA1E-5CD4E13AD132}"/>
              </a:ext>
            </a:extLst>
          </p:cNvPr>
          <p:cNvSpPr/>
          <p:nvPr/>
        </p:nvSpPr>
        <p:spPr>
          <a:xfrm>
            <a:off x="6395545" y="1554480"/>
            <a:ext cx="1463040" cy="731520"/>
          </a:xfrm>
          <a:prstGeom prst="roundRect">
            <a:avLst/>
          </a:prstGeom>
          <a:solidFill>
            <a:srgbClr val="2C3E50"/>
          </a:solidFill>
          <a:ln/>
        </p:spPr>
        <p:txBody>
          <a:bodyPr/>
          <a:lstStyle/>
          <a:p>
            <a:endParaRPr lang="en-US" dirty="0"/>
          </a:p>
        </p:txBody>
      </p:sp>
      <p:sp>
        <p:nvSpPr>
          <p:cNvPr id="18" name="Text 3">
            <a:extLst>
              <a:ext uri="{FF2B5EF4-FFF2-40B4-BE49-F238E27FC236}">
                <a16:creationId xmlns:a16="http://schemas.microsoft.com/office/drawing/2014/main" id="{44AECE5A-2681-70A7-3FF1-9A6BBEFD69AB}"/>
              </a:ext>
            </a:extLst>
          </p:cNvPr>
          <p:cNvSpPr/>
          <p:nvPr/>
        </p:nvSpPr>
        <p:spPr>
          <a:xfrm>
            <a:off x="6395545" y="1554480"/>
            <a:ext cx="1463040" cy="731520"/>
          </a:xfrm>
          <a:prstGeom prst="rect">
            <a:avLst/>
          </a:prstGeom>
          <a:noFill/>
          <a:ln/>
        </p:spPr>
        <p:txBody>
          <a:bodyPr wrap="square" rtlCol="0" anchor="ctr"/>
          <a:lstStyle/>
          <a:p>
            <a:pPr marL="0" indent="0" algn="ctr">
              <a:buNone/>
            </a:pPr>
            <a:r>
              <a:rPr lang="en-US" sz="1600" dirty="0">
                <a:solidFill>
                  <a:srgbClr val="FFFFFF"/>
                </a:solidFill>
              </a:rPr>
              <a:t>Session</a:t>
            </a:r>
            <a:endParaRPr lang="en-US" sz="1600" dirty="0"/>
          </a:p>
        </p:txBody>
      </p:sp>
      <p:sp>
        <p:nvSpPr>
          <p:cNvPr id="19" name="Shape 2">
            <a:extLst>
              <a:ext uri="{FF2B5EF4-FFF2-40B4-BE49-F238E27FC236}">
                <a16:creationId xmlns:a16="http://schemas.microsoft.com/office/drawing/2014/main" id="{F40C1170-05B3-489C-1A5C-352435C2BD3B}"/>
              </a:ext>
            </a:extLst>
          </p:cNvPr>
          <p:cNvSpPr/>
          <p:nvPr/>
        </p:nvSpPr>
        <p:spPr>
          <a:xfrm>
            <a:off x="6395545" y="2741623"/>
            <a:ext cx="1463040" cy="731520"/>
          </a:xfrm>
          <a:prstGeom prst="roundRect">
            <a:avLst/>
          </a:prstGeom>
          <a:solidFill>
            <a:srgbClr val="2C3E50"/>
          </a:solidFill>
          <a:ln/>
        </p:spPr>
        <p:txBody>
          <a:bodyPr/>
          <a:lstStyle/>
          <a:p>
            <a:endParaRPr lang="en-US" dirty="0"/>
          </a:p>
        </p:txBody>
      </p:sp>
      <p:sp>
        <p:nvSpPr>
          <p:cNvPr id="20" name="Text 3">
            <a:extLst>
              <a:ext uri="{FF2B5EF4-FFF2-40B4-BE49-F238E27FC236}">
                <a16:creationId xmlns:a16="http://schemas.microsoft.com/office/drawing/2014/main" id="{292E26CA-46AB-0B07-48E6-764D8104F42A}"/>
              </a:ext>
            </a:extLst>
          </p:cNvPr>
          <p:cNvSpPr/>
          <p:nvPr/>
        </p:nvSpPr>
        <p:spPr>
          <a:xfrm>
            <a:off x="6395545" y="2741623"/>
            <a:ext cx="1463040" cy="731520"/>
          </a:xfrm>
          <a:prstGeom prst="rect">
            <a:avLst/>
          </a:prstGeom>
          <a:noFill/>
          <a:ln/>
        </p:spPr>
        <p:txBody>
          <a:bodyPr wrap="square" rtlCol="0" anchor="ctr"/>
          <a:lstStyle/>
          <a:p>
            <a:pPr marL="0" indent="0" algn="ctr">
              <a:buNone/>
            </a:pPr>
            <a:r>
              <a:rPr lang="en-US" sz="1600" dirty="0">
                <a:solidFill>
                  <a:srgbClr val="FFFFFF"/>
                </a:solidFill>
              </a:rPr>
              <a:t>Framing</a:t>
            </a:r>
            <a:endParaRPr lang="en-US" sz="1600" dirty="0"/>
          </a:p>
        </p:txBody>
      </p:sp>
      <p:sp>
        <p:nvSpPr>
          <p:cNvPr id="21" name="Shape 2">
            <a:extLst>
              <a:ext uri="{FF2B5EF4-FFF2-40B4-BE49-F238E27FC236}">
                <a16:creationId xmlns:a16="http://schemas.microsoft.com/office/drawing/2014/main" id="{7D29D168-A543-DA55-41A7-CCA9ACF5B19B}"/>
              </a:ext>
            </a:extLst>
          </p:cNvPr>
          <p:cNvSpPr/>
          <p:nvPr/>
        </p:nvSpPr>
        <p:spPr>
          <a:xfrm>
            <a:off x="6395545" y="3928767"/>
            <a:ext cx="1463040" cy="731520"/>
          </a:xfrm>
          <a:prstGeom prst="roundRect">
            <a:avLst/>
          </a:prstGeom>
          <a:solidFill>
            <a:srgbClr val="2C3E50"/>
          </a:solidFill>
          <a:ln/>
        </p:spPr>
        <p:txBody>
          <a:bodyPr/>
          <a:lstStyle/>
          <a:p>
            <a:endParaRPr lang="en-US" dirty="0"/>
          </a:p>
        </p:txBody>
      </p:sp>
      <p:sp>
        <p:nvSpPr>
          <p:cNvPr id="22" name="Text 3">
            <a:extLst>
              <a:ext uri="{FF2B5EF4-FFF2-40B4-BE49-F238E27FC236}">
                <a16:creationId xmlns:a16="http://schemas.microsoft.com/office/drawing/2014/main" id="{CE990755-6E1C-3EAD-548C-F059F9BCEE82}"/>
              </a:ext>
            </a:extLst>
          </p:cNvPr>
          <p:cNvSpPr/>
          <p:nvPr/>
        </p:nvSpPr>
        <p:spPr>
          <a:xfrm>
            <a:off x="6395545" y="3928767"/>
            <a:ext cx="1463040" cy="731520"/>
          </a:xfrm>
          <a:prstGeom prst="rect">
            <a:avLst/>
          </a:prstGeom>
          <a:noFill/>
          <a:ln/>
        </p:spPr>
        <p:txBody>
          <a:bodyPr wrap="square" rtlCol="0" anchor="ctr"/>
          <a:lstStyle/>
          <a:p>
            <a:pPr marL="0" indent="0" algn="ctr">
              <a:buNone/>
            </a:pPr>
            <a:r>
              <a:rPr lang="en-US" sz="1600" dirty="0">
                <a:solidFill>
                  <a:srgbClr val="FFFFFF"/>
                </a:solidFill>
              </a:rPr>
              <a:t>Resolution</a:t>
            </a:r>
            <a:endParaRPr lang="en-US" sz="1600" dirty="0"/>
          </a:p>
        </p:txBody>
      </p:sp>
      <p:sp>
        <p:nvSpPr>
          <p:cNvPr id="23" name="Shape 2">
            <a:extLst>
              <a:ext uri="{FF2B5EF4-FFF2-40B4-BE49-F238E27FC236}">
                <a16:creationId xmlns:a16="http://schemas.microsoft.com/office/drawing/2014/main" id="{CB0A0AB9-98F2-7B38-5894-117A7480D41E}"/>
              </a:ext>
            </a:extLst>
          </p:cNvPr>
          <p:cNvSpPr/>
          <p:nvPr/>
        </p:nvSpPr>
        <p:spPr>
          <a:xfrm>
            <a:off x="6395545" y="5115911"/>
            <a:ext cx="1463040" cy="731520"/>
          </a:xfrm>
          <a:prstGeom prst="roundRect">
            <a:avLst/>
          </a:prstGeom>
          <a:solidFill>
            <a:srgbClr val="2C3E50"/>
          </a:solidFill>
          <a:ln/>
        </p:spPr>
        <p:txBody>
          <a:bodyPr/>
          <a:lstStyle/>
          <a:p>
            <a:endParaRPr lang="en-US" dirty="0"/>
          </a:p>
        </p:txBody>
      </p:sp>
      <p:sp>
        <p:nvSpPr>
          <p:cNvPr id="24" name="Text 3">
            <a:extLst>
              <a:ext uri="{FF2B5EF4-FFF2-40B4-BE49-F238E27FC236}">
                <a16:creationId xmlns:a16="http://schemas.microsoft.com/office/drawing/2014/main" id="{1E7FCE22-CF42-2FC0-CFE3-CC934ACB7059}"/>
              </a:ext>
            </a:extLst>
          </p:cNvPr>
          <p:cNvSpPr/>
          <p:nvPr/>
        </p:nvSpPr>
        <p:spPr>
          <a:xfrm>
            <a:off x="6395545" y="5115911"/>
            <a:ext cx="1463040" cy="731520"/>
          </a:xfrm>
          <a:prstGeom prst="rect">
            <a:avLst/>
          </a:prstGeom>
          <a:noFill/>
          <a:ln/>
        </p:spPr>
        <p:txBody>
          <a:bodyPr wrap="square" rtlCol="0" anchor="ctr"/>
          <a:lstStyle/>
          <a:p>
            <a:pPr marL="0" indent="0" algn="ctr">
              <a:buNone/>
            </a:pPr>
            <a:r>
              <a:rPr lang="en-US" sz="1600" dirty="0">
                <a:solidFill>
                  <a:srgbClr val="FFFFFF"/>
                </a:solidFill>
              </a:rPr>
              <a:t>Outcome</a:t>
            </a:r>
            <a:endParaRPr lang="en-US" sz="1600" dirty="0"/>
          </a:p>
        </p:txBody>
      </p:sp>
      <p:sp>
        <p:nvSpPr>
          <p:cNvPr id="26" name="TextBox 25">
            <a:extLst>
              <a:ext uri="{FF2B5EF4-FFF2-40B4-BE49-F238E27FC236}">
                <a16:creationId xmlns:a16="http://schemas.microsoft.com/office/drawing/2014/main" id="{54282E5B-45EA-D9AB-A223-EC8232C3A447}"/>
              </a:ext>
            </a:extLst>
          </p:cNvPr>
          <p:cNvSpPr txBox="1"/>
          <p:nvPr/>
        </p:nvSpPr>
        <p:spPr>
          <a:xfrm>
            <a:off x="320564" y="5319314"/>
            <a:ext cx="5355021" cy="923330"/>
          </a:xfrm>
          <a:prstGeom prst="rect">
            <a:avLst/>
          </a:prstGeom>
          <a:noFill/>
        </p:spPr>
        <p:txBody>
          <a:bodyPr wrap="square">
            <a:spAutoFit/>
          </a:bodyPr>
          <a:lstStyle/>
          <a:p>
            <a:pPr>
              <a:spcAft>
                <a:spcPts val="1200"/>
              </a:spcAft>
            </a:pPr>
            <a:r>
              <a:rPr lang="en-US" b="1" dirty="0">
                <a:solidFill>
                  <a:srgbClr val="333333"/>
                </a:solidFill>
              </a:rPr>
              <a:t>Responsibility Driven Design</a:t>
            </a:r>
            <a:r>
              <a:rPr lang="en-US" dirty="0">
                <a:solidFill>
                  <a:srgbClr val="333333"/>
                </a:solidFill>
              </a:rPr>
              <a:t> - Pull out the themes from the narrative, assign responsibilities. Assign to object neighborhoods (modules).</a:t>
            </a:r>
            <a:endParaRPr lang="en-US" sz="1800" dirty="0"/>
          </a:p>
        </p:txBody>
      </p:sp>
      <p:pic>
        <p:nvPicPr>
          <p:cNvPr id="27" name="Graphic 26" descr="Office worker female with solid fill">
            <a:extLst>
              <a:ext uri="{FF2B5EF4-FFF2-40B4-BE49-F238E27FC236}">
                <a16:creationId xmlns:a16="http://schemas.microsoft.com/office/drawing/2014/main" id="{03169967-44EA-BDCA-ACD8-F9CD67E2C6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9352" y="1763111"/>
            <a:ext cx="914400" cy="914400"/>
          </a:xfrm>
          <a:prstGeom prst="rect">
            <a:avLst/>
          </a:prstGeom>
        </p:spPr>
      </p:pic>
      <p:pic>
        <p:nvPicPr>
          <p:cNvPr id="28" name="Graphic 27" descr="Male profile with solid fill">
            <a:extLst>
              <a:ext uri="{FF2B5EF4-FFF2-40B4-BE49-F238E27FC236}">
                <a16:creationId xmlns:a16="http://schemas.microsoft.com/office/drawing/2014/main" id="{66526EE7-620E-B2F5-89E9-29C62F0CD75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7821" y="3581400"/>
            <a:ext cx="914400" cy="914400"/>
          </a:xfrm>
          <a:prstGeom prst="rect">
            <a:avLst/>
          </a:prstGeom>
        </p:spPr>
      </p:pic>
      <p:sp>
        <p:nvSpPr>
          <p:cNvPr id="29" name="TextBox 28">
            <a:extLst>
              <a:ext uri="{FF2B5EF4-FFF2-40B4-BE49-F238E27FC236}">
                <a16:creationId xmlns:a16="http://schemas.microsoft.com/office/drawing/2014/main" id="{4427B4D5-5B0A-B300-4BC9-A47E796AA885}"/>
              </a:ext>
            </a:extLst>
          </p:cNvPr>
          <p:cNvSpPr txBox="1"/>
          <p:nvPr/>
        </p:nvSpPr>
        <p:spPr>
          <a:xfrm>
            <a:off x="1248104" y="2760123"/>
            <a:ext cx="593834" cy="369332"/>
          </a:xfrm>
          <a:prstGeom prst="rect">
            <a:avLst/>
          </a:prstGeom>
          <a:noFill/>
        </p:spPr>
        <p:txBody>
          <a:bodyPr wrap="square" rtlCol="0">
            <a:spAutoFit/>
          </a:bodyPr>
          <a:lstStyle/>
          <a:p>
            <a:r>
              <a:rPr lang="en-US" dirty="0"/>
              <a:t>GM</a:t>
            </a:r>
          </a:p>
        </p:txBody>
      </p:sp>
      <p:sp>
        <p:nvSpPr>
          <p:cNvPr id="30" name="TextBox 29">
            <a:extLst>
              <a:ext uri="{FF2B5EF4-FFF2-40B4-BE49-F238E27FC236}">
                <a16:creationId xmlns:a16="http://schemas.microsoft.com/office/drawing/2014/main" id="{E929B3FE-9955-F2A7-F74C-76B4C8FC8785}"/>
              </a:ext>
            </a:extLst>
          </p:cNvPr>
          <p:cNvSpPr txBox="1"/>
          <p:nvPr/>
        </p:nvSpPr>
        <p:spPr>
          <a:xfrm>
            <a:off x="1132490" y="4700859"/>
            <a:ext cx="825062" cy="369332"/>
          </a:xfrm>
          <a:prstGeom prst="rect">
            <a:avLst/>
          </a:prstGeom>
          <a:noFill/>
        </p:spPr>
        <p:txBody>
          <a:bodyPr wrap="square" rtlCol="0">
            <a:spAutoFit/>
          </a:bodyPr>
          <a:lstStyle/>
          <a:p>
            <a:r>
              <a:rPr lang="en-US" dirty="0"/>
              <a:t>Player</a:t>
            </a:r>
          </a:p>
        </p:txBody>
      </p:sp>
      <p:cxnSp>
        <p:nvCxnSpPr>
          <p:cNvPr id="31" name="Straight Arrow Connector 30">
            <a:extLst>
              <a:ext uri="{FF2B5EF4-FFF2-40B4-BE49-F238E27FC236}">
                <a16:creationId xmlns:a16="http://schemas.microsoft.com/office/drawing/2014/main" id="{35520229-5067-D71C-4BDC-B75249EC9EE6}"/>
              </a:ext>
            </a:extLst>
          </p:cNvPr>
          <p:cNvCxnSpPr>
            <a:cxnSpLocks/>
          </p:cNvCxnSpPr>
          <p:nvPr/>
        </p:nvCxnSpPr>
        <p:spPr>
          <a:xfrm>
            <a:off x="2312276" y="2354317"/>
            <a:ext cx="3699641" cy="775138"/>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0D760D5-12EA-A4A7-9C67-E86AFA61731C}"/>
              </a:ext>
            </a:extLst>
          </p:cNvPr>
          <p:cNvSpPr txBox="1"/>
          <p:nvPr/>
        </p:nvSpPr>
        <p:spPr>
          <a:xfrm>
            <a:off x="3708879" y="2177716"/>
            <a:ext cx="863121" cy="369332"/>
          </a:xfrm>
          <a:prstGeom prst="rect">
            <a:avLst/>
          </a:prstGeom>
          <a:noFill/>
        </p:spPr>
        <p:txBody>
          <a:bodyPr wrap="none" rtlCol="0">
            <a:spAutoFit/>
          </a:bodyPr>
          <a:lstStyle/>
          <a:p>
            <a:r>
              <a:rPr lang="en-US" dirty="0"/>
              <a:t>creates</a:t>
            </a:r>
          </a:p>
        </p:txBody>
      </p:sp>
      <p:sp>
        <p:nvSpPr>
          <p:cNvPr id="34" name="TextBox 33">
            <a:extLst>
              <a:ext uri="{FF2B5EF4-FFF2-40B4-BE49-F238E27FC236}">
                <a16:creationId xmlns:a16="http://schemas.microsoft.com/office/drawing/2014/main" id="{1A2EAB02-2283-0BBF-1094-695139774293}"/>
              </a:ext>
            </a:extLst>
          </p:cNvPr>
          <p:cNvSpPr txBox="1"/>
          <p:nvPr/>
        </p:nvSpPr>
        <p:spPr>
          <a:xfrm>
            <a:off x="4771940" y="2371280"/>
            <a:ext cx="903645" cy="369332"/>
          </a:xfrm>
          <a:prstGeom prst="rect">
            <a:avLst/>
          </a:prstGeom>
          <a:noFill/>
          <a:ln w="15875">
            <a:solidFill>
              <a:srgbClr val="000000"/>
            </a:solidFill>
          </a:ln>
        </p:spPr>
        <p:txBody>
          <a:bodyPr wrap="none" rtlCol="0">
            <a:spAutoFit/>
          </a:bodyPr>
          <a:lstStyle/>
          <a:p>
            <a:r>
              <a:rPr lang="en-US" dirty="0"/>
              <a:t>Contest</a:t>
            </a:r>
          </a:p>
        </p:txBody>
      </p:sp>
      <p:sp>
        <p:nvSpPr>
          <p:cNvPr id="35" name="TextBox 34">
            <a:extLst>
              <a:ext uri="{FF2B5EF4-FFF2-40B4-BE49-F238E27FC236}">
                <a16:creationId xmlns:a16="http://schemas.microsoft.com/office/drawing/2014/main" id="{494A149F-4F76-4AC0-D091-B37BA0718EF0}"/>
              </a:ext>
            </a:extLst>
          </p:cNvPr>
          <p:cNvSpPr txBox="1"/>
          <p:nvPr/>
        </p:nvSpPr>
        <p:spPr>
          <a:xfrm>
            <a:off x="5441728" y="3538966"/>
            <a:ext cx="779381" cy="369332"/>
          </a:xfrm>
          <a:prstGeom prst="rect">
            <a:avLst/>
          </a:prstGeom>
          <a:noFill/>
          <a:ln w="15875">
            <a:solidFill>
              <a:srgbClr val="000000"/>
            </a:solidFill>
          </a:ln>
        </p:spPr>
        <p:txBody>
          <a:bodyPr wrap="none" rtlCol="0">
            <a:spAutoFit/>
          </a:bodyPr>
          <a:lstStyle/>
          <a:p>
            <a:r>
              <a:rPr lang="en-US" dirty="0"/>
              <a:t>Ability</a:t>
            </a:r>
          </a:p>
        </p:txBody>
      </p:sp>
      <p:sp>
        <p:nvSpPr>
          <p:cNvPr id="36" name="TextBox 35">
            <a:extLst>
              <a:ext uri="{FF2B5EF4-FFF2-40B4-BE49-F238E27FC236}">
                <a16:creationId xmlns:a16="http://schemas.microsoft.com/office/drawing/2014/main" id="{78C8688B-0E83-DE4F-2154-FFAF42DC33FD}"/>
              </a:ext>
            </a:extLst>
          </p:cNvPr>
          <p:cNvSpPr txBox="1"/>
          <p:nvPr/>
        </p:nvSpPr>
        <p:spPr>
          <a:xfrm>
            <a:off x="6513785" y="3538966"/>
            <a:ext cx="445956" cy="369332"/>
          </a:xfrm>
          <a:prstGeom prst="rect">
            <a:avLst/>
          </a:prstGeom>
          <a:noFill/>
          <a:ln w="15875">
            <a:solidFill>
              <a:srgbClr val="000000"/>
            </a:solidFill>
          </a:ln>
        </p:spPr>
        <p:txBody>
          <a:bodyPr wrap="none" rtlCol="0">
            <a:spAutoFit/>
          </a:bodyPr>
          <a:lstStyle/>
          <a:p>
            <a:r>
              <a:rPr lang="en-US" dirty="0"/>
              <a:t>TN</a:t>
            </a:r>
          </a:p>
        </p:txBody>
      </p:sp>
      <p:cxnSp>
        <p:nvCxnSpPr>
          <p:cNvPr id="37" name="Straight Arrow Connector 36">
            <a:extLst>
              <a:ext uri="{FF2B5EF4-FFF2-40B4-BE49-F238E27FC236}">
                <a16:creationId xmlns:a16="http://schemas.microsoft.com/office/drawing/2014/main" id="{7D3F6F80-1402-F48B-0D3D-3059D98656C2}"/>
              </a:ext>
            </a:extLst>
          </p:cNvPr>
          <p:cNvCxnSpPr>
            <a:cxnSpLocks/>
          </p:cNvCxnSpPr>
          <p:nvPr/>
        </p:nvCxnSpPr>
        <p:spPr>
          <a:xfrm flipV="1">
            <a:off x="1957552" y="3723632"/>
            <a:ext cx="3316014" cy="39558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2932E598-2272-0CA2-E18D-674E2BA6F87E}"/>
              </a:ext>
            </a:extLst>
          </p:cNvPr>
          <p:cNvSpPr txBox="1"/>
          <p:nvPr/>
        </p:nvSpPr>
        <p:spPr>
          <a:xfrm>
            <a:off x="4250080" y="3131820"/>
            <a:ext cx="1254959" cy="369332"/>
          </a:xfrm>
          <a:prstGeom prst="rect">
            <a:avLst/>
          </a:prstGeom>
          <a:noFill/>
        </p:spPr>
        <p:txBody>
          <a:bodyPr wrap="none" rtlCol="0">
            <a:spAutoFit/>
          </a:bodyPr>
          <a:lstStyle/>
          <a:p>
            <a:r>
              <a:rPr lang="en-US" dirty="0"/>
              <a:t>determines</a:t>
            </a:r>
          </a:p>
        </p:txBody>
      </p:sp>
    </p:spTree>
    <p:extLst>
      <p:ext uri="{BB962C8B-B14F-4D97-AF65-F5344CB8AC3E}">
        <p14:creationId xmlns:p14="http://schemas.microsoft.com/office/powerpoint/2010/main" val="22428965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Review Criteria</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r>
              <a:rPr lang="en-US" i="1" dirty="0">
                <a:solidFill>
                  <a:srgbClr val="64748B"/>
                </a:solidFill>
              </a:rPr>
              <a:t>Apply these to candidate modules before committing</a:t>
            </a:r>
            <a:endParaRPr lang="en-US" dirty="0"/>
          </a:p>
        </p:txBody>
      </p:sp>
      <p:sp>
        <p:nvSpPr>
          <p:cNvPr id="4" name="Text 2"/>
          <p:cNvSpPr/>
          <p:nvPr/>
        </p:nvSpPr>
        <p:spPr>
          <a:xfrm>
            <a:off x="548640" y="1645920"/>
            <a:ext cx="7772400" cy="550742"/>
          </a:xfrm>
          <a:prstGeom prst="rect">
            <a:avLst/>
          </a:prstGeom>
          <a:noFill/>
          <a:ln/>
        </p:spPr>
        <p:txBody>
          <a:bodyPr wrap="square" rtlCol="0" anchor="ctr"/>
          <a:lstStyle/>
          <a:p>
            <a:pPr marL="0" indent="0">
              <a:spcAft>
                <a:spcPts val="2400"/>
              </a:spcAft>
              <a:buNone/>
            </a:pPr>
            <a:r>
              <a:rPr lang="en-US" sz="2000" dirty="0">
                <a:solidFill>
                  <a:srgbClr val="333333"/>
                </a:solidFill>
              </a:rPr>
              <a:t>1. Parnas Test  — Does it hide a decision?</a:t>
            </a:r>
            <a:endParaRPr lang="en-US" sz="2000" dirty="0"/>
          </a:p>
        </p:txBody>
      </p:sp>
      <p:sp>
        <p:nvSpPr>
          <p:cNvPr id="5" name="Text 3"/>
          <p:cNvSpPr/>
          <p:nvPr/>
        </p:nvSpPr>
        <p:spPr>
          <a:xfrm>
            <a:off x="548639" y="5451388"/>
            <a:ext cx="7772400" cy="714680"/>
          </a:xfrm>
          <a:prstGeom prst="rect">
            <a:avLst/>
          </a:prstGeom>
          <a:noFill/>
          <a:ln/>
        </p:spPr>
        <p:txBody>
          <a:bodyPr wrap="square" rtlCol="0" anchor="ctr"/>
          <a:lstStyle/>
          <a:p>
            <a:r>
              <a:rPr lang="en-US" dirty="0"/>
              <a:t> - Entity-centric decomposition causes problems</a:t>
            </a:r>
          </a:p>
          <a:p>
            <a:r>
              <a:rPr lang="en-US" dirty="0"/>
              <a:t> - Entities tend to be shared, creating coupling hotspots</a:t>
            </a:r>
            <a:endParaRPr lang="en-US" sz="1800" dirty="0"/>
          </a:p>
        </p:txBody>
      </p:sp>
      <p:sp>
        <p:nvSpPr>
          <p:cNvPr id="7" name="TextBox 6">
            <a:extLst>
              <a:ext uri="{FF2B5EF4-FFF2-40B4-BE49-F238E27FC236}">
                <a16:creationId xmlns:a16="http://schemas.microsoft.com/office/drawing/2014/main" id="{16C864F9-C2C7-3490-FC2A-A11E9D1B113C}"/>
              </a:ext>
            </a:extLst>
          </p:cNvPr>
          <p:cNvSpPr txBox="1"/>
          <p:nvPr/>
        </p:nvSpPr>
        <p:spPr>
          <a:xfrm>
            <a:off x="548639" y="3345508"/>
            <a:ext cx="5284601" cy="400110"/>
          </a:xfrm>
          <a:prstGeom prst="rect">
            <a:avLst/>
          </a:prstGeom>
          <a:noFill/>
        </p:spPr>
        <p:txBody>
          <a:bodyPr wrap="square">
            <a:spAutoFit/>
          </a:bodyPr>
          <a:lstStyle/>
          <a:p>
            <a:r>
              <a:rPr lang="en-US" sz="2000" dirty="0">
                <a:solidFill>
                  <a:srgbClr val="333333"/>
                </a:solidFill>
              </a:rPr>
              <a:t>2. Coupling — How connected to other modules?</a:t>
            </a:r>
            <a:endParaRPr lang="en-US" sz="2000" dirty="0"/>
          </a:p>
        </p:txBody>
      </p:sp>
      <p:sp>
        <p:nvSpPr>
          <p:cNvPr id="9" name="TextBox 8">
            <a:extLst>
              <a:ext uri="{FF2B5EF4-FFF2-40B4-BE49-F238E27FC236}">
                <a16:creationId xmlns:a16="http://schemas.microsoft.com/office/drawing/2014/main" id="{CBF63055-CAA4-33A1-8552-D0C78104B03F}"/>
              </a:ext>
            </a:extLst>
          </p:cNvPr>
          <p:cNvSpPr txBox="1"/>
          <p:nvPr/>
        </p:nvSpPr>
        <p:spPr>
          <a:xfrm>
            <a:off x="548638" y="5012025"/>
            <a:ext cx="7008299" cy="400110"/>
          </a:xfrm>
          <a:prstGeom prst="rect">
            <a:avLst/>
          </a:prstGeom>
          <a:noFill/>
        </p:spPr>
        <p:txBody>
          <a:bodyPr wrap="square">
            <a:spAutoFit/>
          </a:bodyPr>
          <a:lstStyle/>
          <a:p>
            <a:r>
              <a:rPr lang="en-US" sz="2000" dirty="0">
                <a:solidFill>
                  <a:srgbClr val="333333"/>
                </a:solidFill>
              </a:rPr>
              <a:t>3. Entity Trap — Did we just wrap an entity/aggregate lifecycle?</a:t>
            </a:r>
            <a:endParaRPr lang="en-US" sz="2000" dirty="0"/>
          </a:p>
        </p:txBody>
      </p:sp>
      <p:sp>
        <p:nvSpPr>
          <p:cNvPr id="11" name="TextBox 10">
            <a:extLst>
              <a:ext uri="{FF2B5EF4-FFF2-40B4-BE49-F238E27FC236}">
                <a16:creationId xmlns:a16="http://schemas.microsoft.com/office/drawing/2014/main" id="{207B0A8D-D9E8-F084-2AEB-874CFBE05F6D}"/>
              </a:ext>
            </a:extLst>
          </p:cNvPr>
          <p:cNvSpPr txBox="1"/>
          <p:nvPr/>
        </p:nvSpPr>
        <p:spPr>
          <a:xfrm>
            <a:off x="548639" y="2185312"/>
            <a:ext cx="7772400" cy="923330"/>
          </a:xfrm>
          <a:prstGeom prst="rect">
            <a:avLst/>
          </a:prstGeom>
          <a:noFill/>
        </p:spPr>
        <p:txBody>
          <a:bodyPr wrap="square">
            <a:spAutoFit/>
          </a:bodyPr>
          <a:lstStyle/>
          <a:p>
            <a:r>
              <a:rPr lang="en-US" dirty="0"/>
              <a:t>- Encapsulating a design decision</a:t>
            </a:r>
          </a:p>
          <a:p>
            <a:r>
              <a:rPr lang="en-US" dirty="0"/>
              <a:t>- Key insight: a workflow is independent of the tasks in the workflow (tasks may be shared between workflows)</a:t>
            </a:r>
          </a:p>
        </p:txBody>
      </p:sp>
      <p:sp>
        <p:nvSpPr>
          <p:cNvPr id="13" name="TextBox 12">
            <a:extLst>
              <a:ext uri="{FF2B5EF4-FFF2-40B4-BE49-F238E27FC236}">
                <a16:creationId xmlns:a16="http://schemas.microsoft.com/office/drawing/2014/main" id="{AF12E419-64C8-C537-8F08-7E4AE39B3448}"/>
              </a:ext>
            </a:extLst>
          </p:cNvPr>
          <p:cNvSpPr txBox="1"/>
          <p:nvPr/>
        </p:nvSpPr>
        <p:spPr>
          <a:xfrm>
            <a:off x="457200" y="3805786"/>
            <a:ext cx="4850524" cy="923330"/>
          </a:xfrm>
          <a:prstGeom prst="rect">
            <a:avLst/>
          </a:prstGeom>
          <a:noFill/>
        </p:spPr>
        <p:txBody>
          <a:bodyPr wrap="square">
            <a:spAutoFit/>
          </a:bodyPr>
          <a:lstStyle/>
          <a:p>
            <a:r>
              <a:rPr lang="en-US" dirty="0"/>
              <a:t> - Afferent coupling (who depends on me?)</a:t>
            </a:r>
          </a:p>
          <a:p>
            <a:r>
              <a:rPr lang="en-US" dirty="0"/>
              <a:t> - Efferent coupling (who do I depend on?)</a:t>
            </a:r>
          </a:p>
          <a:p>
            <a:r>
              <a:rPr lang="en-US" dirty="0"/>
              <a:t> - Measuring coupling as a review tool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11" grpId="0"/>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9" name="Shape 3">
            <a:extLst>
              <a:ext uri="{FF2B5EF4-FFF2-40B4-BE49-F238E27FC236}">
                <a16:creationId xmlns:a16="http://schemas.microsoft.com/office/drawing/2014/main" id="{4FFCB134-66C0-0BB5-0407-4C61D536FD00}"/>
              </a:ext>
            </a:extLst>
          </p:cNvPr>
          <p:cNvSpPr/>
          <p:nvPr/>
        </p:nvSpPr>
        <p:spPr>
          <a:xfrm>
            <a:off x="1692165" y="1987506"/>
            <a:ext cx="5150069" cy="1280160"/>
          </a:xfrm>
          <a:prstGeom prst="rect">
            <a:avLst/>
          </a:prstGeom>
          <a:solidFill>
            <a:srgbClr val="F1F5F9"/>
          </a:solidFill>
          <a:ln/>
        </p:spPr>
        <p:txBody>
          <a:bodyPr/>
          <a:lstStyle/>
          <a:p>
            <a:endParaRPr lang="en-US"/>
          </a:p>
        </p:txBody>
      </p:sp>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The Parnas Test</a:t>
            </a:r>
            <a:endParaRPr lang="en-US" sz="4000" dirty="0"/>
          </a:p>
        </p:txBody>
      </p:sp>
      <p:sp>
        <p:nvSpPr>
          <p:cNvPr id="3" name="Text 1"/>
          <p:cNvSpPr/>
          <p:nvPr/>
        </p:nvSpPr>
        <p:spPr>
          <a:xfrm>
            <a:off x="548640" y="1280160"/>
            <a:ext cx="7772400" cy="548640"/>
          </a:xfrm>
          <a:prstGeom prst="rect">
            <a:avLst/>
          </a:prstGeom>
          <a:noFill/>
          <a:ln/>
        </p:spPr>
        <p:txBody>
          <a:bodyPr wrap="square" rtlCol="0" anchor="ctr"/>
          <a:lstStyle/>
          <a:p>
            <a:pPr marL="0" indent="0">
              <a:buNone/>
            </a:pPr>
            <a:r>
              <a:rPr lang="en-US" sz="2200" b="1" dirty="0">
                <a:solidFill>
                  <a:srgbClr val="000000"/>
                </a:solidFill>
              </a:rPr>
              <a:t>Ask: "What decision does this module hide?"</a:t>
            </a:r>
            <a:endParaRPr lang="en-US" sz="2200" dirty="0"/>
          </a:p>
        </p:txBody>
      </p:sp>
      <p:sp>
        <p:nvSpPr>
          <p:cNvPr id="4" name="Text 2"/>
          <p:cNvSpPr/>
          <p:nvPr/>
        </p:nvSpPr>
        <p:spPr>
          <a:xfrm>
            <a:off x="548640" y="3426372"/>
            <a:ext cx="7772400" cy="1097280"/>
          </a:xfrm>
          <a:prstGeom prst="rect">
            <a:avLst/>
          </a:prstGeom>
          <a:noFill/>
          <a:ln/>
        </p:spPr>
        <p:txBody>
          <a:bodyPr wrap="square" rtlCol="0" anchor="ctr"/>
          <a:lstStyle/>
          <a:p>
            <a:pPr marL="0" indent="0">
              <a:spcAft>
                <a:spcPts val="1400"/>
              </a:spcAft>
              <a:buNone/>
            </a:pPr>
            <a:r>
              <a:rPr lang="en-US" sz="2000" dirty="0">
                <a:solidFill>
                  <a:srgbClr val="333333"/>
                </a:solidFill>
              </a:rPr>
              <a:t>✓ Clear answer → Good module candidate</a:t>
            </a:r>
          </a:p>
          <a:p>
            <a:pPr marL="0" indent="0">
              <a:spcAft>
                <a:spcPts val="1400"/>
              </a:spcAft>
              <a:buNone/>
            </a:pPr>
            <a:r>
              <a:rPr lang="en-US" sz="2000" dirty="0">
                <a:solidFill>
                  <a:srgbClr val="333333"/>
                </a:solidFill>
              </a:rPr>
              <a:t>✗ Vague answer → Reconsider the boundary</a:t>
            </a:r>
            <a:endParaRPr lang="en-US" sz="2000" dirty="0"/>
          </a:p>
        </p:txBody>
      </p:sp>
      <p:sp>
        <p:nvSpPr>
          <p:cNvPr id="5" name="Shape 3"/>
          <p:cNvSpPr/>
          <p:nvPr/>
        </p:nvSpPr>
        <p:spPr>
          <a:xfrm>
            <a:off x="548640" y="5181600"/>
            <a:ext cx="8046720" cy="1280160"/>
          </a:xfrm>
          <a:prstGeom prst="rect">
            <a:avLst/>
          </a:prstGeom>
          <a:solidFill>
            <a:srgbClr val="F1F5F9"/>
          </a:solidFill>
          <a:ln/>
        </p:spPr>
        <p:txBody>
          <a:bodyPr/>
          <a:lstStyle/>
          <a:p>
            <a:endParaRPr lang="en-US"/>
          </a:p>
        </p:txBody>
      </p:sp>
      <p:sp>
        <p:nvSpPr>
          <p:cNvPr id="6" name="Text 4"/>
          <p:cNvSpPr/>
          <p:nvPr/>
        </p:nvSpPr>
        <p:spPr>
          <a:xfrm>
            <a:off x="731520" y="5273040"/>
            <a:ext cx="7680960" cy="1097280"/>
          </a:xfrm>
          <a:prstGeom prst="rect">
            <a:avLst/>
          </a:prstGeom>
          <a:noFill/>
          <a:ln/>
        </p:spPr>
        <p:txBody>
          <a:bodyPr wrap="square" rtlCol="0" anchor="ctr"/>
          <a:lstStyle/>
          <a:p>
            <a:pPr marL="0" indent="0">
              <a:buNone/>
            </a:pPr>
            <a:r>
              <a:rPr lang="en-US" sz="1600" dirty="0">
                <a:solidFill>
                  <a:srgbClr val="333333"/>
                </a:solidFill>
              </a:rPr>
              <a:t>QuestWorlds Example:</a:t>
            </a:r>
            <a:endParaRPr lang="en-US" sz="1600" dirty="0"/>
          </a:p>
          <a:p>
            <a:pPr marL="0" indent="0">
              <a:buNone/>
            </a:pPr>
            <a:r>
              <a:rPr lang="en-US" sz="1600" dirty="0">
                <a:solidFill>
                  <a:srgbClr val="333333"/>
                </a:solidFill>
              </a:rPr>
              <a:t>"Resolution hides the dice mechanics and success calculation"</a:t>
            </a:r>
            <a:endParaRPr lang="en-US" sz="1600" dirty="0"/>
          </a:p>
          <a:p>
            <a:pPr marL="0" indent="0">
              <a:buNone/>
            </a:pPr>
            <a:r>
              <a:rPr lang="en-US" sz="1600" dirty="0">
                <a:solidFill>
                  <a:srgbClr val="333333"/>
                </a:solidFill>
              </a:rPr>
              <a:t>Clear decision → Good module</a:t>
            </a:r>
            <a:endParaRPr lang="en-US" sz="1600" dirty="0"/>
          </a:p>
        </p:txBody>
      </p:sp>
      <p:sp>
        <p:nvSpPr>
          <p:cNvPr id="8" name="TextBox 7">
            <a:extLst>
              <a:ext uri="{FF2B5EF4-FFF2-40B4-BE49-F238E27FC236}">
                <a16:creationId xmlns:a16="http://schemas.microsoft.com/office/drawing/2014/main" id="{3C920C56-196E-1E61-5421-44F7F10F1AF9}"/>
              </a:ext>
            </a:extLst>
          </p:cNvPr>
          <p:cNvSpPr txBox="1"/>
          <p:nvPr/>
        </p:nvSpPr>
        <p:spPr>
          <a:xfrm>
            <a:off x="1975945" y="2210301"/>
            <a:ext cx="4750676" cy="923330"/>
          </a:xfrm>
          <a:prstGeom prst="rect">
            <a:avLst/>
          </a:prstGeom>
          <a:noFill/>
        </p:spPr>
        <p:txBody>
          <a:bodyPr wrap="square">
            <a:spAutoFit/>
          </a:bodyPr>
          <a:lstStyle/>
          <a:p>
            <a:r>
              <a:rPr lang="en-US" dirty="0"/>
              <a:t>"Begin with a list of difficult design decisions</a:t>
            </a:r>
          </a:p>
          <a:p>
            <a:r>
              <a:rPr lang="en-US" dirty="0"/>
              <a:t>or design decisions likely to change.</a:t>
            </a:r>
          </a:p>
          <a:p>
            <a:r>
              <a:rPr lang="en-US" dirty="0"/>
              <a:t>Each module hides such a decision from others."</a:t>
            </a:r>
          </a:p>
        </p:txBody>
      </p:sp>
      <p:sp>
        <p:nvSpPr>
          <p:cNvPr id="11" name="TextBox 10">
            <a:extLst>
              <a:ext uri="{FF2B5EF4-FFF2-40B4-BE49-F238E27FC236}">
                <a16:creationId xmlns:a16="http://schemas.microsoft.com/office/drawing/2014/main" id="{A8169747-D821-6BA8-6D8F-E3157ACA272D}"/>
              </a:ext>
            </a:extLst>
          </p:cNvPr>
          <p:cNvSpPr txBox="1"/>
          <p:nvPr/>
        </p:nvSpPr>
        <p:spPr>
          <a:xfrm>
            <a:off x="457200" y="4607106"/>
            <a:ext cx="8138160" cy="369332"/>
          </a:xfrm>
          <a:prstGeom prst="rect">
            <a:avLst/>
          </a:prstGeom>
          <a:noFill/>
        </p:spPr>
        <p:txBody>
          <a:bodyPr wrap="square">
            <a:spAutoFit/>
          </a:bodyPr>
          <a:lstStyle/>
          <a:p>
            <a:r>
              <a:rPr lang="en-US" dirty="0"/>
              <a:t>Key insight: A workflow is independent of the tasks in the workflow</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Coupling</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800" dirty="0">
                <a:solidFill>
                  <a:srgbClr val="64748B"/>
                </a:solidFill>
              </a:rPr>
              <a:t>Simple module dependencies</a:t>
            </a:r>
            <a:endParaRPr lang="en-US" sz="1800" dirty="0"/>
          </a:p>
        </p:txBody>
      </p:sp>
      <p:sp>
        <p:nvSpPr>
          <p:cNvPr id="4" name="Text 2"/>
          <p:cNvSpPr/>
          <p:nvPr/>
        </p:nvSpPr>
        <p:spPr>
          <a:xfrm>
            <a:off x="548640" y="1645920"/>
            <a:ext cx="7772400" cy="914400"/>
          </a:xfrm>
          <a:prstGeom prst="rect">
            <a:avLst/>
          </a:prstGeom>
          <a:noFill/>
          <a:ln/>
        </p:spPr>
        <p:txBody>
          <a:bodyPr wrap="square" rtlCol="0" anchor="ctr"/>
          <a:lstStyle/>
          <a:p>
            <a:pPr marL="0" indent="0">
              <a:spcAft>
                <a:spcPts val="1200"/>
              </a:spcAft>
              <a:buNone/>
            </a:pPr>
            <a:r>
              <a:rPr lang="en-US" sz="2000" b="1" dirty="0">
                <a:solidFill>
                  <a:srgbClr val="333333"/>
                </a:solidFill>
              </a:rPr>
              <a:t>Afferent (Ca) — Who depends on me?</a:t>
            </a:r>
          </a:p>
          <a:p>
            <a:pPr marL="0" indent="0">
              <a:spcAft>
                <a:spcPts val="1200"/>
              </a:spcAft>
              <a:buNone/>
            </a:pPr>
            <a:r>
              <a:rPr lang="en-US" sz="2000" b="1" dirty="0">
                <a:solidFill>
                  <a:srgbClr val="333333"/>
                </a:solidFill>
              </a:rPr>
              <a:t>Efferent (Ce) — Who do I depend on?</a:t>
            </a:r>
            <a:endParaRPr lang="en-US" sz="2000" dirty="0"/>
          </a:p>
        </p:txBody>
      </p:sp>
      <p:sp>
        <p:nvSpPr>
          <p:cNvPr id="5" name="Text 3"/>
          <p:cNvSpPr/>
          <p:nvPr/>
        </p:nvSpPr>
        <p:spPr>
          <a:xfrm>
            <a:off x="548640" y="2743200"/>
            <a:ext cx="7772400" cy="1097280"/>
          </a:xfrm>
          <a:prstGeom prst="rect">
            <a:avLst/>
          </a:prstGeom>
          <a:noFill/>
          <a:ln/>
        </p:spPr>
        <p:txBody>
          <a:bodyPr wrap="square" rtlCol="0" anchor="ctr"/>
          <a:lstStyle/>
          <a:p>
            <a:pPr marL="0" indent="0">
              <a:spcAft>
                <a:spcPts val="1000"/>
              </a:spcAft>
              <a:buNone/>
            </a:pPr>
            <a:r>
              <a:rPr lang="en-US" sz="1800" dirty="0">
                <a:solidFill>
                  <a:srgbClr val="333333"/>
                </a:solidFill>
              </a:rPr>
              <a:t>High afferent: Many dependents → harder to change</a:t>
            </a:r>
          </a:p>
          <a:p>
            <a:pPr marL="0" indent="0">
              <a:spcAft>
                <a:spcPts val="1000"/>
              </a:spcAft>
              <a:buNone/>
            </a:pPr>
            <a:r>
              <a:rPr lang="en-US" sz="1800" dirty="0">
                <a:solidFill>
                  <a:srgbClr val="333333"/>
                </a:solidFill>
              </a:rPr>
              <a:t>High efferent: Many dependencies → more reasons to change</a:t>
            </a:r>
            <a:endParaRPr lang="en-US" sz="1800" dirty="0"/>
          </a:p>
        </p:txBody>
      </p:sp>
      <p:sp>
        <p:nvSpPr>
          <p:cNvPr id="6" name="Text 4"/>
          <p:cNvSpPr/>
          <p:nvPr/>
        </p:nvSpPr>
        <p:spPr>
          <a:xfrm>
            <a:off x="457200" y="5394960"/>
            <a:ext cx="7772400" cy="457200"/>
          </a:xfrm>
          <a:prstGeom prst="rect">
            <a:avLst/>
          </a:prstGeom>
          <a:noFill/>
          <a:ln/>
        </p:spPr>
        <p:txBody>
          <a:bodyPr wrap="square" rtlCol="0" anchor="ctr"/>
          <a:lstStyle/>
          <a:p>
            <a:pPr marL="0" indent="0">
              <a:buNone/>
            </a:pPr>
            <a:r>
              <a:rPr lang="en-US" sz="1800" i="1" dirty="0">
                <a:solidFill>
                  <a:srgbClr val="64748B"/>
                </a:solidFill>
              </a:rPr>
              <a:t>Goal: Minimize coupling while maintaining cohesion</a:t>
            </a:r>
            <a:endParaRPr lang="en-US" sz="1800" dirty="0"/>
          </a:p>
        </p:txBody>
      </p:sp>
      <p:sp>
        <p:nvSpPr>
          <p:cNvPr id="7" name="Shape 3">
            <a:extLst>
              <a:ext uri="{FF2B5EF4-FFF2-40B4-BE49-F238E27FC236}">
                <a16:creationId xmlns:a16="http://schemas.microsoft.com/office/drawing/2014/main" id="{05FB0145-D49E-2E81-0BE8-83C1D591C258}"/>
              </a:ext>
            </a:extLst>
          </p:cNvPr>
          <p:cNvSpPr/>
          <p:nvPr/>
        </p:nvSpPr>
        <p:spPr>
          <a:xfrm>
            <a:off x="1786758" y="3977640"/>
            <a:ext cx="5150069" cy="1280160"/>
          </a:xfrm>
          <a:prstGeom prst="rect">
            <a:avLst/>
          </a:prstGeom>
          <a:solidFill>
            <a:srgbClr val="F1F5F9"/>
          </a:solidFill>
          <a:ln/>
        </p:spPr>
        <p:txBody>
          <a:bodyPr/>
          <a:lstStyle/>
          <a:p>
            <a:endParaRPr lang="en-US"/>
          </a:p>
        </p:txBody>
      </p:sp>
      <p:sp>
        <p:nvSpPr>
          <p:cNvPr id="8" name="TextBox 7">
            <a:extLst>
              <a:ext uri="{FF2B5EF4-FFF2-40B4-BE49-F238E27FC236}">
                <a16:creationId xmlns:a16="http://schemas.microsoft.com/office/drawing/2014/main" id="{221AF759-7EEF-2BCA-349E-8233C56F5F21}"/>
              </a:ext>
            </a:extLst>
          </p:cNvPr>
          <p:cNvSpPr txBox="1"/>
          <p:nvPr/>
        </p:nvSpPr>
        <p:spPr>
          <a:xfrm>
            <a:off x="2070538" y="4200435"/>
            <a:ext cx="4750676" cy="646331"/>
          </a:xfrm>
          <a:prstGeom prst="rect">
            <a:avLst/>
          </a:prstGeom>
          <a:noFill/>
        </p:spPr>
        <p:txBody>
          <a:bodyPr wrap="square">
            <a:spAutoFit/>
          </a:bodyPr>
          <a:lstStyle/>
          <a:p>
            <a:pPr algn="ctr"/>
            <a:r>
              <a:rPr lang="en-US" dirty="0"/>
              <a:t>Lots of types of coupling but only limited time in this talk.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ECDC8-342A-9B32-B71F-842351D748F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26A5FA6-6AD4-94D0-1D82-879B9ABD2286}"/>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Measuring Coupling</a:t>
            </a:r>
            <a:endParaRPr lang="en-US" sz="4000" dirty="0"/>
          </a:p>
        </p:txBody>
      </p:sp>
      <p:sp>
        <p:nvSpPr>
          <p:cNvPr id="3" name="Text 1">
            <a:extLst>
              <a:ext uri="{FF2B5EF4-FFF2-40B4-BE49-F238E27FC236}">
                <a16:creationId xmlns:a16="http://schemas.microsoft.com/office/drawing/2014/main" id="{2A81D970-8920-EABA-D73C-E2804B760231}"/>
              </a:ext>
            </a:extLst>
          </p:cNvPr>
          <p:cNvSpPr/>
          <p:nvPr/>
        </p:nvSpPr>
        <p:spPr>
          <a:xfrm>
            <a:off x="457200" y="1005840"/>
            <a:ext cx="8229600" cy="457200"/>
          </a:xfrm>
          <a:prstGeom prst="rect">
            <a:avLst/>
          </a:prstGeom>
          <a:noFill/>
          <a:ln/>
        </p:spPr>
        <p:txBody>
          <a:bodyPr wrap="square" rtlCol="0" anchor="ctr"/>
          <a:lstStyle/>
          <a:p>
            <a:pPr marL="0" indent="0">
              <a:buNone/>
            </a:pPr>
            <a:r>
              <a:rPr lang="en-US" sz="1800" dirty="0">
                <a:solidFill>
                  <a:srgbClr val="64748B"/>
                </a:solidFill>
              </a:rPr>
              <a:t>Measure module dependencies</a:t>
            </a:r>
            <a:endParaRPr lang="en-US" sz="1800" dirty="0"/>
          </a:p>
        </p:txBody>
      </p:sp>
      <p:sp>
        <p:nvSpPr>
          <p:cNvPr id="5" name="Text 3">
            <a:extLst>
              <a:ext uri="{FF2B5EF4-FFF2-40B4-BE49-F238E27FC236}">
                <a16:creationId xmlns:a16="http://schemas.microsoft.com/office/drawing/2014/main" id="{CCC6767A-5538-4E96-0726-7C74B6F0367D}"/>
              </a:ext>
            </a:extLst>
          </p:cNvPr>
          <p:cNvSpPr/>
          <p:nvPr/>
        </p:nvSpPr>
        <p:spPr>
          <a:xfrm>
            <a:off x="538130" y="1455068"/>
            <a:ext cx="7772400" cy="529722"/>
          </a:xfrm>
          <a:prstGeom prst="rect">
            <a:avLst/>
          </a:prstGeom>
          <a:noFill/>
          <a:ln/>
        </p:spPr>
        <p:txBody>
          <a:bodyPr wrap="square" rtlCol="0" anchor="ctr"/>
          <a:lstStyle/>
          <a:p>
            <a:r>
              <a:rPr lang="en-GB" dirty="0"/>
              <a:t>Total Coupling = Ca + Ce</a:t>
            </a:r>
          </a:p>
        </p:txBody>
      </p:sp>
      <p:sp>
        <p:nvSpPr>
          <p:cNvPr id="4" name="Shape 2">
            <a:extLst>
              <a:ext uri="{FF2B5EF4-FFF2-40B4-BE49-F238E27FC236}">
                <a16:creationId xmlns:a16="http://schemas.microsoft.com/office/drawing/2014/main" id="{A6F6A31E-AC2F-5D5F-4602-A1CEA019DEEA}"/>
              </a:ext>
            </a:extLst>
          </p:cNvPr>
          <p:cNvSpPr/>
          <p:nvPr/>
        </p:nvSpPr>
        <p:spPr>
          <a:xfrm>
            <a:off x="647888" y="2760166"/>
            <a:ext cx="1463040" cy="731520"/>
          </a:xfrm>
          <a:prstGeom prst="roundRect">
            <a:avLst/>
          </a:prstGeom>
          <a:solidFill>
            <a:srgbClr val="2C3E50"/>
          </a:solidFill>
          <a:ln/>
        </p:spPr>
        <p:txBody>
          <a:bodyPr/>
          <a:lstStyle/>
          <a:p>
            <a:endParaRPr lang="en-US" dirty="0"/>
          </a:p>
        </p:txBody>
      </p:sp>
      <p:sp>
        <p:nvSpPr>
          <p:cNvPr id="6" name="Text 3">
            <a:extLst>
              <a:ext uri="{FF2B5EF4-FFF2-40B4-BE49-F238E27FC236}">
                <a16:creationId xmlns:a16="http://schemas.microsoft.com/office/drawing/2014/main" id="{D9609526-A5AC-3FED-0662-77B92FCAABB7}"/>
              </a:ext>
            </a:extLst>
          </p:cNvPr>
          <p:cNvSpPr/>
          <p:nvPr/>
        </p:nvSpPr>
        <p:spPr>
          <a:xfrm>
            <a:off x="647888" y="2760166"/>
            <a:ext cx="1463040" cy="731520"/>
          </a:xfrm>
          <a:prstGeom prst="rect">
            <a:avLst/>
          </a:prstGeom>
          <a:noFill/>
          <a:ln/>
        </p:spPr>
        <p:txBody>
          <a:bodyPr wrap="square" rtlCol="0" anchor="ctr"/>
          <a:lstStyle/>
          <a:p>
            <a:pPr marL="0" indent="0" algn="ctr">
              <a:buNone/>
            </a:pPr>
            <a:r>
              <a:rPr lang="en-US" sz="1600" dirty="0">
                <a:solidFill>
                  <a:srgbClr val="FFFFFF"/>
                </a:solidFill>
              </a:rPr>
              <a:t>A</a:t>
            </a:r>
            <a:endParaRPr lang="en-US" sz="1600" dirty="0"/>
          </a:p>
        </p:txBody>
      </p:sp>
      <p:sp>
        <p:nvSpPr>
          <p:cNvPr id="8" name="TextBox 7">
            <a:extLst>
              <a:ext uri="{FF2B5EF4-FFF2-40B4-BE49-F238E27FC236}">
                <a16:creationId xmlns:a16="http://schemas.microsoft.com/office/drawing/2014/main" id="{9BF5A102-AA44-6264-E822-04DF3BCF4472}"/>
              </a:ext>
            </a:extLst>
          </p:cNvPr>
          <p:cNvSpPr txBox="1"/>
          <p:nvPr/>
        </p:nvSpPr>
        <p:spPr>
          <a:xfrm>
            <a:off x="457200" y="4097834"/>
            <a:ext cx="4572000" cy="1754326"/>
          </a:xfrm>
          <a:prstGeom prst="rect">
            <a:avLst/>
          </a:prstGeom>
          <a:noFill/>
        </p:spPr>
        <p:txBody>
          <a:bodyPr wrap="square">
            <a:spAutoFit/>
          </a:bodyPr>
          <a:lstStyle/>
          <a:p>
            <a:r>
              <a:rPr lang="en-GB" dirty="0"/>
              <a:t>Module A: Ca=0, Ce=1, CT=1</a:t>
            </a:r>
          </a:p>
          <a:p>
            <a:r>
              <a:rPr lang="en-GB" dirty="0"/>
              <a:t>Module B: Ca=1, Ce=2, CT=3 ← review this one</a:t>
            </a:r>
          </a:p>
          <a:p>
            <a:r>
              <a:rPr lang="en-GB" dirty="0"/>
              <a:t>Module C: Ca=1, Ce=0, CT=1</a:t>
            </a:r>
          </a:p>
          <a:p>
            <a:r>
              <a:rPr lang="en-GB" dirty="0"/>
              <a:t>Module D: Ca=1, Ce=0, CT=1</a:t>
            </a:r>
            <a:br>
              <a:rPr lang="en-GB" dirty="0"/>
            </a:br>
            <a:endParaRPr lang="en-GB" dirty="0"/>
          </a:p>
          <a:p>
            <a:r>
              <a:rPr lang="en-GB" dirty="0"/>
              <a:t>High CT = </a:t>
            </a:r>
            <a:r>
              <a:rPr lang="en-GB" i="1" dirty="0"/>
              <a:t>potential</a:t>
            </a:r>
            <a:r>
              <a:rPr lang="en-GB" dirty="0"/>
              <a:t> problem</a:t>
            </a:r>
          </a:p>
        </p:txBody>
      </p:sp>
      <p:sp>
        <p:nvSpPr>
          <p:cNvPr id="9" name="Shape 2">
            <a:extLst>
              <a:ext uri="{FF2B5EF4-FFF2-40B4-BE49-F238E27FC236}">
                <a16:creationId xmlns:a16="http://schemas.microsoft.com/office/drawing/2014/main" id="{14577AB5-D5E3-7768-6CA7-6773A3A98673}"/>
              </a:ext>
            </a:extLst>
          </p:cNvPr>
          <p:cNvSpPr/>
          <p:nvPr/>
        </p:nvSpPr>
        <p:spPr>
          <a:xfrm>
            <a:off x="3347545" y="2760166"/>
            <a:ext cx="1463040" cy="731520"/>
          </a:xfrm>
          <a:prstGeom prst="roundRect">
            <a:avLst/>
          </a:prstGeom>
          <a:solidFill>
            <a:srgbClr val="2C3E50"/>
          </a:solidFill>
          <a:ln/>
        </p:spPr>
        <p:txBody>
          <a:bodyPr/>
          <a:lstStyle/>
          <a:p>
            <a:endParaRPr lang="en-US" dirty="0"/>
          </a:p>
        </p:txBody>
      </p:sp>
      <p:sp>
        <p:nvSpPr>
          <p:cNvPr id="10" name="Text 3">
            <a:extLst>
              <a:ext uri="{FF2B5EF4-FFF2-40B4-BE49-F238E27FC236}">
                <a16:creationId xmlns:a16="http://schemas.microsoft.com/office/drawing/2014/main" id="{65DA0218-332A-96DA-9E1A-6F7FC34F91D6}"/>
              </a:ext>
            </a:extLst>
          </p:cNvPr>
          <p:cNvSpPr/>
          <p:nvPr/>
        </p:nvSpPr>
        <p:spPr>
          <a:xfrm>
            <a:off x="3347545" y="2760166"/>
            <a:ext cx="1463040" cy="731520"/>
          </a:xfrm>
          <a:prstGeom prst="rect">
            <a:avLst/>
          </a:prstGeom>
          <a:noFill/>
          <a:ln/>
        </p:spPr>
        <p:txBody>
          <a:bodyPr wrap="square" rtlCol="0" anchor="ctr"/>
          <a:lstStyle/>
          <a:p>
            <a:pPr marL="0" indent="0" algn="ctr">
              <a:buNone/>
            </a:pPr>
            <a:r>
              <a:rPr lang="en-US" sz="1600" dirty="0">
                <a:solidFill>
                  <a:srgbClr val="FFFFFF"/>
                </a:solidFill>
              </a:rPr>
              <a:t>B</a:t>
            </a:r>
            <a:endParaRPr lang="en-US" sz="1600" dirty="0"/>
          </a:p>
        </p:txBody>
      </p:sp>
      <p:sp>
        <p:nvSpPr>
          <p:cNvPr id="11" name="Shape 2">
            <a:extLst>
              <a:ext uri="{FF2B5EF4-FFF2-40B4-BE49-F238E27FC236}">
                <a16:creationId xmlns:a16="http://schemas.microsoft.com/office/drawing/2014/main" id="{2022A2DD-C2C5-504E-E730-49985405FDD0}"/>
              </a:ext>
            </a:extLst>
          </p:cNvPr>
          <p:cNvSpPr/>
          <p:nvPr/>
        </p:nvSpPr>
        <p:spPr>
          <a:xfrm>
            <a:off x="5971002" y="2207686"/>
            <a:ext cx="1463040" cy="731520"/>
          </a:xfrm>
          <a:prstGeom prst="roundRect">
            <a:avLst/>
          </a:prstGeom>
          <a:solidFill>
            <a:srgbClr val="2C3E50"/>
          </a:solidFill>
          <a:ln/>
        </p:spPr>
        <p:txBody>
          <a:bodyPr/>
          <a:lstStyle/>
          <a:p>
            <a:endParaRPr lang="en-US" dirty="0"/>
          </a:p>
        </p:txBody>
      </p:sp>
      <p:sp>
        <p:nvSpPr>
          <p:cNvPr id="12" name="Text 3">
            <a:extLst>
              <a:ext uri="{FF2B5EF4-FFF2-40B4-BE49-F238E27FC236}">
                <a16:creationId xmlns:a16="http://schemas.microsoft.com/office/drawing/2014/main" id="{D70F93B2-DB1E-B271-B3D3-0FBCE981650C}"/>
              </a:ext>
            </a:extLst>
          </p:cNvPr>
          <p:cNvSpPr/>
          <p:nvPr/>
        </p:nvSpPr>
        <p:spPr>
          <a:xfrm>
            <a:off x="5971002" y="2207686"/>
            <a:ext cx="1463040" cy="731520"/>
          </a:xfrm>
          <a:prstGeom prst="rect">
            <a:avLst/>
          </a:prstGeom>
          <a:noFill/>
          <a:ln/>
        </p:spPr>
        <p:txBody>
          <a:bodyPr wrap="square" rtlCol="0" anchor="ctr"/>
          <a:lstStyle/>
          <a:p>
            <a:pPr marL="0" indent="0" algn="ctr">
              <a:buNone/>
            </a:pPr>
            <a:r>
              <a:rPr lang="en-US" sz="1600" dirty="0">
                <a:solidFill>
                  <a:srgbClr val="FFFFFF"/>
                </a:solidFill>
              </a:rPr>
              <a:t>C</a:t>
            </a:r>
            <a:endParaRPr lang="en-US" sz="1600" dirty="0"/>
          </a:p>
        </p:txBody>
      </p:sp>
      <p:cxnSp>
        <p:nvCxnSpPr>
          <p:cNvPr id="14" name="Straight Arrow Connector 13">
            <a:extLst>
              <a:ext uri="{FF2B5EF4-FFF2-40B4-BE49-F238E27FC236}">
                <a16:creationId xmlns:a16="http://schemas.microsoft.com/office/drawing/2014/main" id="{03E3BD68-B3F4-DD80-D55F-8A01D91D97F4}"/>
              </a:ext>
            </a:extLst>
          </p:cNvPr>
          <p:cNvCxnSpPr>
            <a:stCxn id="6" idx="3"/>
            <a:endCxn id="10" idx="1"/>
          </p:cNvCxnSpPr>
          <p:nvPr/>
        </p:nvCxnSpPr>
        <p:spPr>
          <a:xfrm>
            <a:off x="2110928" y="3125926"/>
            <a:ext cx="123661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3776E8B-47B9-3F66-03D4-5914968207AC}"/>
              </a:ext>
            </a:extLst>
          </p:cNvPr>
          <p:cNvCxnSpPr>
            <a:endCxn id="6" idx="0"/>
          </p:cNvCxnSpPr>
          <p:nvPr/>
        </p:nvCxnSpPr>
        <p:spPr>
          <a:xfrm>
            <a:off x="748145" y="2493818"/>
            <a:ext cx="631263" cy="266348"/>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87A9E9C-E7C8-2621-8E95-A15DE8EFDC26}"/>
              </a:ext>
            </a:extLst>
          </p:cNvPr>
          <p:cNvSpPr txBox="1"/>
          <p:nvPr/>
        </p:nvSpPr>
        <p:spPr>
          <a:xfrm>
            <a:off x="895896" y="2296447"/>
            <a:ext cx="566181" cy="276999"/>
          </a:xfrm>
          <a:prstGeom prst="rect">
            <a:avLst/>
          </a:prstGeom>
          <a:noFill/>
        </p:spPr>
        <p:txBody>
          <a:bodyPr wrap="none" rtlCol="0">
            <a:spAutoFit/>
          </a:bodyPr>
          <a:lstStyle/>
          <a:p>
            <a:r>
              <a:rPr lang="en-GB" sz="1200" dirty="0">
                <a:solidFill>
                  <a:schemeClr val="tx1">
                    <a:lumMod val="50000"/>
                    <a:lumOff val="50000"/>
                  </a:schemeClr>
                </a:solidFill>
              </a:rPr>
              <a:t>Ca = 0</a:t>
            </a:r>
          </a:p>
        </p:txBody>
      </p:sp>
      <p:sp>
        <p:nvSpPr>
          <p:cNvPr id="20" name="TextBox 19">
            <a:extLst>
              <a:ext uri="{FF2B5EF4-FFF2-40B4-BE49-F238E27FC236}">
                <a16:creationId xmlns:a16="http://schemas.microsoft.com/office/drawing/2014/main" id="{219F4412-D947-9450-FF8C-73C731DDE155}"/>
              </a:ext>
            </a:extLst>
          </p:cNvPr>
          <p:cNvSpPr txBox="1"/>
          <p:nvPr/>
        </p:nvSpPr>
        <p:spPr>
          <a:xfrm>
            <a:off x="2177019" y="2764312"/>
            <a:ext cx="569387" cy="276999"/>
          </a:xfrm>
          <a:prstGeom prst="rect">
            <a:avLst/>
          </a:prstGeom>
          <a:noFill/>
        </p:spPr>
        <p:txBody>
          <a:bodyPr wrap="none" rtlCol="0">
            <a:spAutoFit/>
          </a:bodyPr>
          <a:lstStyle/>
          <a:p>
            <a:r>
              <a:rPr lang="en-GB" sz="1200" dirty="0">
                <a:solidFill>
                  <a:schemeClr val="tx1">
                    <a:lumMod val="50000"/>
                    <a:lumOff val="50000"/>
                  </a:schemeClr>
                </a:solidFill>
              </a:rPr>
              <a:t>Ce = 1</a:t>
            </a:r>
          </a:p>
        </p:txBody>
      </p:sp>
      <p:sp>
        <p:nvSpPr>
          <p:cNvPr id="21" name="TextBox 20">
            <a:extLst>
              <a:ext uri="{FF2B5EF4-FFF2-40B4-BE49-F238E27FC236}">
                <a16:creationId xmlns:a16="http://schemas.microsoft.com/office/drawing/2014/main" id="{F3F46F83-DAC1-A9D6-9262-55A2A1322A21}"/>
              </a:ext>
            </a:extLst>
          </p:cNvPr>
          <p:cNvSpPr txBox="1"/>
          <p:nvPr/>
        </p:nvSpPr>
        <p:spPr>
          <a:xfrm>
            <a:off x="1178986" y="3539906"/>
            <a:ext cx="543739" cy="276999"/>
          </a:xfrm>
          <a:prstGeom prst="rect">
            <a:avLst/>
          </a:prstGeom>
          <a:noFill/>
        </p:spPr>
        <p:txBody>
          <a:bodyPr wrap="none" rtlCol="0">
            <a:spAutoFit/>
          </a:bodyPr>
          <a:lstStyle/>
          <a:p>
            <a:r>
              <a:rPr lang="en-GB" sz="1200" dirty="0">
                <a:solidFill>
                  <a:schemeClr val="tx1">
                    <a:lumMod val="50000"/>
                    <a:lumOff val="50000"/>
                  </a:schemeClr>
                </a:solidFill>
              </a:rPr>
              <a:t>Ct = 1</a:t>
            </a:r>
          </a:p>
        </p:txBody>
      </p:sp>
      <p:sp>
        <p:nvSpPr>
          <p:cNvPr id="22" name="Shape 2">
            <a:extLst>
              <a:ext uri="{FF2B5EF4-FFF2-40B4-BE49-F238E27FC236}">
                <a16:creationId xmlns:a16="http://schemas.microsoft.com/office/drawing/2014/main" id="{9A646647-160D-25EE-4C16-29663ED72684}"/>
              </a:ext>
            </a:extLst>
          </p:cNvPr>
          <p:cNvSpPr/>
          <p:nvPr/>
        </p:nvSpPr>
        <p:spPr>
          <a:xfrm>
            <a:off x="5971002" y="3732074"/>
            <a:ext cx="1463040" cy="731520"/>
          </a:xfrm>
          <a:prstGeom prst="roundRect">
            <a:avLst/>
          </a:prstGeom>
          <a:solidFill>
            <a:srgbClr val="2C3E50"/>
          </a:solidFill>
          <a:ln/>
        </p:spPr>
        <p:txBody>
          <a:bodyPr/>
          <a:lstStyle/>
          <a:p>
            <a:endParaRPr lang="en-US" dirty="0"/>
          </a:p>
        </p:txBody>
      </p:sp>
      <p:sp>
        <p:nvSpPr>
          <p:cNvPr id="23" name="Text 3">
            <a:extLst>
              <a:ext uri="{FF2B5EF4-FFF2-40B4-BE49-F238E27FC236}">
                <a16:creationId xmlns:a16="http://schemas.microsoft.com/office/drawing/2014/main" id="{EBDFCB53-1042-6D23-1B19-3AF7DB6ABB4A}"/>
              </a:ext>
            </a:extLst>
          </p:cNvPr>
          <p:cNvSpPr/>
          <p:nvPr/>
        </p:nvSpPr>
        <p:spPr>
          <a:xfrm>
            <a:off x="5971002" y="3732074"/>
            <a:ext cx="1463040" cy="731520"/>
          </a:xfrm>
          <a:prstGeom prst="rect">
            <a:avLst/>
          </a:prstGeom>
          <a:noFill/>
          <a:ln/>
        </p:spPr>
        <p:txBody>
          <a:bodyPr wrap="square" rtlCol="0" anchor="ctr"/>
          <a:lstStyle/>
          <a:p>
            <a:pPr marL="0" indent="0" algn="ctr">
              <a:buNone/>
            </a:pPr>
            <a:r>
              <a:rPr lang="en-US" sz="1600" dirty="0">
                <a:solidFill>
                  <a:srgbClr val="FFFFFF"/>
                </a:solidFill>
              </a:rPr>
              <a:t>D</a:t>
            </a:r>
            <a:endParaRPr lang="en-US" sz="1600" dirty="0"/>
          </a:p>
        </p:txBody>
      </p:sp>
      <p:cxnSp>
        <p:nvCxnSpPr>
          <p:cNvPr id="26" name="Straight Arrow Connector 25">
            <a:extLst>
              <a:ext uri="{FF2B5EF4-FFF2-40B4-BE49-F238E27FC236}">
                <a16:creationId xmlns:a16="http://schemas.microsoft.com/office/drawing/2014/main" id="{29610847-5824-F5F6-C762-D899A6A6C69B}"/>
              </a:ext>
            </a:extLst>
          </p:cNvPr>
          <p:cNvCxnSpPr>
            <a:cxnSpLocks/>
            <a:endCxn id="12" idx="1"/>
          </p:cNvCxnSpPr>
          <p:nvPr/>
        </p:nvCxnSpPr>
        <p:spPr>
          <a:xfrm flipV="1">
            <a:off x="4810585" y="2573446"/>
            <a:ext cx="1160417" cy="5524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3B613B7-7C97-C5CD-7F7E-9E1CD473170A}"/>
              </a:ext>
            </a:extLst>
          </p:cNvPr>
          <p:cNvCxnSpPr>
            <a:cxnSpLocks/>
            <a:endCxn id="23" idx="1"/>
          </p:cNvCxnSpPr>
          <p:nvPr/>
        </p:nvCxnSpPr>
        <p:spPr>
          <a:xfrm>
            <a:off x="4810585" y="3125926"/>
            <a:ext cx="1160417" cy="97190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6445C02-DF0B-1288-7408-7906FC23FC9A}"/>
              </a:ext>
            </a:extLst>
          </p:cNvPr>
          <p:cNvSpPr txBox="1"/>
          <p:nvPr/>
        </p:nvSpPr>
        <p:spPr>
          <a:xfrm>
            <a:off x="2959342" y="3455075"/>
            <a:ext cx="566181" cy="276999"/>
          </a:xfrm>
          <a:prstGeom prst="rect">
            <a:avLst/>
          </a:prstGeom>
          <a:noFill/>
        </p:spPr>
        <p:txBody>
          <a:bodyPr wrap="none" rtlCol="0">
            <a:spAutoFit/>
          </a:bodyPr>
          <a:lstStyle/>
          <a:p>
            <a:r>
              <a:rPr lang="en-GB" sz="1200" dirty="0">
                <a:solidFill>
                  <a:schemeClr val="tx1">
                    <a:lumMod val="50000"/>
                    <a:lumOff val="50000"/>
                  </a:schemeClr>
                </a:solidFill>
              </a:rPr>
              <a:t>Ca = 1</a:t>
            </a:r>
          </a:p>
        </p:txBody>
      </p:sp>
      <p:sp>
        <p:nvSpPr>
          <p:cNvPr id="31" name="TextBox 30">
            <a:extLst>
              <a:ext uri="{FF2B5EF4-FFF2-40B4-BE49-F238E27FC236}">
                <a16:creationId xmlns:a16="http://schemas.microsoft.com/office/drawing/2014/main" id="{63BF1933-D829-4AFB-A135-8E08747D9993}"/>
              </a:ext>
            </a:extLst>
          </p:cNvPr>
          <p:cNvSpPr txBox="1"/>
          <p:nvPr/>
        </p:nvSpPr>
        <p:spPr>
          <a:xfrm>
            <a:off x="4695810" y="2523525"/>
            <a:ext cx="569387" cy="276999"/>
          </a:xfrm>
          <a:prstGeom prst="rect">
            <a:avLst/>
          </a:prstGeom>
          <a:noFill/>
        </p:spPr>
        <p:txBody>
          <a:bodyPr wrap="none" rtlCol="0">
            <a:spAutoFit/>
          </a:bodyPr>
          <a:lstStyle/>
          <a:p>
            <a:r>
              <a:rPr lang="en-GB" sz="1200" dirty="0">
                <a:solidFill>
                  <a:schemeClr val="tx1">
                    <a:lumMod val="50000"/>
                    <a:lumOff val="50000"/>
                  </a:schemeClr>
                </a:solidFill>
              </a:rPr>
              <a:t>Ce = 2</a:t>
            </a:r>
          </a:p>
        </p:txBody>
      </p:sp>
      <p:sp>
        <p:nvSpPr>
          <p:cNvPr id="32" name="TextBox 31">
            <a:extLst>
              <a:ext uri="{FF2B5EF4-FFF2-40B4-BE49-F238E27FC236}">
                <a16:creationId xmlns:a16="http://schemas.microsoft.com/office/drawing/2014/main" id="{6AFE74FC-024E-402A-4CC5-812B3A0D5E7C}"/>
              </a:ext>
            </a:extLst>
          </p:cNvPr>
          <p:cNvSpPr txBox="1"/>
          <p:nvPr/>
        </p:nvSpPr>
        <p:spPr>
          <a:xfrm>
            <a:off x="3892312" y="3548253"/>
            <a:ext cx="543739" cy="276999"/>
          </a:xfrm>
          <a:prstGeom prst="rect">
            <a:avLst/>
          </a:prstGeom>
          <a:noFill/>
        </p:spPr>
        <p:txBody>
          <a:bodyPr wrap="none" rtlCol="0">
            <a:spAutoFit/>
          </a:bodyPr>
          <a:lstStyle/>
          <a:p>
            <a:r>
              <a:rPr lang="en-GB" sz="1200" dirty="0">
                <a:solidFill>
                  <a:schemeClr val="tx1">
                    <a:lumMod val="50000"/>
                    <a:lumOff val="50000"/>
                  </a:schemeClr>
                </a:solidFill>
              </a:rPr>
              <a:t>Ct = 3</a:t>
            </a:r>
          </a:p>
        </p:txBody>
      </p:sp>
      <p:sp>
        <p:nvSpPr>
          <p:cNvPr id="33" name="TextBox 32">
            <a:extLst>
              <a:ext uri="{FF2B5EF4-FFF2-40B4-BE49-F238E27FC236}">
                <a16:creationId xmlns:a16="http://schemas.microsoft.com/office/drawing/2014/main" id="{4392D43C-05E1-9A32-E492-022B6AF91466}"/>
              </a:ext>
            </a:extLst>
          </p:cNvPr>
          <p:cNvSpPr txBox="1"/>
          <p:nvPr/>
        </p:nvSpPr>
        <p:spPr>
          <a:xfrm>
            <a:off x="5390793" y="2157947"/>
            <a:ext cx="566181" cy="276999"/>
          </a:xfrm>
          <a:prstGeom prst="rect">
            <a:avLst/>
          </a:prstGeom>
          <a:noFill/>
        </p:spPr>
        <p:txBody>
          <a:bodyPr wrap="none" rtlCol="0">
            <a:spAutoFit/>
          </a:bodyPr>
          <a:lstStyle/>
          <a:p>
            <a:r>
              <a:rPr lang="en-GB" sz="1200" dirty="0">
                <a:solidFill>
                  <a:schemeClr val="tx1">
                    <a:lumMod val="50000"/>
                    <a:lumOff val="50000"/>
                  </a:schemeClr>
                </a:solidFill>
              </a:rPr>
              <a:t>Ca = 1</a:t>
            </a:r>
          </a:p>
        </p:txBody>
      </p:sp>
      <p:sp>
        <p:nvSpPr>
          <p:cNvPr id="34" name="TextBox 33">
            <a:extLst>
              <a:ext uri="{FF2B5EF4-FFF2-40B4-BE49-F238E27FC236}">
                <a16:creationId xmlns:a16="http://schemas.microsoft.com/office/drawing/2014/main" id="{B48A7944-A085-CEA7-12F3-F3E881F7910A}"/>
              </a:ext>
            </a:extLst>
          </p:cNvPr>
          <p:cNvSpPr txBox="1"/>
          <p:nvPr/>
        </p:nvSpPr>
        <p:spPr>
          <a:xfrm>
            <a:off x="5390792" y="4075586"/>
            <a:ext cx="566181" cy="276999"/>
          </a:xfrm>
          <a:prstGeom prst="rect">
            <a:avLst/>
          </a:prstGeom>
          <a:noFill/>
        </p:spPr>
        <p:txBody>
          <a:bodyPr wrap="none" rtlCol="0">
            <a:spAutoFit/>
          </a:bodyPr>
          <a:lstStyle/>
          <a:p>
            <a:r>
              <a:rPr lang="en-GB" sz="1200" dirty="0">
                <a:solidFill>
                  <a:schemeClr val="tx1">
                    <a:lumMod val="50000"/>
                    <a:lumOff val="50000"/>
                  </a:schemeClr>
                </a:solidFill>
              </a:rPr>
              <a:t>Ca = 1</a:t>
            </a:r>
          </a:p>
        </p:txBody>
      </p:sp>
      <p:sp>
        <p:nvSpPr>
          <p:cNvPr id="35" name="TextBox 34">
            <a:extLst>
              <a:ext uri="{FF2B5EF4-FFF2-40B4-BE49-F238E27FC236}">
                <a16:creationId xmlns:a16="http://schemas.microsoft.com/office/drawing/2014/main" id="{34C3D541-4423-5DC4-BBA5-3A5EDC83F84A}"/>
              </a:ext>
            </a:extLst>
          </p:cNvPr>
          <p:cNvSpPr txBox="1"/>
          <p:nvPr/>
        </p:nvSpPr>
        <p:spPr>
          <a:xfrm>
            <a:off x="7566988" y="2349993"/>
            <a:ext cx="566181" cy="276999"/>
          </a:xfrm>
          <a:prstGeom prst="rect">
            <a:avLst/>
          </a:prstGeom>
          <a:noFill/>
        </p:spPr>
        <p:txBody>
          <a:bodyPr wrap="none" rtlCol="0">
            <a:spAutoFit/>
          </a:bodyPr>
          <a:lstStyle/>
          <a:p>
            <a:r>
              <a:rPr lang="en-GB" sz="1200" dirty="0">
                <a:solidFill>
                  <a:schemeClr val="tx1">
                    <a:lumMod val="50000"/>
                    <a:lumOff val="50000"/>
                  </a:schemeClr>
                </a:solidFill>
              </a:rPr>
              <a:t>Ca = 0</a:t>
            </a:r>
          </a:p>
        </p:txBody>
      </p:sp>
      <p:sp>
        <p:nvSpPr>
          <p:cNvPr id="36" name="TextBox 35">
            <a:extLst>
              <a:ext uri="{FF2B5EF4-FFF2-40B4-BE49-F238E27FC236}">
                <a16:creationId xmlns:a16="http://schemas.microsoft.com/office/drawing/2014/main" id="{3A4B0701-9E43-8029-45CE-7A0C005D7E24}"/>
              </a:ext>
            </a:extLst>
          </p:cNvPr>
          <p:cNvSpPr txBox="1"/>
          <p:nvPr/>
        </p:nvSpPr>
        <p:spPr>
          <a:xfrm>
            <a:off x="7566988" y="3842218"/>
            <a:ext cx="566181" cy="276999"/>
          </a:xfrm>
          <a:prstGeom prst="rect">
            <a:avLst/>
          </a:prstGeom>
          <a:noFill/>
        </p:spPr>
        <p:txBody>
          <a:bodyPr wrap="none" rtlCol="0">
            <a:spAutoFit/>
          </a:bodyPr>
          <a:lstStyle/>
          <a:p>
            <a:r>
              <a:rPr lang="en-GB" sz="1200" dirty="0">
                <a:solidFill>
                  <a:schemeClr val="tx1">
                    <a:lumMod val="50000"/>
                    <a:lumOff val="50000"/>
                  </a:schemeClr>
                </a:solidFill>
              </a:rPr>
              <a:t>Ca = 0</a:t>
            </a:r>
          </a:p>
        </p:txBody>
      </p:sp>
      <p:sp>
        <p:nvSpPr>
          <p:cNvPr id="37" name="TextBox 36">
            <a:extLst>
              <a:ext uri="{FF2B5EF4-FFF2-40B4-BE49-F238E27FC236}">
                <a16:creationId xmlns:a16="http://schemas.microsoft.com/office/drawing/2014/main" id="{662CF1E0-36D4-3A1F-68C8-6EF86DD3534F}"/>
              </a:ext>
            </a:extLst>
          </p:cNvPr>
          <p:cNvSpPr txBox="1"/>
          <p:nvPr/>
        </p:nvSpPr>
        <p:spPr>
          <a:xfrm>
            <a:off x="6430652" y="4585924"/>
            <a:ext cx="543739" cy="276999"/>
          </a:xfrm>
          <a:prstGeom prst="rect">
            <a:avLst/>
          </a:prstGeom>
          <a:noFill/>
        </p:spPr>
        <p:txBody>
          <a:bodyPr wrap="none" rtlCol="0">
            <a:spAutoFit/>
          </a:bodyPr>
          <a:lstStyle/>
          <a:p>
            <a:r>
              <a:rPr lang="en-GB" sz="1200" dirty="0">
                <a:solidFill>
                  <a:schemeClr val="tx1">
                    <a:lumMod val="50000"/>
                    <a:lumOff val="50000"/>
                  </a:schemeClr>
                </a:solidFill>
              </a:rPr>
              <a:t>Ct = 1</a:t>
            </a:r>
          </a:p>
        </p:txBody>
      </p:sp>
      <p:sp>
        <p:nvSpPr>
          <p:cNvPr id="38" name="TextBox 37">
            <a:extLst>
              <a:ext uri="{FF2B5EF4-FFF2-40B4-BE49-F238E27FC236}">
                <a16:creationId xmlns:a16="http://schemas.microsoft.com/office/drawing/2014/main" id="{81C093D7-8094-C129-EC5E-B153EDF41233}"/>
              </a:ext>
            </a:extLst>
          </p:cNvPr>
          <p:cNvSpPr txBox="1"/>
          <p:nvPr/>
        </p:nvSpPr>
        <p:spPr>
          <a:xfrm>
            <a:off x="6489333" y="3041311"/>
            <a:ext cx="543739" cy="276999"/>
          </a:xfrm>
          <a:prstGeom prst="rect">
            <a:avLst/>
          </a:prstGeom>
          <a:noFill/>
        </p:spPr>
        <p:txBody>
          <a:bodyPr wrap="none" rtlCol="0">
            <a:spAutoFit/>
          </a:bodyPr>
          <a:lstStyle/>
          <a:p>
            <a:r>
              <a:rPr lang="en-GB" sz="1200" dirty="0">
                <a:solidFill>
                  <a:schemeClr val="tx1">
                    <a:lumMod val="50000"/>
                    <a:lumOff val="50000"/>
                  </a:schemeClr>
                </a:solidFill>
              </a:rPr>
              <a:t>Ct = 1</a:t>
            </a:r>
          </a:p>
        </p:txBody>
      </p:sp>
    </p:spTree>
    <p:extLst>
      <p:ext uri="{BB962C8B-B14F-4D97-AF65-F5344CB8AC3E}">
        <p14:creationId xmlns:p14="http://schemas.microsoft.com/office/powerpoint/2010/main" val="535459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The Entity Trap</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800" dirty="0">
                <a:solidFill>
                  <a:srgbClr val="64748B"/>
                </a:solidFill>
              </a:rPr>
              <a:t>A common mistake</a:t>
            </a:r>
            <a:endParaRPr lang="en-US" sz="1800" dirty="0"/>
          </a:p>
        </p:txBody>
      </p:sp>
      <p:sp>
        <p:nvSpPr>
          <p:cNvPr id="4" name="Text 2"/>
          <p:cNvSpPr/>
          <p:nvPr/>
        </p:nvSpPr>
        <p:spPr>
          <a:xfrm>
            <a:off x="548640" y="1645920"/>
            <a:ext cx="7772400" cy="914400"/>
          </a:xfrm>
          <a:prstGeom prst="rect">
            <a:avLst/>
          </a:prstGeom>
          <a:noFill/>
          <a:ln/>
        </p:spPr>
        <p:txBody>
          <a:bodyPr wrap="square" rtlCol="0" anchor="ctr"/>
          <a:lstStyle/>
          <a:p>
            <a:pPr marL="0" indent="0">
              <a:spcAft>
                <a:spcPts val="800"/>
              </a:spcAft>
              <a:buNone/>
            </a:pPr>
            <a:r>
              <a:rPr lang="en-US" sz="1800" b="1" dirty="0">
                <a:solidFill>
                  <a:srgbClr val="333333"/>
                </a:solidFill>
              </a:rPr>
              <a:t>Symptom</a:t>
            </a:r>
            <a:r>
              <a:rPr lang="en-US" sz="1800" dirty="0">
                <a:solidFill>
                  <a:srgbClr val="333333"/>
                </a:solidFill>
              </a:rPr>
              <a:t>: Modules named after data entities  </a:t>
            </a:r>
            <a:r>
              <a:rPr lang="en-US" sz="1800" dirty="0" err="1">
                <a:solidFill>
                  <a:srgbClr val="333333"/>
                </a:solidFill>
              </a:rPr>
              <a:t>UserManager</a:t>
            </a:r>
            <a:r>
              <a:rPr lang="en-US" sz="1800" dirty="0">
                <a:solidFill>
                  <a:srgbClr val="333333"/>
                </a:solidFill>
              </a:rPr>
              <a:t>, OrderService, ContestHandler</a:t>
            </a:r>
            <a:endParaRPr lang="en-US" sz="1800" dirty="0"/>
          </a:p>
        </p:txBody>
      </p:sp>
      <p:sp>
        <p:nvSpPr>
          <p:cNvPr id="5" name="Text 3"/>
          <p:cNvSpPr/>
          <p:nvPr/>
        </p:nvSpPr>
        <p:spPr>
          <a:xfrm>
            <a:off x="548640" y="2651760"/>
            <a:ext cx="7772400" cy="914400"/>
          </a:xfrm>
          <a:prstGeom prst="rect">
            <a:avLst/>
          </a:prstGeom>
          <a:noFill/>
          <a:ln/>
        </p:spPr>
        <p:txBody>
          <a:bodyPr wrap="square" rtlCol="0" anchor="ctr"/>
          <a:lstStyle/>
          <a:p>
            <a:pPr marL="0" indent="0">
              <a:spcAft>
                <a:spcPts val="800"/>
              </a:spcAft>
              <a:buNone/>
            </a:pPr>
            <a:r>
              <a:rPr lang="en-US" sz="1800" b="1" dirty="0">
                <a:solidFill>
                  <a:srgbClr val="333333"/>
                </a:solidFill>
              </a:rPr>
              <a:t>Problem</a:t>
            </a:r>
            <a:r>
              <a:rPr lang="en-US" sz="1800" dirty="0">
                <a:solidFill>
                  <a:srgbClr val="333333"/>
                </a:solidFill>
              </a:rPr>
              <a:t>: Hides data structure, not decisions</a:t>
            </a:r>
          </a:p>
          <a:p>
            <a:pPr marL="0" indent="0">
              <a:spcAft>
                <a:spcPts val="800"/>
              </a:spcAft>
              <a:buNone/>
            </a:pPr>
            <a:r>
              <a:rPr lang="en-US" sz="1800" b="1" dirty="0">
                <a:solidFill>
                  <a:srgbClr val="333333"/>
                </a:solidFill>
              </a:rPr>
              <a:t>Result</a:t>
            </a:r>
            <a:r>
              <a:rPr lang="en-US" sz="1800" dirty="0">
                <a:solidFill>
                  <a:srgbClr val="333333"/>
                </a:solidFill>
              </a:rPr>
              <a:t>: Behavior scattered across "managers"</a:t>
            </a:r>
            <a:endParaRPr lang="en-US" sz="1800" dirty="0"/>
          </a:p>
        </p:txBody>
      </p:sp>
      <p:sp>
        <p:nvSpPr>
          <p:cNvPr id="6" name="Shape 4"/>
          <p:cNvSpPr/>
          <p:nvPr/>
        </p:nvSpPr>
        <p:spPr>
          <a:xfrm>
            <a:off x="548640" y="3657600"/>
            <a:ext cx="8046720" cy="914400"/>
          </a:xfrm>
          <a:prstGeom prst="rect">
            <a:avLst/>
          </a:prstGeom>
          <a:solidFill>
            <a:srgbClr val="F1F5F9"/>
          </a:solidFill>
          <a:ln/>
        </p:spPr>
        <p:txBody>
          <a:bodyPr/>
          <a:lstStyle/>
          <a:p>
            <a:endParaRPr lang="en-US"/>
          </a:p>
        </p:txBody>
      </p:sp>
      <p:sp>
        <p:nvSpPr>
          <p:cNvPr id="7" name="Text 5"/>
          <p:cNvSpPr/>
          <p:nvPr/>
        </p:nvSpPr>
        <p:spPr>
          <a:xfrm>
            <a:off x="731520" y="3749040"/>
            <a:ext cx="7680960" cy="731520"/>
          </a:xfrm>
          <a:prstGeom prst="rect">
            <a:avLst/>
          </a:prstGeom>
          <a:noFill/>
          <a:ln/>
        </p:spPr>
        <p:txBody>
          <a:bodyPr wrap="square" rtlCol="0" anchor="ctr"/>
          <a:lstStyle/>
          <a:p>
            <a:pPr marL="0" indent="0">
              <a:buNone/>
            </a:pPr>
            <a:r>
              <a:rPr lang="en-US" sz="1600" dirty="0">
                <a:solidFill>
                  <a:srgbClr val="333333"/>
                </a:solidFill>
              </a:rPr>
              <a:t>Better: Modules named after capabilities or decisions</a:t>
            </a:r>
            <a:endParaRPr lang="en-US" sz="1600" dirty="0"/>
          </a:p>
          <a:p>
            <a:pPr marL="0" indent="0">
              <a:buNone/>
            </a:pPr>
            <a:r>
              <a:rPr lang="en-US" sz="1600" dirty="0">
                <a:solidFill>
                  <a:srgbClr val="333333"/>
                </a:solidFill>
              </a:rPr>
              <a:t>Framing, Resolution, Outcome</a:t>
            </a:r>
            <a:endParaRPr lang="en-US" sz="1600" dirty="0"/>
          </a:p>
        </p:txBody>
      </p:sp>
      <p:sp>
        <p:nvSpPr>
          <p:cNvPr id="8" name="Text 3">
            <a:extLst>
              <a:ext uri="{FF2B5EF4-FFF2-40B4-BE49-F238E27FC236}">
                <a16:creationId xmlns:a16="http://schemas.microsoft.com/office/drawing/2014/main" id="{2E7CF006-3AC2-4859-BC08-E9FF09A8D87B}"/>
              </a:ext>
            </a:extLst>
          </p:cNvPr>
          <p:cNvSpPr/>
          <p:nvPr/>
        </p:nvSpPr>
        <p:spPr>
          <a:xfrm>
            <a:off x="640080" y="5032353"/>
            <a:ext cx="7772400" cy="914400"/>
          </a:xfrm>
          <a:prstGeom prst="rect">
            <a:avLst/>
          </a:prstGeom>
          <a:noFill/>
          <a:ln/>
        </p:spPr>
        <p:txBody>
          <a:bodyPr wrap="square" rtlCol="0" anchor="ctr"/>
          <a:lstStyle/>
          <a:p>
            <a:pPr marL="0" indent="0">
              <a:spcAft>
                <a:spcPts val="800"/>
              </a:spcAft>
              <a:buNone/>
            </a:pPr>
            <a:r>
              <a:rPr lang="en-US" sz="1800" b="1" dirty="0">
                <a:solidFill>
                  <a:srgbClr val="333333"/>
                </a:solidFill>
              </a:rPr>
              <a:t>Note</a:t>
            </a:r>
            <a:r>
              <a:rPr lang="en-US" sz="1800" dirty="0">
                <a:solidFill>
                  <a:srgbClr val="333333"/>
                </a:solidFill>
              </a:rPr>
              <a:t>: Can be hard to avoid entirely. Our Framing module is centered around an aggregate </a:t>
            </a:r>
            <a:r>
              <a:rPr lang="en-US" sz="1800" dirty="0" err="1">
                <a:solidFill>
                  <a:srgbClr val="333333"/>
                </a:solidFill>
              </a:rPr>
              <a:t>ContestFrame</a:t>
            </a:r>
            <a:r>
              <a:rPr lang="en-US" sz="1800" dirty="0">
                <a:solidFill>
                  <a:srgbClr val="333333"/>
                </a:solidFill>
              </a:rPr>
              <a:t> because we need to capture the data other modules use.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QuestWorlds: After Review</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800" dirty="0">
                <a:solidFill>
                  <a:srgbClr val="64748B"/>
                </a:solidFill>
              </a:rPr>
              <a:t>Applying our criteria</a:t>
            </a:r>
            <a:endParaRPr lang="en-US" sz="1800" dirty="0"/>
          </a:p>
        </p:txBody>
      </p:sp>
      <p:sp>
        <p:nvSpPr>
          <p:cNvPr id="4" name="Text 2"/>
          <p:cNvSpPr/>
          <p:nvPr/>
        </p:nvSpPr>
        <p:spPr>
          <a:xfrm>
            <a:off x="548640" y="1737360"/>
            <a:ext cx="7772400" cy="2011680"/>
          </a:xfrm>
          <a:prstGeom prst="rect">
            <a:avLst/>
          </a:prstGeom>
          <a:noFill/>
          <a:ln/>
        </p:spPr>
        <p:txBody>
          <a:bodyPr wrap="square" rtlCol="0" anchor="ctr"/>
          <a:lstStyle/>
          <a:p>
            <a:pPr marL="0" indent="0">
              <a:spcAft>
                <a:spcPts val="1400"/>
              </a:spcAft>
              <a:buNone/>
            </a:pPr>
            <a:r>
              <a:rPr lang="en-US" sz="1800" dirty="0">
                <a:solidFill>
                  <a:srgbClr val="333333"/>
                </a:solidFill>
              </a:rPr>
              <a:t>Session — hides session lifecycle, player connections</a:t>
            </a:r>
          </a:p>
          <a:p>
            <a:pPr marL="0" indent="0">
              <a:spcAft>
                <a:spcPts val="1400"/>
              </a:spcAft>
              <a:buNone/>
            </a:pPr>
            <a:r>
              <a:rPr lang="en-US" sz="1800" dirty="0">
                <a:solidFill>
                  <a:srgbClr val="333333"/>
                </a:solidFill>
              </a:rPr>
              <a:t>Framing — hides implementation of contest setup</a:t>
            </a:r>
            <a:r>
              <a:rPr lang="en-US" dirty="0">
                <a:solidFill>
                  <a:srgbClr val="333333"/>
                </a:solidFill>
              </a:rPr>
              <a:t>, replaceable (risk: aggregate)</a:t>
            </a:r>
            <a:endParaRPr lang="en-US" sz="1800" dirty="0">
              <a:solidFill>
                <a:srgbClr val="333333"/>
              </a:solidFill>
            </a:endParaRPr>
          </a:p>
          <a:p>
            <a:pPr marL="0" indent="0">
              <a:spcAft>
                <a:spcPts val="1400"/>
              </a:spcAft>
              <a:buNone/>
            </a:pPr>
            <a:r>
              <a:rPr lang="en-US" sz="1800" dirty="0">
                <a:solidFill>
                  <a:srgbClr val="333333"/>
                </a:solidFill>
              </a:rPr>
              <a:t>Resolution — hides dice roll + success calculation (incl. masteries)</a:t>
            </a:r>
          </a:p>
          <a:p>
            <a:pPr marL="0" indent="0">
              <a:spcAft>
                <a:spcPts val="1400"/>
              </a:spcAft>
              <a:buNone/>
            </a:pPr>
            <a:r>
              <a:rPr lang="en-US" sz="1800" dirty="0">
                <a:solidFill>
                  <a:srgbClr val="333333"/>
                </a:solidFill>
              </a:rPr>
              <a:t>Outcome — hides degree → consequences mapping and delivery</a:t>
            </a:r>
            <a:endParaRPr lang="en-US" sz="1800" dirty="0"/>
          </a:p>
        </p:txBody>
      </p:sp>
      <p:sp>
        <p:nvSpPr>
          <p:cNvPr id="5" name="Text 3"/>
          <p:cNvSpPr/>
          <p:nvPr/>
        </p:nvSpPr>
        <p:spPr>
          <a:xfrm>
            <a:off x="548640" y="3931920"/>
            <a:ext cx="7772400" cy="365760"/>
          </a:xfrm>
          <a:prstGeom prst="rect">
            <a:avLst/>
          </a:prstGeom>
          <a:noFill/>
          <a:ln/>
        </p:spPr>
        <p:txBody>
          <a:bodyPr wrap="square" rtlCol="0" anchor="ctr"/>
          <a:lstStyle/>
          <a:p>
            <a:pPr marL="0" indent="0">
              <a:buNone/>
            </a:pPr>
            <a:r>
              <a:rPr lang="en-US" sz="1400" i="1" dirty="0">
                <a:solidFill>
                  <a:srgbClr val="64748B"/>
                </a:solidFill>
              </a:rPr>
              <a:t>Reference: QuestWorlds Contests flowchart</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1">
    <p:bg>
      <p:bgPr>
        <a:solidFill>
          <a:srgbClr val="2980B9"/>
        </a:solidFill>
        <a:effectLst/>
      </p:bgPr>
    </p:bg>
    <p:spTree>
      <p:nvGrpSpPr>
        <p:cNvPr id="1" name=""/>
        <p:cNvGrpSpPr/>
        <p:nvPr/>
      </p:nvGrpSpPr>
      <p:grpSpPr>
        <a:xfrm>
          <a:off x="0" y="0"/>
          <a:ext cx="0" cy="0"/>
          <a:chOff x="0" y="0"/>
          <a:chExt cx="0" cy="0"/>
        </a:xfrm>
      </p:grpSpPr>
      <p:sp>
        <p:nvSpPr>
          <p:cNvPr id="2" name="Text 0"/>
          <p:cNvSpPr/>
          <p:nvPr/>
        </p:nvSpPr>
        <p:spPr>
          <a:xfrm>
            <a:off x="457200" y="2286000"/>
            <a:ext cx="8229600" cy="1097280"/>
          </a:xfrm>
          <a:prstGeom prst="rect">
            <a:avLst/>
          </a:prstGeom>
          <a:noFill/>
          <a:ln/>
        </p:spPr>
        <p:txBody>
          <a:bodyPr wrap="square" rtlCol="0" anchor="ctr"/>
          <a:lstStyle/>
          <a:p>
            <a:pPr marL="0" indent="0">
              <a:buNone/>
            </a:pPr>
            <a:r>
              <a:rPr lang="en-US" sz="4400" b="1" dirty="0">
                <a:solidFill>
                  <a:srgbClr val="FFFFFF"/>
                </a:solidFill>
              </a:rPr>
              <a:t>Organizing Modules</a:t>
            </a:r>
            <a:endParaRPr lang="en-US" sz="4400" dirty="0"/>
          </a:p>
        </p:txBody>
      </p:sp>
      <p:sp>
        <p:nvSpPr>
          <p:cNvPr id="3" name="Text 1"/>
          <p:cNvSpPr/>
          <p:nvPr/>
        </p:nvSpPr>
        <p:spPr>
          <a:xfrm>
            <a:off x="457200" y="3383280"/>
            <a:ext cx="8229600" cy="731520"/>
          </a:xfrm>
          <a:prstGeom prst="rect">
            <a:avLst/>
          </a:prstGeom>
          <a:noFill/>
          <a:ln/>
        </p:spPr>
        <p:txBody>
          <a:bodyPr wrap="square" rtlCol="0" anchor="ctr"/>
          <a:lstStyle/>
          <a:p>
            <a:pPr marL="0" indent="0">
              <a:buNone/>
            </a:pPr>
            <a:r>
              <a:rPr lang="en-US" sz="2000" dirty="0">
                <a:solidFill>
                  <a:srgbClr val="FFFFFF"/>
                </a:solidFill>
              </a:rPr>
              <a:t>How do we structure modular applications</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C8D38A-A0A0-13C5-68FB-AC8AF95D23D2}"/>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Organizing Modules</a:t>
            </a:r>
            <a:endParaRPr lang="en-US" sz="4000" dirty="0"/>
          </a:p>
        </p:txBody>
      </p:sp>
      <p:sp>
        <p:nvSpPr>
          <p:cNvPr id="3" name="Text 1">
            <a:extLst>
              <a:ext uri="{FF2B5EF4-FFF2-40B4-BE49-F238E27FC236}">
                <a16:creationId xmlns:a16="http://schemas.microsoft.com/office/drawing/2014/main" id="{359B70E6-4787-45EF-2B18-CD7D7203EB56}"/>
              </a:ext>
            </a:extLst>
          </p:cNvPr>
          <p:cNvSpPr/>
          <p:nvPr/>
        </p:nvSpPr>
        <p:spPr>
          <a:xfrm>
            <a:off x="548640" y="1280160"/>
            <a:ext cx="7772400" cy="548640"/>
          </a:xfrm>
          <a:prstGeom prst="rect">
            <a:avLst/>
          </a:prstGeom>
          <a:noFill/>
          <a:ln/>
        </p:spPr>
        <p:txBody>
          <a:bodyPr wrap="square" rtlCol="0" anchor="ctr"/>
          <a:lstStyle/>
          <a:p>
            <a:pPr marL="0" indent="0">
              <a:buNone/>
            </a:pPr>
            <a:r>
              <a:rPr lang="en-US" sz="1800" dirty="0">
                <a:solidFill>
                  <a:srgbClr val="333333"/>
                </a:solidFill>
              </a:rPr>
              <a:t>Multiple principles, different properties over “best” or ”worst”</a:t>
            </a:r>
            <a:endParaRPr lang="en-US" sz="1800" dirty="0"/>
          </a:p>
        </p:txBody>
      </p:sp>
      <p:sp>
        <p:nvSpPr>
          <p:cNvPr id="5" name="TextBox 4">
            <a:extLst>
              <a:ext uri="{FF2B5EF4-FFF2-40B4-BE49-F238E27FC236}">
                <a16:creationId xmlns:a16="http://schemas.microsoft.com/office/drawing/2014/main" id="{F47E60D2-C42F-A220-05ED-B1339960FC17}"/>
              </a:ext>
            </a:extLst>
          </p:cNvPr>
          <p:cNvSpPr txBox="1"/>
          <p:nvPr/>
        </p:nvSpPr>
        <p:spPr>
          <a:xfrm>
            <a:off x="548640" y="2174906"/>
            <a:ext cx="4572000" cy="369332"/>
          </a:xfrm>
          <a:prstGeom prst="rect">
            <a:avLst/>
          </a:prstGeom>
          <a:noFill/>
        </p:spPr>
        <p:txBody>
          <a:bodyPr wrap="square">
            <a:spAutoFit/>
          </a:bodyPr>
          <a:lstStyle/>
          <a:p>
            <a:pPr marL="285750" indent="-285750">
              <a:buFont typeface="Arial" panose="020B0604020202020204" pitchFamily="34" charset="0"/>
              <a:buChar char="•"/>
            </a:pPr>
            <a:r>
              <a:rPr lang="en-US" dirty="0"/>
              <a:t>Technical – Organize by their technical role</a:t>
            </a:r>
          </a:p>
        </p:txBody>
      </p:sp>
      <p:sp>
        <p:nvSpPr>
          <p:cNvPr id="6" name="TextBox 5">
            <a:extLst>
              <a:ext uri="{FF2B5EF4-FFF2-40B4-BE49-F238E27FC236}">
                <a16:creationId xmlns:a16="http://schemas.microsoft.com/office/drawing/2014/main" id="{CFFB1509-6AF1-6043-04C4-CDF8A2DB2A6F}"/>
              </a:ext>
            </a:extLst>
          </p:cNvPr>
          <p:cNvSpPr txBox="1"/>
          <p:nvPr/>
        </p:nvSpPr>
        <p:spPr>
          <a:xfrm>
            <a:off x="548640" y="3168133"/>
            <a:ext cx="4572000" cy="369332"/>
          </a:xfrm>
          <a:prstGeom prst="rect">
            <a:avLst/>
          </a:prstGeom>
          <a:noFill/>
        </p:spPr>
        <p:txBody>
          <a:bodyPr wrap="square">
            <a:spAutoFit/>
          </a:bodyPr>
          <a:lstStyle/>
          <a:p>
            <a:pPr marL="285750" indent="-285750">
              <a:buFont typeface="Arial" panose="020B0604020202020204" pitchFamily="34" charset="0"/>
              <a:buChar char="•"/>
            </a:pPr>
            <a:r>
              <a:rPr lang="en-US" dirty="0"/>
              <a:t>Domain – Organize by their domain role</a:t>
            </a:r>
          </a:p>
        </p:txBody>
      </p:sp>
      <p:sp>
        <p:nvSpPr>
          <p:cNvPr id="7" name="TextBox 6">
            <a:extLst>
              <a:ext uri="{FF2B5EF4-FFF2-40B4-BE49-F238E27FC236}">
                <a16:creationId xmlns:a16="http://schemas.microsoft.com/office/drawing/2014/main" id="{81F05C24-5CBC-E25E-8DF2-234D486F3CFF}"/>
              </a:ext>
            </a:extLst>
          </p:cNvPr>
          <p:cNvSpPr txBox="1"/>
          <p:nvPr/>
        </p:nvSpPr>
        <p:spPr>
          <a:xfrm>
            <a:off x="548640" y="2671519"/>
            <a:ext cx="4572000" cy="369332"/>
          </a:xfrm>
          <a:prstGeom prst="rect">
            <a:avLst/>
          </a:prstGeom>
          <a:noFill/>
        </p:spPr>
        <p:txBody>
          <a:bodyPr wrap="square">
            <a:spAutoFit/>
          </a:bodyPr>
          <a:lstStyle/>
          <a:p>
            <a:pPr marL="285750" indent="-285750">
              <a:buFont typeface="Arial" panose="020B0604020202020204" pitchFamily="34" charset="0"/>
              <a:buChar char="•"/>
            </a:pPr>
            <a:r>
              <a:rPr lang="en-US" dirty="0"/>
              <a:t>Flow – Organize by the flow of data</a:t>
            </a:r>
          </a:p>
        </p:txBody>
      </p:sp>
    </p:spTree>
    <p:extLst>
      <p:ext uri="{BB962C8B-B14F-4D97-AF65-F5344CB8AC3E}">
        <p14:creationId xmlns:p14="http://schemas.microsoft.com/office/powerpoint/2010/main" val="8672817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Technical Architectures</a:t>
            </a:r>
            <a:endParaRPr lang="en-US" sz="4000" dirty="0"/>
          </a:p>
        </p:txBody>
      </p:sp>
      <p:sp>
        <p:nvSpPr>
          <p:cNvPr id="3" name="Text 1"/>
          <p:cNvSpPr/>
          <p:nvPr/>
        </p:nvSpPr>
        <p:spPr>
          <a:xfrm>
            <a:off x="548640" y="1280160"/>
            <a:ext cx="7772400" cy="548640"/>
          </a:xfrm>
          <a:prstGeom prst="rect">
            <a:avLst/>
          </a:prstGeom>
          <a:noFill/>
          <a:ln/>
        </p:spPr>
        <p:txBody>
          <a:bodyPr wrap="square" rtlCol="0" anchor="ctr"/>
          <a:lstStyle/>
          <a:p>
            <a:pPr marL="0" indent="0">
              <a:buNone/>
            </a:pPr>
            <a:r>
              <a:rPr lang="en-US" sz="1800" dirty="0">
                <a:solidFill>
                  <a:srgbClr val="333333"/>
                </a:solidFill>
              </a:rPr>
              <a:t>Separate technical infrastructure (user interface and data)</a:t>
            </a:r>
            <a:endParaRPr lang="en-US" sz="1800" dirty="0"/>
          </a:p>
        </p:txBody>
      </p:sp>
      <p:sp>
        <p:nvSpPr>
          <p:cNvPr id="4" name="Text 2"/>
          <p:cNvSpPr/>
          <p:nvPr/>
        </p:nvSpPr>
        <p:spPr>
          <a:xfrm>
            <a:off x="548640" y="2011680"/>
            <a:ext cx="7772400" cy="1280160"/>
          </a:xfrm>
          <a:prstGeom prst="rect">
            <a:avLst/>
          </a:prstGeom>
          <a:noFill/>
          <a:ln/>
        </p:spPr>
        <p:txBody>
          <a:bodyPr wrap="square" rtlCol="0" anchor="ctr"/>
          <a:lstStyle/>
          <a:p>
            <a:pPr marL="342900" indent="-342900">
              <a:spcAft>
                <a:spcPts val="1600"/>
              </a:spcAft>
              <a:buFont typeface="Arial" panose="020B0604020202020204" pitchFamily="34" charset="0"/>
              <a:buChar char="•"/>
            </a:pPr>
            <a:r>
              <a:rPr lang="en-US" sz="2000" dirty="0">
                <a:solidFill>
                  <a:srgbClr val="333333"/>
                </a:solidFill>
              </a:rPr>
              <a:t>Layers (User, Service, Domain, Infrastructure)</a:t>
            </a:r>
          </a:p>
          <a:p>
            <a:pPr marL="342900" indent="-342900">
              <a:spcAft>
                <a:spcPts val="1600"/>
              </a:spcAft>
              <a:buFont typeface="Arial" panose="020B0604020202020204" pitchFamily="34" charset="0"/>
              <a:buChar char="•"/>
            </a:pPr>
            <a:r>
              <a:rPr lang="en-US" sz="2000" dirty="0">
                <a:solidFill>
                  <a:srgbClr val="333333"/>
                </a:solidFill>
              </a:rPr>
              <a:t>Ports &amp; Adapters (Adapter, Port, Application)</a:t>
            </a:r>
            <a:endParaRPr lang="en-US" sz="2000" dirty="0"/>
          </a:p>
        </p:txBody>
      </p:sp>
      <p:sp>
        <p:nvSpPr>
          <p:cNvPr id="5" name="Shape 4">
            <a:extLst>
              <a:ext uri="{FF2B5EF4-FFF2-40B4-BE49-F238E27FC236}">
                <a16:creationId xmlns:a16="http://schemas.microsoft.com/office/drawing/2014/main" id="{30EB24BC-1EE4-929C-0D78-11632B16475D}"/>
              </a:ext>
            </a:extLst>
          </p:cNvPr>
          <p:cNvSpPr/>
          <p:nvPr/>
        </p:nvSpPr>
        <p:spPr>
          <a:xfrm>
            <a:off x="640080" y="4572001"/>
            <a:ext cx="8046720" cy="914400"/>
          </a:xfrm>
          <a:prstGeom prst="rect">
            <a:avLst/>
          </a:prstGeom>
          <a:solidFill>
            <a:srgbClr val="F1F5F9"/>
          </a:solidFill>
          <a:ln/>
        </p:spPr>
        <p:txBody>
          <a:bodyPr/>
          <a:lstStyle/>
          <a:p>
            <a:endParaRPr lang="en-US"/>
          </a:p>
        </p:txBody>
      </p:sp>
      <p:sp>
        <p:nvSpPr>
          <p:cNvPr id="6" name="Text 5">
            <a:extLst>
              <a:ext uri="{FF2B5EF4-FFF2-40B4-BE49-F238E27FC236}">
                <a16:creationId xmlns:a16="http://schemas.microsoft.com/office/drawing/2014/main" id="{BD66D196-DE97-37C6-1940-FDF3ACD8BA5F}"/>
              </a:ext>
            </a:extLst>
          </p:cNvPr>
          <p:cNvSpPr/>
          <p:nvPr/>
        </p:nvSpPr>
        <p:spPr>
          <a:xfrm>
            <a:off x="822960" y="4663441"/>
            <a:ext cx="7680960" cy="731520"/>
          </a:xfrm>
          <a:prstGeom prst="rect">
            <a:avLst/>
          </a:prstGeom>
          <a:noFill/>
          <a:ln/>
        </p:spPr>
        <p:txBody>
          <a:bodyPr wrap="square" rtlCol="0" anchor="ctr"/>
          <a:lstStyle/>
          <a:p>
            <a:pPr marL="0" indent="0">
              <a:buNone/>
            </a:pPr>
            <a:r>
              <a:rPr lang="en-US" sz="1600" dirty="0">
                <a:solidFill>
                  <a:srgbClr val="333333"/>
                </a:solidFill>
              </a:rPr>
              <a:t>In essence: rules about which modules may depend on which other module</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Ports &amp; Adapters (Hexagonal)</a:t>
            </a:r>
            <a:endParaRPr lang="en-US" sz="4000" dirty="0"/>
          </a:p>
        </p:txBody>
      </p:sp>
      <p:sp>
        <p:nvSpPr>
          <p:cNvPr id="3" name="Shape 1"/>
          <p:cNvSpPr/>
          <p:nvPr/>
        </p:nvSpPr>
        <p:spPr>
          <a:xfrm>
            <a:off x="2743200" y="2104171"/>
            <a:ext cx="3657600" cy="2194560"/>
          </a:xfrm>
          <a:prstGeom prst="rect">
            <a:avLst/>
          </a:prstGeom>
          <a:solidFill>
            <a:srgbClr val="2C3E50"/>
          </a:solidFill>
          <a:ln/>
        </p:spPr>
        <p:txBody>
          <a:bodyPr/>
          <a:lstStyle/>
          <a:p>
            <a:endParaRPr lang="en-US"/>
          </a:p>
        </p:txBody>
      </p:sp>
      <p:sp>
        <p:nvSpPr>
          <p:cNvPr id="4" name="Text 2"/>
          <p:cNvSpPr/>
          <p:nvPr/>
        </p:nvSpPr>
        <p:spPr>
          <a:xfrm>
            <a:off x="2743200" y="2835691"/>
            <a:ext cx="3657600" cy="914400"/>
          </a:xfrm>
          <a:prstGeom prst="rect">
            <a:avLst/>
          </a:prstGeom>
          <a:noFill/>
          <a:ln/>
        </p:spPr>
        <p:txBody>
          <a:bodyPr wrap="square" rtlCol="0" anchor="ctr"/>
          <a:lstStyle/>
          <a:p>
            <a:pPr marL="0" indent="0" algn="ctr">
              <a:buNone/>
            </a:pPr>
            <a:r>
              <a:rPr lang="en-US" sz="1800" b="1" dirty="0">
                <a:solidFill>
                  <a:srgbClr val="FFFFFF"/>
                </a:solidFill>
              </a:rPr>
              <a:t>Application</a:t>
            </a:r>
            <a:endParaRPr lang="en-US" sz="1800" dirty="0"/>
          </a:p>
        </p:txBody>
      </p:sp>
      <p:sp>
        <p:nvSpPr>
          <p:cNvPr id="5" name="Shape 3"/>
          <p:cNvSpPr/>
          <p:nvPr/>
        </p:nvSpPr>
        <p:spPr>
          <a:xfrm>
            <a:off x="457200" y="2287051"/>
            <a:ext cx="1097280" cy="548640"/>
          </a:xfrm>
          <a:prstGeom prst="roundRect">
            <a:avLst/>
          </a:prstGeom>
          <a:solidFill>
            <a:srgbClr val="2980B9"/>
          </a:solidFill>
          <a:ln/>
        </p:spPr>
        <p:txBody>
          <a:bodyPr/>
          <a:lstStyle/>
          <a:p>
            <a:endParaRPr lang="en-US"/>
          </a:p>
        </p:txBody>
      </p:sp>
      <p:sp>
        <p:nvSpPr>
          <p:cNvPr id="6" name="Text 4"/>
          <p:cNvSpPr/>
          <p:nvPr/>
        </p:nvSpPr>
        <p:spPr>
          <a:xfrm>
            <a:off x="457200" y="2287051"/>
            <a:ext cx="1097280" cy="548640"/>
          </a:xfrm>
          <a:prstGeom prst="rect">
            <a:avLst/>
          </a:prstGeom>
          <a:noFill/>
          <a:ln/>
        </p:spPr>
        <p:txBody>
          <a:bodyPr wrap="square" rtlCol="0" anchor="ctr"/>
          <a:lstStyle/>
          <a:p>
            <a:pPr marL="0" indent="0" algn="ctr">
              <a:buNone/>
            </a:pPr>
            <a:r>
              <a:rPr lang="en-US" sz="1200" dirty="0">
                <a:solidFill>
                  <a:srgbClr val="FFFFFF"/>
                </a:solidFill>
              </a:rPr>
              <a:t>HTTP</a:t>
            </a:r>
            <a:endParaRPr lang="en-US" sz="1200" dirty="0"/>
          </a:p>
        </p:txBody>
      </p:sp>
      <p:sp>
        <p:nvSpPr>
          <p:cNvPr id="7" name="Text 5"/>
          <p:cNvSpPr/>
          <p:nvPr/>
        </p:nvSpPr>
        <p:spPr>
          <a:xfrm>
            <a:off x="1645920" y="2287051"/>
            <a:ext cx="36576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8" name="Shape 6"/>
          <p:cNvSpPr/>
          <p:nvPr/>
        </p:nvSpPr>
        <p:spPr>
          <a:xfrm>
            <a:off x="2103120" y="2287051"/>
            <a:ext cx="548640" cy="548640"/>
          </a:xfrm>
          <a:prstGeom prst="rect">
            <a:avLst/>
          </a:prstGeom>
          <a:solidFill>
            <a:srgbClr val="F1F5F9"/>
          </a:solidFill>
          <a:ln/>
        </p:spPr>
        <p:txBody>
          <a:bodyPr/>
          <a:lstStyle/>
          <a:p>
            <a:endParaRPr lang="en-US"/>
          </a:p>
        </p:txBody>
      </p:sp>
      <p:sp>
        <p:nvSpPr>
          <p:cNvPr id="9" name="Text 7"/>
          <p:cNvSpPr/>
          <p:nvPr/>
        </p:nvSpPr>
        <p:spPr>
          <a:xfrm>
            <a:off x="2103120" y="2287051"/>
            <a:ext cx="548640" cy="548640"/>
          </a:xfrm>
          <a:prstGeom prst="rect">
            <a:avLst/>
          </a:prstGeom>
          <a:noFill/>
          <a:ln/>
        </p:spPr>
        <p:txBody>
          <a:bodyPr wrap="square" rtlCol="0" anchor="ctr"/>
          <a:lstStyle/>
          <a:p>
            <a:pPr marL="0" indent="0" algn="ctr">
              <a:buNone/>
            </a:pPr>
            <a:r>
              <a:rPr lang="en-US" sz="1200" dirty="0">
                <a:solidFill>
                  <a:srgbClr val="000000"/>
                </a:solidFill>
              </a:rPr>
              <a:t>P</a:t>
            </a:r>
            <a:endParaRPr lang="en-US" sz="1200" dirty="0"/>
          </a:p>
        </p:txBody>
      </p:sp>
      <p:sp>
        <p:nvSpPr>
          <p:cNvPr id="10" name="Shape 8"/>
          <p:cNvSpPr/>
          <p:nvPr/>
        </p:nvSpPr>
        <p:spPr>
          <a:xfrm>
            <a:off x="457200" y="3567211"/>
            <a:ext cx="1097280" cy="548640"/>
          </a:xfrm>
          <a:prstGeom prst="roundRect">
            <a:avLst/>
          </a:prstGeom>
          <a:solidFill>
            <a:srgbClr val="2980B9"/>
          </a:solidFill>
          <a:ln/>
        </p:spPr>
        <p:txBody>
          <a:bodyPr/>
          <a:lstStyle/>
          <a:p>
            <a:endParaRPr lang="en-US"/>
          </a:p>
        </p:txBody>
      </p:sp>
      <p:sp>
        <p:nvSpPr>
          <p:cNvPr id="11" name="Text 9"/>
          <p:cNvSpPr/>
          <p:nvPr/>
        </p:nvSpPr>
        <p:spPr>
          <a:xfrm>
            <a:off x="457200" y="3567211"/>
            <a:ext cx="1097280" cy="548640"/>
          </a:xfrm>
          <a:prstGeom prst="rect">
            <a:avLst/>
          </a:prstGeom>
          <a:noFill/>
          <a:ln/>
        </p:spPr>
        <p:txBody>
          <a:bodyPr wrap="square" rtlCol="0" anchor="ctr"/>
          <a:lstStyle/>
          <a:p>
            <a:pPr marL="0" indent="0" algn="ctr">
              <a:buNone/>
            </a:pPr>
            <a:r>
              <a:rPr lang="en-US" sz="1200" dirty="0">
                <a:solidFill>
                  <a:srgbClr val="FFFFFF"/>
                </a:solidFill>
              </a:rPr>
              <a:t>CLI</a:t>
            </a:r>
            <a:endParaRPr lang="en-US" sz="1200" dirty="0"/>
          </a:p>
        </p:txBody>
      </p:sp>
      <p:sp>
        <p:nvSpPr>
          <p:cNvPr id="12" name="Text 10"/>
          <p:cNvSpPr/>
          <p:nvPr/>
        </p:nvSpPr>
        <p:spPr>
          <a:xfrm>
            <a:off x="1645920" y="3567211"/>
            <a:ext cx="36576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3" name="Shape 11"/>
          <p:cNvSpPr/>
          <p:nvPr/>
        </p:nvSpPr>
        <p:spPr>
          <a:xfrm>
            <a:off x="2103120" y="3567211"/>
            <a:ext cx="548640" cy="548640"/>
          </a:xfrm>
          <a:prstGeom prst="rect">
            <a:avLst/>
          </a:prstGeom>
          <a:solidFill>
            <a:srgbClr val="F1F5F9"/>
          </a:solidFill>
          <a:ln/>
        </p:spPr>
        <p:txBody>
          <a:bodyPr/>
          <a:lstStyle/>
          <a:p>
            <a:endParaRPr lang="en-US"/>
          </a:p>
        </p:txBody>
      </p:sp>
      <p:sp>
        <p:nvSpPr>
          <p:cNvPr id="14" name="Text 12"/>
          <p:cNvSpPr/>
          <p:nvPr/>
        </p:nvSpPr>
        <p:spPr>
          <a:xfrm>
            <a:off x="2103120" y="3567211"/>
            <a:ext cx="548640" cy="548640"/>
          </a:xfrm>
          <a:prstGeom prst="rect">
            <a:avLst/>
          </a:prstGeom>
          <a:noFill/>
          <a:ln/>
        </p:spPr>
        <p:txBody>
          <a:bodyPr wrap="square" rtlCol="0" anchor="ctr"/>
          <a:lstStyle/>
          <a:p>
            <a:pPr marL="0" indent="0" algn="ctr">
              <a:buNone/>
            </a:pPr>
            <a:r>
              <a:rPr lang="en-US" sz="1200" dirty="0">
                <a:solidFill>
                  <a:srgbClr val="000000"/>
                </a:solidFill>
              </a:rPr>
              <a:t>P</a:t>
            </a:r>
            <a:endParaRPr lang="en-US" sz="1200" dirty="0"/>
          </a:p>
        </p:txBody>
      </p:sp>
      <p:sp>
        <p:nvSpPr>
          <p:cNvPr id="15" name="Shape 13"/>
          <p:cNvSpPr/>
          <p:nvPr/>
        </p:nvSpPr>
        <p:spPr>
          <a:xfrm>
            <a:off x="6492240" y="2287051"/>
            <a:ext cx="548640" cy="548640"/>
          </a:xfrm>
          <a:prstGeom prst="rect">
            <a:avLst/>
          </a:prstGeom>
          <a:solidFill>
            <a:srgbClr val="F1F5F9"/>
          </a:solidFill>
          <a:ln/>
        </p:spPr>
        <p:txBody>
          <a:bodyPr/>
          <a:lstStyle/>
          <a:p>
            <a:endParaRPr lang="en-US"/>
          </a:p>
        </p:txBody>
      </p:sp>
      <p:sp>
        <p:nvSpPr>
          <p:cNvPr id="16" name="Text 14"/>
          <p:cNvSpPr/>
          <p:nvPr/>
        </p:nvSpPr>
        <p:spPr>
          <a:xfrm>
            <a:off x="6492240" y="2287051"/>
            <a:ext cx="548640" cy="548640"/>
          </a:xfrm>
          <a:prstGeom prst="rect">
            <a:avLst/>
          </a:prstGeom>
          <a:noFill/>
          <a:ln/>
        </p:spPr>
        <p:txBody>
          <a:bodyPr wrap="square" rtlCol="0" anchor="ctr"/>
          <a:lstStyle/>
          <a:p>
            <a:pPr marL="0" indent="0" algn="ctr">
              <a:buNone/>
            </a:pPr>
            <a:r>
              <a:rPr lang="en-US" sz="1200" dirty="0">
                <a:solidFill>
                  <a:srgbClr val="000000"/>
                </a:solidFill>
              </a:rPr>
              <a:t>P</a:t>
            </a:r>
            <a:endParaRPr lang="en-US" sz="1200" dirty="0"/>
          </a:p>
        </p:txBody>
      </p:sp>
      <p:sp>
        <p:nvSpPr>
          <p:cNvPr id="17" name="Text 15"/>
          <p:cNvSpPr/>
          <p:nvPr/>
        </p:nvSpPr>
        <p:spPr>
          <a:xfrm>
            <a:off x="7132320" y="2287051"/>
            <a:ext cx="36576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Shape 16"/>
          <p:cNvSpPr/>
          <p:nvPr/>
        </p:nvSpPr>
        <p:spPr>
          <a:xfrm>
            <a:off x="7589520" y="2287051"/>
            <a:ext cx="1097280" cy="548640"/>
          </a:xfrm>
          <a:prstGeom prst="roundRect">
            <a:avLst/>
          </a:prstGeom>
          <a:solidFill>
            <a:srgbClr val="2980B9"/>
          </a:solidFill>
          <a:ln/>
        </p:spPr>
        <p:txBody>
          <a:bodyPr/>
          <a:lstStyle/>
          <a:p>
            <a:endParaRPr lang="en-US"/>
          </a:p>
        </p:txBody>
      </p:sp>
      <p:sp>
        <p:nvSpPr>
          <p:cNvPr id="19" name="Text 17"/>
          <p:cNvSpPr/>
          <p:nvPr/>
        </p:nvSpPr>
        <p:spPr>
          <a:xfrm>
            <a:off x="7589520" y="2287051"/>
            <a:ext cx="1097280" cy="548640"/>
          </a:xfrm>
          <a:prstGeom prst="rect">
            <a:avLst/>
          </a:prstGeom>
          <a:noFill/>
          <a:ln/>
        </p:spPr>
        <p:txBody>
          <a:bodyPr wrap="square" rtlCol="0" anchor="ctr"/>
          <a:lstStyle/>
          <a:p>
            <a:pPr marL="0" indent="0" algn="ctr">
              <a:buNone/>
            </a:pPr>
            <a:r>
              <a:rPr lang="en-US" sz="1200" dirty="0">
                <a:solidFill>
                  <a:srgbClr val="FFFFFF"/>
                </a:solidFill>
              </a:rPr>
              <a:t>DB</a:t>
            </a:r>
            <a:endParaRPr lang="en-US" sz="1200" dirty="0"/>
          </a:p>
        </p:txBody>
      </p:sp>
      <p:sp>
        <p:nvSpPr>
          <p:cNvPr id="20" name="Shape 18"/>
          <p:cNvSpPr/>
          <p:nvPr/>
        </p:nvSpPr>
        <p:spPr>
          <a:xfrm>
            <a:off x="6492240" y="3567211"/>
            <a:ext cx="548640" cy="548640"/>
          </a:xfrm>
          <a:prstGeom prst="rect">
            <a:avLst/>
          </a:prstGeom>
          <a:solidFill>
            <a:srgbClr val="F1F5F9"/>
          </a:solidFill>
          <a:ln/>
        </p:spPr>
        <p:txBody>
          <a:bodyPr/>
          <a:lstStyle/>
          <a:p>
            <a:endParaRPr lang="en-US"/>
          </a:p>
        </p:txBody>
      </p:sp>
      <p:sp>
        <p:nvSpPr>
          <p:cNvPr id="21" name="Text 19"/>
          <p:cNvSpPr/>
          <p:nvPr/>
        </p:nvSpPr>
        <p:spPr>
          <a:xfrm>
            <a:off x="6492240" y="3567211"/>
            <a:ext cx="548640" cy="548640"/>
          </a:xfrm>
          <a:prstGeom prst="rect">
            <a:avLst/>
          </a:prstGeom>
          <a:noFill/>
          <a:ln/>
        </p:spPr>
        <p:txBody>
          <a:bodyPr wrap="square" rtlCol="0" anchor="ctr"/>
          <a:lstStyle/>
          <a:p>
            <a:pPr marL="0" indent="0" algn="ctr">
              <a:buNone/>
            </a:pPr>
            <a:r>
              <a:rPr lang="en-US" sz="1200" dirty="0">
                <a:solidFill>
                  <a:srgbClr val="000000"/>
                </a:solidFill>
              </a:rPr>
              <a:t>P</a:t>
            </a:r>
            <a:endParaRPr lang="en-US" sz="1200" dirty="0"/>
          </a:p>
        </p:txBody>
      </p:sp>
      <p:sp>
        <p:nvSpPr>
          <p:cNvPr id="22" name="Text 20"/>
          <p:cNvSpPr/>
          <p:nvPr/>
        </p:nvSpPr>
        <p:spPr>
          <a:xfrm>
            <a:off x="7132320" y="3567211"/>
            <a:ext cx="36576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3" name="Shape 21"/>
          <p:cNvSpPr/>
          <p:nvPr/>
        </p:nvSpPr>
        <p:spPr>
          <a:xfrm>
            <a:off x="7589520" y="3567211"/>
            <a:ext cx="1097280" cy="548640"/>
          </a:xfrm>
          <a:prstGeom prst="roundRect">
            <a:avLst/>
          </a:prstGeom>
          <a:solidFill>
            <a:srgbClr val="2980B9"/>
          </a:solidFill>
          <a:ln/>
        </p:spPr>
        <p:txBody>
          <a:bodyPr/>
          <a:lstStyle/>
          <a:p>
            <a:endParaRPr lang="en-US"/>
          </a:p>
        </p:txBody>
      </p:sp>
      <p:sp>
        <p:nvSpPr>
          <p:cNvPr id="24" name="Text 22"/>
          <p:cNvSpPr/>
          <p:nvPr/>
        </p:nvSpPr>
        <p:spPr>
          <a:xfrm>
            <a:off x="7589520" y="3567211"/>
            <a:ext cx="1097280" cy="548640"/>
          </a:xfrm>
          <a:prstGeom prst="rect">
            <a:avLst/>
          </a:prstGeom>
          <a:noFill/>
          <a:ln/>
        </p:spPr>
        <p:txBody>
          <a:bodyPr wrap="square" rtlCol="0" anchor="ctr"/>
          <a:lstStyle/>
          <a:p>
            <a:pPr marL="0" indent="0" algn="ctr">
              <a:buNone/>
            </a:pPr>
            <a:r>
              <a:rPr lang="en-US" sz="1200" dirty="0">
                <a:solidFill>
                  <a:srgbClr val="FFFFFF"/>
                </a:solidFill>
              </a:rPr>
              <a:t>Queue</a:t>
            </a:r>
            <a:endParaRPr lang="en-US" sz="1200" dirty="0"/>
          </a:p>
        </p:txBody>
      </p:sp>
      <p:sp>
        <p:nvSpPr>
          <p:cNvPr id="25" name="Text 23"/>
          <p:cNvSpPr/>
          <p:nvPr/>
        </p:nvSpPr>
        <p:spPr>
          <a:xfrm>
            <a:off x="457200" y="4573051"/>
            <a:ext cx="8229600" cy="457200"/>
          </a:xfrm>
          <a:prstGeom prst="rect">
            <a:avLst/>
          </a:prstGeom>
          <a:noFill/>
          <a:ln/>
        </p:spPr>
        <p:txBody>
          <a:bodyPr wrap="square" rtlCol="0" anchor="ctr"/>
          <a:lstStyle/>
          <a:p>
            <a:pPr marL="0" indent="0" algn="ctr">
              <a:buNone/>
            </a:pPr>
            <a:r>
              <a:rPr lang="en-US" sz="1600" dirty="0">
                <a:solidFill>
                  <a:srgbClr val="333333"/>
                </a:solidFill>
              </a:rPr>
              <a:t>Ports = form sockets you can plug into    Adapters = plug in to ports</a:t>
            </a:r>
            <a:endParaRPr lang="en-US" sz="1600" dirty="0"/>
          </a:p>
        </p:txBody>
      </p:sp>
      <p:sp>
        <p:nvSpPr>
          <p:cNvPr id="26" name="Text 23">
            <a:extLst>
              <a:ext uri="{FF2B5EF4-FFF2-40B4-BE49-F238E27FC236}">
                <a16:creationId xmlns:a16="http://schemas.microsoft.com/office/drawing/2014/main" id="{4C7551D5-D889-3E3A-F551-BE7F95FD5B2E}"/>
              </a:ext>
            </a:extLst>
          </p:cNvPr>
          <p:cNvSpPr/>
          <p:nvPr/>
        </p:nvSpPr>
        <p:spPr>
          <a:xfrm>
            <a:off x="557048" y="5075971"/>
            <a:ext cx="8229600" cy="457200"/>
          </a:xfrm>
          <a:prstGeom prst="rect">
            <a:avLst/>
          </a:prstGeom>
          <a:noFill/>
          <a:ln/>
        </p:spPr>
        <p:txBody>
          <a:bodyPr wrap="square" rtlCol="0" anchor="ctr"/>
          <a:lstStyle/>
          <a:p>
            <a:pPr marL="0" indent="0" algn="ctr">
              <a:buNone/>
            </a:pPr>
            <a:r>
              <a:rPr lang="en-US" sz="1600" dirty="0">
                <a:solidFill>
                  <a:srgbClr val="333333"/>
                </a:solidFill>
              </a:rPr>
              <a:t>Driving = activates our domain    Driven = activated by our domain</a:t>
            </a:r>
            <a:endParaRPr lang="en-US" sz="1600" dirty="0"/>
          </a:p>
        </p:txBody>
      </p:sp>
      <p:sp>
        <p:nvSpPr>
          <p:cNvPr id="27" name="Text 23">
            <a:extLst>
              <a:ext uri="{FF2B5EF4-FFF2-40B4-BE49-F238E27FC236}">
                <a16:creationId xmlns:a16="http://schemas.microsoft.com/office/drawing/2014/main" id="{E2CBB7AE-2DBA-56B5-4DBF-10A21209A256}"/>
              </a:ext>
            </a:extLst>
          </p:cNvPr>
          <p:cNvSpPr/>
          <p:nvPr/>
        </p:nvSpPr>
        <p:spPr>
          <a:xfrm>
            <a:off x="557048" y="5578891"/>
            <a:ext cx="8229600" cy="763577"/>
          </a:xfrm>
          <a:prstGeom prst="rect">
            <a:avLst/>
          </a:prstGeom>
          <a:noFill/>
          <a:ln/>
        </p:spPr>
        <p:txBody>
          <a:bodyPr wrap="square" rtlCol="0" anchor="ctr"/>
          <a:lstStyle/>
          <a:p>
            <a:pPr algn="ctr"/>
            <a:r>
              <a:rPr lang="en-US" sz="1600" b="1" dirty="0">
                <a:solidFill>
                  <a:srgbClr val="333333"/>
                </a:solidFill>
              </a:rPr>
              <a:t>Driven Adapters = Modules</a:t>
            </a:r>
            <a:r>
              <a:rPr lang="en-US" sz="1600" dirty="0">
                <a:solidFill>
                  <a:srgbClr val="333333"/>
                </a:solidFill>
              </a:rPr>
              <a:t>, </a:t>
            </a:r>
            <a:r>
              <a:rPr lang="en-US" sz="1600" b="1" dirty="0">
                <a:solidFill>
                  <a:srgbClr val="333333"/>
                </a:solidFill>
              </a:rPr>
              <a:t>Ports</a:t>
            </a:r>
            <a:r>
              <a:rPr lang="en-US" sz="1600" dirty="0">
                <a:solidFill>
                  <a:srgbClr val="333333"/>
                </a:solidFill>
              </a:rPr>
              <a:t> </a:t>
            </a:r>
            <a:r>
              <a:rPr lang="en-US" sz="1600" i="1" dirty="0">
                <a:solidFill>
                  <a:srgbClr val="333333"/>
                </a:solidFill>
              </a:rPr>
              <a:t>façade</a:t>
            </a:r>
            <a:r>
              <a:rPr lang="en-US" sz="1600" dirty="0">
                <a:solidFill>
                  <a:srgbClr val="333333"/>
                </a:solidFill>
              </a:rPr>
              <a:t> to </a:t>
            </a:r>
            <a:r>
              <a:rPr lang="en-US" sz="1600" b="1" dirty="0">
                <a:solidFill>
                  <a:srgbClr val="333333"/>
                </a:solidFill>
              </a:rPr>
              <a:t>modules</a:t>
            </a:r>
            <a:br>
              <a:rPr lang="en-US" sz="1600" dirty="0">
                <a:solidFill>
                  <a:srgbClr val="333333"/>
                </a:solidFill>
              </a:rPr>
            </a:br>
            <a:r>
              <a:rPr lang="en-US" sz="1600" b="1" dirty="0">
                <a:solidFill>
                  <a:srgbClr val="333333"/>
                </a:solidFill>
              </a:rPr>
              <a:t>Application = One to Many Modules</a:t>
            </a:r>
            <a:r>
              <a:rPr lang="en-US" sz="1600" dirty="0">
                <a:solidFill>
                  <a:srgbClr val="333333"/>
                </a:solidFill>
              </a:rPr>
              <a:t> (see later), </a:t>
            </a:r>
            <a:r>
              <a:rPr lang="en-US" sz="1600" b="1" dirty="0">
                <a:solidFill>
                  <a:srgbClr val="333333"/>
                </a:solidFill>
              </a:rPr>
              <a:t>Driven</a:t>
            </a:r>
            <a:r>
              <a:rPr lang="en-US" sz="1600" dirty="0">
                <a:solidFill>
                  <a:srgbClr val="333333"/>
                </a:solidFill>
              </a:rPr>
              <a:t> </a:t>
            </a:r>
            <a:r>
              <a:rPr lang="en-US" sz="1600" b="1" dirty="0">
                <a:solidFill>
                  <a:srgbClr val="333333"/>
                </a:solidFill>
              </a:rPr>
              <a:t>Ports</a:t>
            </a:r>
            <a:r>
              <a:rPr lang="en-US" sz="1600" dirty="0">
                <a:solidFill>
                  <a:srgbClr val="333333"/>
                </a:solidFill>
              </a:rPr>
              <a:t> </a:t>
            </a:r>
            <a:r>
              <a:rPr lang="en-US" sz="1600" i="1" dirty="0">
                <a:solidFill>
                  <a:srgbClr val="333333"/>
                </a:solidFill>
              </a:rPr>
              <a:t>façade</a:t>
            </a:r>
            <a:r>
              <a:rPr lang="en-US" sz="1600" dirty="0">
                <a:solidFill>
                  <a:srgbClr val="333333"/>
                </a:solidFill>
              </a:rPr>
              <a:t> to </a:t>
            </a:r>
            <a:r>
              <a:rPr lang="en-US" sz="1600" b="1" dirty="0">
                <a:solidFill>
                  <a:srgbClr val="333333"/>
                </a:solidFill>
              </a:rPr>
              <a:t>modules</a:t>
            </a:r>
            <a:r>
              <a:rPr lang="en-US" sz="1600" dirty="0">
                <a:solidFill>
                  <a:srgbClr val="333333"/>
                </a:solidFill>
              </a:rPr>
              <a:t> </a:t>
            </a:r>
          </a:p>
        </p:txBody>
      </p:sp>
      <p:sp>
        <p:nvSpPr>
          <p:cNvPr id="28" name="Text 1">
            <a:extLst>
              <a:ext uri="{FF2B5EF4-FFF2-40B4-BE49-F238E27FC236}">
                <a16:creationId xmlns:a16="http://schemas.microsoft.com/office/drawing/2014/main" id="{185CA9A3-19A0-C416-DA93-43263D0B1F41}"/>
              </a:ext>
            </a:extLst>
          </p:cNvPr>
          <p:cNvSpPr/>
          <p:nvPr/>
        </p:nvSpPr>
        <p:spPr>
          <a:xfrm>
            <a:off x="548640" y="1280160"/>
            <a:ext cx="7772400" cy="548640"/>
          </a:xfrm>
          <a:prstGeom prst="rect">
            <a:avLst/>
          </a:prstGeom>
          <a:noFill/>
          <a:ln/>
        </p:spPr>
        <p:txBody>
          <a:bodyPr wrap="square" rtlCol="0" anchor="ctr"/>
          <a:lstStyle/>
          <a:p>
            <a:pPr marL="0" indent="0">
              <a:buNone/>
            </a:pPr>
            <a:r>
              <a:rPr lang="en-US" dirty="0">
                <a:solidFill>
                  <a:srgbClr val="333333"/>
                </a:solidFill>
              </a:rPr>
              <a:t>Technical architecture partitions are not modules, they contain them </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Flow-Based Architectures</a:t>
            </a:r>
            <a:endParaRPr lang="en-US" sz="4000" dirty="0"/>
          </a:p>
        </p:txBody>
      </p:sp>
      <p:sp>
        <p:nvSpPr>
          <p:cNvPr id="3" name="Text 1"/>
          <p:cNvSpPr/>
          <p:nvPr/>
        </p:nvSpPr>
        <p:spPr>
          <a:xfrm>
            <a:off x="548640" y="1280160"/>
            <a:ext cx="7772400" cy="457200"/>
          </a:xfrm>
          <a:prstGeom prst="rect">
            <a:avLst/>
          </a:prstGeom>
          <a:noFill/>
          <a:ln/>
        </p:spPr>
        <p:txBody>
          <a:bodyPr wrap="square" rtlCol="0" anchor="ctr"/>
          <a:lstStyle/>
          <a:p>
            <a:pPr marL="0" indent="0">
              <a:buNone/>
            </a:pPr>
            <a:r>
              <a:rPr lang="en-US" sz="1800" dirty="0">
                <a:solidFill>
                  <a:srgbClr val="64748B"/>
                </a:solidFill>
              </a:rPr>
              <a:t>Data moves through transformation steps; modules have input/output ports </a:t>
            </a:r>
            <a:endParaRPr lang="en-US" sz="1800" dirty="0"/>
          </a:p>
        </p:txBody>
      </p:sp>
      <p:sp>
        <p:nvSpPr>
          <p:cNvPr id="4" name="Text 2"/>
          <p:cNvSpPr/>
          <p:nvPr/>
        </p:nvSpPr>
        <p:spPr>
          <a:xfrm>
            <a:off x="548640" y="1737360"/>
            <a:ext cx="7772400" cy="457200"/>
          </a:xfrm>
          <a:prstGeom prst="rect">
            <a:avLst/>
          </a:prstGeom>
          <a:noFill/>
          <a:ln/>
        </p:spPr>
        <p:txBody>
          <a:bodyPr wrap="square" rtlCol="0" anchor="ctr"/>
          <a:lstStyle/>
          <a:p>
            <a:pPr marL="0" indent="0">
              <a:buNone/>
            </a:pPr>
            <a:endParaRPr lang="en-US" sz="1800" dirty="0"/>
          </a:p>
        </p:txBody>
      </p:sp>
      <p:sp>
        <p:nvSpPr>
          <p:cNvPr id="5" name="Text 3"/>
          <p:cNvSpPr/>
          <p:nvPr/>
        </p:nvSpPr>
        <p:spPr>
          <a:xfrm>
            <a:off x="548640" y="2377440"/>
            <a:ext cx="7772400" cy="1097280"/>
          </a:xfrm>
          <a:prstGeom prst="rect">
            <a:avLst/>
          </a:prstGeom>
          <a:noFill/>
          <a:ln/>
        </p:spPr>
        <p:txBody>
          <a:bodyPr wrap="square" rtlCol="0" anchor="ctr"/>
          <a:lstStyle/>
          <a:p>
            <a:pPr marL="0" indent="0">
              <a:spcAft>
                <a:spcPts val="1400"/>
              </a:spcAft>
              <a:buNone/>
            </a:pPr>
            <a:r>
              <a:rPr lang="en-US" sz="2000" dirty="0">
                <a:solidFill>
                  <a:srgbClr val="333333"/>
                </a:solidFill>
              </a:rPr>
              <a:t>Pipes &amp; Filters – data source and data sink, operations/filters</a:t>
            </a:r>
          </a:p>
          <a:p>
            <a:pPr marL="0" indent="0">
              <a:spcAft>
                <a:spcPts val="1400"/>
              </a:spcAft>
              <a:buNone/>
            </a:pPr>
            <a:r>
              <a:rPr lang="en-US" sz="2000" dirty="0">
                <a:solidFill>
                  <a:srgbClr val="333333"/>
                </a:solidFill>
              </a:rPr>
              <a:t>Flow Based Programming – data flows between behaviors</a:t>
            </a:r>
            <a:endParaRPr lang="en-US" sz="2000" dirty="0"/>
          </a:p>
        </p:txBody>
      </p:sp>
      <p:sp>
        <p:nvSpPr>
          <p:cNvPr id="6" name="Shape 4">
            <a:extLst>
              <a:ext uri="{FF2B5EF4-FFF2-40B4-BE49-F238E27FC236}">
                <a16:creationId xmlns:a16="http://schemas.microsoft.com/office/drawing/2014/main" id="{6ED38C99-D727-9609-3AF1-861BED6599E1}"/>
              </a:ext>
            </a:extLst>
          </p:cNvPr>
          <p:cNvSpPr/>
          <p:nvPr/>
        </p:nvSpPr>
        <p:spPr>
          <a:xfrm>
            <a:off x="640080" y="4572001"/>
            <a:ext cx="8046720" cy="914400"/>
          </a:xfrm>
          <a:prstGeom prst="rect">
            <a:avLst/>
          </a:prstGeom>
          <a:solidFill>
            <a:srgbClr val="F1F5F9"/>
          </a:solidFill>
          <a:ln/>
        </p:spPr>
        <p:txBody>
          <a:bodyPr/>
          <a:lstStyle/>
          <a:p>
            <a:endParaRPr lang="en-US"/>
          </a:p>
        </p:txBody>
      </p:sp>
      <p:sp>
        <p:nvSpPr>
          <p:cNvPr id="7" name="Text 5">
            <a:extLst>
              <a:ext uri="{FF2B5EF4-FFF2-40B4-BE49-F238E27FC236}">
                <a16:creationId xmlns:a16="http://schemas.microsoft.com/office/drawing/2014/main" id="{772B9D0F-2C0A-FF76-2E4B-6C981C976B81}"/>
              </a:ext>
            </a:extLst>
          </p:cNvPr>
          <p:cNvSpPr/>
          <p:nvPr/>
        </p:nvSpPr>
        <p:spPr>
          <a:xfrm>
            <a:off x="822960" y="4663441"/>
            <a:ext cx="7680960" cy="731520"/>
          </a:xfrm>
          <a:prstGeom prst="rect">
            <a:avLst/>
          </a:prstGeom>
          <a:noFill/>
          <a:ln/>
        </p:spPr>
        <p:txBody>
          <a:bodyPr wrap="square" rtlCol="0" anchor="ctr"/>
          <a:lstStyle/>
          <a:p>
            <a:pPr marL="0" indent="0">
              <a:buNone/>
            </a:pPr>
            <a:r>
              <a:rPr lang="en-US" sz="1600" dirty="0">
                <a:solidFill>
                  <a:srgbClr val="333333"/>
                </a:solidFill>
              </a:rPr>
              <a:t>In essence: modules are behavioral transformations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Pipes &amp; Filters / Flow-based</a:t>
            </a:r>
            <a:endParaRPr lang="en-US" sz="4000" dirty="0"/>
          </a:p>
        </p:txBody>
      </p:sp>
      <p:sp>
        <p:nvSpPr>
          <p:cNvPr id="3" name="Text 1"/>
          <p:cNvSpPr/>
          <p:nvPr/>
        </p:nvSpPr>
        <p:spPr>
          <a:xfrm>
            <a:off x="274320" y="1828800"/>
            <a:ext cx="731520" cy="640080"/>
          </a:xfrm>
          <a:prstGeom prst="rect">
            <a:avLst/>
          </a:prstGeom>
          <a:noFill/>
          <a:ln/>
        </p:spPr>
        <p:txBody>
          <a:bodyPr wrap="square" rtlCol="0" anchor="ctr"/>
          <a:lstStyle/>
          <a:p>
            <a:pPr marL="0" indent="0" algn="ctr">
              <a:buNone/>
            </a:pPr>
            <a:r>
              <a:rPr lang="en-US" sz="1400" dirty="0">
                <a:solidFill>
                  <a:srgbClr val="000000"/>
                </a:solidFill>
              </a:rPr>
              <a:t>Input</a:t>
            </a:r>
            <a:endParaRPr lang="en-US" sz="1400" dirty="0"/>
          </a:p>
        </p:txBody>
      </p:sp>
      <p:sp>
        <p:nvSpPr>
          <p:cNvPr id="4" name="Text 2"/>
          <p:cNvSpPr/>
          <p:nvPr/>
        </p:nvSpPr>
        <p:spPr>
          <a:xfrm>
            <a:off x="1005840" y="1828800"/>
            <a:ext cx="36576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5" name="Shape 3"/>
          <p:cNvSpPr/>
          <p:nvPr/>
        </p:nvSpPr>
        <p:spPr>
          <a:xfrm>
            <a:off x="1463040" y="1828800"/>
            <a:ext cx="1645920" cy="640080"/>
          </a:xfrm>
          <a:prstGeom prst="roundRect">
            <a:avLst/>
          </a:prstGeom>
          <a:solidFill>
            <a:srgbClr val="2980B9"/>
          </a:solidFill>
          <a:ln/>
        </p:spPr>
        <p:txBody>
          <a:bodyPr/>
          <a:lstStyle/>
          <a:p>
            <a:endParaRPr lang="en-US"/>
          </a:p>
        </p:txBody>
      </p:sp>
      <p:sp>
        <p:nvSpPr>
          <p:cNvPr id="6" name="Text 4"/>
          <p:cNvSpPr/>
          <p:nvPr/>
        </p:nvSpPr>
        <p:spPr>
          <a:xfrm>
            <a:off x="1463040" y="1828800"/>
            <a:ext cx="1645920" cy="640080"/>
          </a:xfrm>
          <a:prstGeom prst="rect">
            <a:avLst/>
          </a:prstGeom>
          <a:noFill/>
          <a:ln/>
        </p:spPr>
        <p:txBody>
          <a:bodyPr wrap="square" rtlCol="0" anchor="ctr"/>
          <a:lstStyle/>
          <a:p>
            <a:pPr marL="0" indent="0" algn="ctr">
              <a:buNone/>
            </a:pPr>
            <a:r>
              <a:rPr lang="en-US" sz="1400" dirty="0">
                <a:solidFill>
                  <a:srgbClr val="FFFFFF"/>
                </a:solidFill>
              </a:rPr>
              <a:t>Filter A</a:t>
            </a:r>
            <a:endParaRPr lang="en-US" sz="1400" dirty="0"/>
          </a:p>
        </p:txBody>
      </p:sp>
      <p:sp>
        <p:nvSpPr>
          <p:cNvPr id="7" name="Text 5"/>
          <p:cNvSpPr/>
          <p:nvPr/>
        </p:nvSpPr>
        <p:spPr>
          <a:xfrm>
            <a:off x="3200400" y="1828800"/>
            <a:ext cx="36576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8" name="Shape 6"/>
          <p:cNvSpPr/>
          <p:nvPr/>
        </p:nvSpPr>
        <p:spPr>
          <a:xfrm>
            <a:off x="3657600" y="1828800"/>
            <a:ext cx="1645920" cy="640080"/>
          </a:xfrm>
          <a:prstGeom prst="roundRect">
            <a:avLst/>
          </a:prstGeom>
          <a:solidFill>
            <a:srgbClr val="2980B9"/>
          </a:solidFill>
          <a:ln/>
        </p:spPr>
        <p:txBody>
          <a:bodyPr/>
          <a:lstStyle/>
          <a:p>
            <a:endParaRPr lang="en-US"/>
          </a:p>
        </p:txBody>
      </p:sp>
      <p:sp>
        <p:nvSpPr>
          <p:cNvPr id="9" name="Text 7"/>
          <p:cNvSpPr/>
          <p:nvPr/>
        </p:nvSpPr>
        <p:spPr>
          <a:xfrm>
            <a:off x="3657600" y="1828800"/>
            <a:ext cx="1645920" cy="640080"/>
          </a:xfrm>
          <a:prstGeom prst="rect">
            <a:avLst/>
          </a:prstGeom>
          <a:noFill/>
          <a:ln/>
        </p:spPr>
        <p:txBody>
          <a:bodyPr wrap="square" rtlCol="0" anchor="ctr"/>
          <a:lstStyle/>
          <a:p>
            <a:pPr marL="0" indent="0" algn="ctr">
              <a:buNone/>
            </a:pPr>
            <a:r>
              <a:rPr lang="en-US" sz="1400" dirty="0">
                <a:solidFill>
                  <a:srgbClr val="FFFFFF"/>
                </a:solidFill>
              </a:rPr>
              <a:t>Filter B</a:t>
            </a:r>
            <a:endParaRPr lang="en-US" sz="1400" dirty="0"/>
          </a:p>
        </p:txBody>
      </p:sp>
      <p:sp>
        <p:nvSpPr>
          <p:cNvPr id="10" name="Text 8"/>
          <p:cNvSpPr/>
          <p:nvPr/>
        </p:nvSpPr>
        <p:spPr>
          <a:xfrm>
            <a:off x="5394960" y="1828800"/>
            <a:ext cx="36576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1" name="Shape 9"/>
          <p:cNvSpPr/>
          <p:nvPr/>
        </p:nvSpPr>
        <p:spPr>
          <a:xfrm>
            <a:off x="5852160" y="1828800"/>
            <a:ext cx="1645920" cy="640080"/>
          </a:xfrm>
          <a:prstGeom prst="roundRect">
            <a:avLst/>
          </a:prstGeom>
          <a:solidFill>
            <a:srgbClr val="2980B9"/>
          </a:solidFill>
          <a:ln/>
        </p:spPr>
        <p:txBody>
          <a:bodyPr/>
          <a:lstStyle/>
          <a:p>
            <a:endParaRPr lang="en-US"/>
          </a:p>
        </p:txBody>
      </p:sp>
      <p:sp>
        <p:nvSpPr>
          <p:cNvPr id="12" name="Text 10"/>
          <p:cNvSpPr/>
          <p:nvPr/>
        </p:nvSpPr>
        <p:spPr>
          <a:xfrm>
            <a:off x="5852160" y="1828800"/>
            <a:ext cx="1645920" cy="640080"/>
          </a:xfrm>
          <a:prstGeom prst="rect">
            <a:avLst/>
          </a:prstGeom>
          <a:noFill/>
          <a:ln/>
        </p:spPr>
        <p:txBody>
          <a:bodyPr wrap="square" rtlCol="0" anchor="ctr"/>
          <a:lstStyle/>
          <a:p>
            <a:pPr marL="0" indent="0" algn="ctr">
              <a:buNone/>
            </a:pPr>
            <a:r>
              <a:rPr lang="en-US" sz="1400" dirty="0">
                <a:solidFill>
                  <a:srgbClr val="FFFFFF"/>
                </a:solidFill>
              </a:rPr>
              <a:t>Filter C</a:t>
            </a:r>
            <a:endParaRPr lang="en-US" sz="1400" dirty="0"/>
          </a:p>
        </p:txBody>
      </p:sp>
      <p:sp>
        <p:nvSpPr>
          <p:cNvPr id="13" name="Text 11"/>
          <p:cNvSpPr/>
          <p:nvPr/>
        </p:nvSpPr>
        <p:spPr>
          <a:xfrm>
            <a:off x="7589520" y="1828800"/>
            <a:ext cx="36576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7955280" y="1828800"/>
            <a:ext cx="822960" cy="640080"/>
          </a:xfrm>
          <a:prstGeom prst="rect">
            <a:avLst/>
          </a:prstGeom>
          <a:noFill/>
          <a:ln/>
        </p:spPr>
        <p:txBody>
          <a:bodyPr wrap="square" rtlCol="0" anchor="ctr"/>
          <a:lstStyle/>
          <a:p>
            <a:pPr marL="0" indent="0" algn="ctr">
              <a:buNone/>
            </a:pPr>
            <a:r>
              <a:rPr lang="en-US" sz="1400" dirty="0">
                <a:solidFill>
                  <a:srgbClr val="000000"/>
                </a:solidFill>
              </a:rPr>
              <a:t>Output</a:t>
            </a:r>
            <a:endParaRPr lang="en-US" sz="1400" dirty="0"/>
          </a:p>
        </p:txBody>
      </p:sp>
      <p:sp>
        <p:nvSpPr>
          <p:cNvPr id="15" name="Text 13"/>
          <p:cNvSpPr/>
          <p:nvPr/>
        </p:nvSpPr>
        <p:spPr>
          <a:xfrm>
            <a:off x="548640" y="2743200"/>
            <a:ext cx="7772400" cy="365760"/>
          </a:xfrm>
          <a:prstGeom prst="rect">
            <a:avLst/>
          </a:prstGeom>
          <a:noFill/>
          <a:ln/>
        </p:spPr>
        <p:txBody>
          <a:bodyPr wrap="square" rtlCol="0" anchor="ctr"/>
          <a:lstStyle/>
          <a:p>
            <a:pPr marL="0" indent="0">
              <a:buNone/>
            </a:pPr>
            <a:r>
              <a:rPr lang="en-US" sz="1800" b="1" dirty="0">
                <a:solidFill>
                  <a:srgbClr val="000000"/>
                </a:solidFill>
              </a:rPr>
              <a:t>Each filter:</a:t>
            </a:r>
            <a:endParaRPr lang="en-US" sz="1800" dirty="0"/>
          </a:p>
        </p:txBody>
      </p:sp>
      <p:sp>
        <p:nvSpPr>
          <p:cNvPr id="16" name="Text 14"/>
          <p:cNvSpPr/>
          <p:nvPr/>
        </p:nvSpPr>
        <p:spPr>
          <a:xfrm>
            <a:off x="548640" y="3108960"/>
            <a:ext cx="7772400" cy="1673247"/>
          </a:xfrm>
          <a:prstGeom prst="rect">
            <a:avLst/>
          </a:prstGeom>
          <a:noFill/>
          <a:ln/>
        </p:spPr>
        <p:txBody>
          <a:bodyPr wrap="square" rtlCol="0" anchor="ctr"/>
          <a:lstStyle/>
          <a:p>
            <a:pPr marL="285750" indent="-285750">
              <a:spcAft>
                <a:spcPts val="1000"/>
              </a:spcAft>
              <a:buFont typeface="Arial" panose="020B0604020202020204" pitchFamily="34" charset="0"/>
              <a:buChar char="•"/>
            </a:pPr>
            <a:r>
              <a:rPr lang="en-US" sz="1800" b="1" dirty="0">
                <a:solidFill>
                  <a:srgbClr val="333333"/>
                </a:solidFill>
              </a:rPr>
              <a:t>Module</a:t>
            </a:r>
            <a:r>
              <a:rPr lang="en-US" sz="1800" dirty="0">
                <a:solidFill>
                  <a:srgbClr val="333333"/>
                </a:solidFill>
              </a:rPr>
              <a:t>, input/output </a:t>
            </a:r>
            <a:r>
              <a:rPr lang="en-US" i="1" dirty="0">
                <a:solidFill>
                  <a:srgbClr val="333333"/>
                </a:solidFill>
              </a:rPr>
              <a:t>façade</a:t>
            </a:r>
            <a:r>
              <a:rPr lang="en-US" sz="1800" dirty="0">
                <a:solidFill>
                  <a:srgbClr val="333333"/>
                </a:solidFill>
              </a:rPr>
              <a:t> to module</a:t>
            </a:r>
          </a:p>
          <a:p>
            <a:pPr marL="285750" indent="-285750">
              <a:spcAft>
                <a:spcPts val="1000"/>
              </a:spcAft>
              <a:buFont typeface="Arial" panose="020B0604020202020204" pitchFamily="34" charset="0"/>
              <a:buChar char="•"/>
            </a:pPr>
            <a:r>
              <a:rPr lang="en-US" sz="1800" dirty="0">
                <a:solidFill>
                  <a:srgbClr val="333333"/>
                </a:solidFill>
              </a:rPr>
              <a:t>Single transformation</a:t>
            </a:r>
          </a:p>
          <a:p>
            <a:pPr marL="285750" indent="-285750">
              <a:spcAft>
                <a:spcPts val="1000"/>
              </a:spcAft>
              <a:buFont typeface="Arial" panose="020B0604020202020204" pitchFamily="34" charset="0"/>
              <a:buChar char="•"/>
            </a:pPr>
            <a:r>
              <a:rPr lang="en-US" sz="1800" dirty="0">
                <a:solidFill>
                  <a:srgbClr val="333333"/>
                </a:solidFill>
              </a:rPr>
              <a:t>Independent, composable</a:t>
            </a:r>
          </a:p>
          <a:p>
            <a:pPr marL="285750" indent="-285750">
              <a:spcAft>
                <a:spcPts val="1000"/>
              </a:spcAft>
              <a:buFont typeface="Arial" panose="020B0604020202020204" pitchFamily="34" charset="0"/>
              <a:buChar char="•"/>
            </a:pPr>
            <a:r>
              <a:rPr lang="en-US" sz="1800" dirty="0">
                <a:solidFill>
                  <a:srgbClr val="333333"/>
                </a:solidFill>
              </a:rPr>
              <a:t>No knowledge of neighbors</a:t>
            </a:r>
            <a:endParaRPr lang="en-US" sz="1800" dirty="0"/>
          </a:p>
        </p:txBody>
      </p:sp>
      <p:sp>
        <p:nvSpPr>
          <p:cNvPr id="17" name="Text 15"/>
          <p:cNvSpPr/>
          <p:nvPr/>
        </p:nvSpPr>
        <p:spPr>
          <a:xfrm>
            <a:off x="548640" y="4943015"/>
            <a:ext cx="7772400" cy="365760"/>
          </a:xfrm>
          <a:prstGeom prst="rect">
            <a:avLst/>
          </a:prstGeom>
          <a:noFill/>
          <a:ln/>
        </p:spPr>
        <p:txBody>
          <a:bodyPr wrap="square" rtlCol="0" anchor="ctr"/>
          <a:lstStyle/>
          <a:p>
            <a:pPr marL="0" indent="0">
              <a:buNone/>
            </a:pPr>
            <a:r>
              <a:rPr lang="en-US" sz="1600" i="1" dirty="0">
                <a:solidFill>
                  <a:srgbClr val="64748B"/>
                </a:solidFill>
              </a:rPr>
              <a:t>Good for: data processing, ETL, event streams</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Domain Architectures</a:t>
            </a:r>
            <a:endParaRPr lang="en-US" sz="4000" dirty="0"/>
          </a:p>
        </p:txBody>
      </p:sp>
      <p:sp>
        <p:nvSpPr>
          <p:cNvPr id="3" name="Text 1"/>
          <p:cNvSpPr/>
          <p:nvPr/>
        </p:nvSpPr>
        <p:spPr>
          <a:xfrm>
            <a:off x="548640" y="1280160"/>
            <a:ext cx="7772400" cy="457200"/>
          </a:xfrm>
          <a:prstGeom prst="rect">
            <a:avLst/>
          </a:prstGeom>
          <a:noFill/>
          <a:ln/>
        </p:spPr>
        <p:txBody>
          <a:bodyPr wrap="square" rtlCol="0" anchor="ctr"/>
          <a:lstStyle/>
          <a:p>
            <a:pPr marL="0" indent="0">
              <a:buNone/>
            </a:pPr>
            <a:r>
              <a:rPr lang="en-US" sz="1800" dirty="0">
                <a:solidFill>
                  <a:srgbClr val="333333"/>
                </a:solidFill>
              </a:rPr>
              <a:t>Organize around business capabilities</a:t>
            </a:r>
            <a:endParaRPr lang="en-US" sz="1800" dirty="0"/>
          </a:p>
        </p:txBody>
      </p:sp>
      <p:sp>
        <p:nvSpPr>
          <p:cNvPr id="4" name="Text 2"/>
          <p:cNvSpPr/>
          <p:nvPr/>
        </p:nvSpPr>
        <p:spPr>
          <a:xfrm>
            <a:off x="548640" y="2011680"/>
            <a:ext cx="7772400" cy="1097280"/>
          </a:xfrm>
          <a:prstGeom prst="rect">
            <a:avLst/>
          </a:prstGeom>
          <a:noFill/>
          <a:ln/>
        </p:spPr>
        <p:txBody>
          <a:bodyPr wrap="square" rtlCol="0" anchor="ctr"/>
          <a:lstStyle/>
          <a:p>
            <a:pPr marL="342900" indent="-342900">
              <a:spcAft>
                <a:spcPts val="1800"/>
              </a:spcAft>
              <a:buFont typeface="Arial" panose="020B0604020202020204" pitchFamily="34" charset="0"/>
              <a:buChar char="•"/>
            </a:pPr>
            <a:r>
              <a:rPr lang="en-US" sz="2000" dirty="0">
                <a:solidFill>
                  <a:srgbClr val="333333"/>
                </a:solidFill>
              </a:rPr>
              <a:t>Vertical Slice</a:t>
            </a:r>
          </a:p>
          <a:p>
            <a:pPr marL="342900" indent="-342900">
              <a:spcAft>
                <a:spcPts val="1800"/>
              </a:spcAft>
              <a:buFont typeface="Arial" panose="020B0604020202020204" pitchFamily="34" charset="0"/>
              <a:buChar char="•"/>
            </a:pPr>
            <a:r>
              <a:rPr lang="en-US" sz="2000" dirty="0">
                <a:solidFill>
                  <a:srgbClr val="333333"/>
                </a:solidFill>
              </a:rPr>
              <a:t>CQRS</a:t>
            </a:r>
            <a:endParaRPr lang="en-US" sz="2000" dirty="0"/>
          </a:p>
        </p:txBody>
      </p:sp>
      <p:sp>
        <p:nvSpPr>
          <p:cNvPr id="5" name="Shape 4">
            <a:extLst>
              <a:ext uri="{FF2B5EF4-FFF2-40B4-BE49-F238E27FC236}">
                <a16:creationId xmlns:a16="http://schemas.microsoft.com/office/drawing/2014/main" id="{BEB93429-6D96-7AA8-CF96-C453B6DBEE39}"/>
              </a:ext>
            </a:extLst>
          </p:cNvPr>
          <p:cNvSpPr/>
          <p:nvPr/>
        </p:nvSpPr>
        <p:spPr>
          <a:xfrm>
            <a:off x="640080" y="4572001"/>
            <a:ext cx="8046720" cy="914400"/>
          </a:xfrm>
          <a:prstGeom prst="rect">
            <a:avLst/>
          </a:prstGeom>
          <a:solidFill>
            <a:srgbClr val="F1F5F9"/>
          </a:solidFill>
          <a:ln/>
        </p:spPr>
        <p:txBody>
          <a:bodyPr/>
          <a:lstStyle/>
          <a:p>
            <a:endParaRPr lang="en-US"/>
          </a:p>
        </p:txBody>
      </p:sp>
      <p:sp>
        <p:nvSpPr>
          <p:cNvPr id="6" name="Text 5">
            <a:extLst>
              <a:ext uri="{FF2B5EF4-FFF2-40B4-BE49-F238E27FC236}">
                <a16:creationId xmlns:a16="http://schemas.microsoft.com/office/drawing/2014/main" id="{A2EDE3C9-5E8D-D2C2-A01B-0F34CE493D20}"/>
              </a:ext>
            </a:extLst>
          </p:cNvPr>
          <p:cNvSpPr/>
          <p:nvPr/>
        </p:nvSpPr>
        <p:spPr>
          <a:xfrm>
            <a:off x="822960" y="4663441"/>
            <a:ext cx="7680960" cy="731520"/>
          </a:xfrm>
          <a:prstGeom prst="rect">
            <a:avLst/>
          </a:prstGeom>
          <a:noFill/>
          <a:ln/>
        </p:spPr>
        <p:txBody>
          <a:bodyPr wrap="square" rtlCol="0" anchor="ctr"/>
          <a:lstStyle/>
          <a:p>
            <a:pPr marL="0" indent="0">
              <a:buNone/>
            </a:pPr>
            <a:r>
              <a:rPr lang="en-US" sz="1600" dirty="0">
                <a:solidFill>
                  <a:srgbClr val="333333"/>
                </a:solidFill>
              </a:rPr>
              <a:t>In essence: modules are organize our domain, architecture organized around domain use cases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Vertical Slice</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800" dirty="0">
                <a:solidFill>
                  <a:srgbClr val="64748B"/>
                </a:solidFill>
              </a:rPr>
              <a:t>Feature-based organization</a:t>
            </a:r>
            <a:endParaRPr lang="en-US" sz="1800" dirty="0"/>
          </a:p>
        </p:txBody>
      </p:sp>
      <p:sp>
        <p:nvSpPr>
          <p:cNvPr id="4" name="Shape 2"/>
          <p:cNvSpPr/>
          <p:nvPr/>
        </p:nvSpPr>
        <p:spPr>
          <a:xfrm>
            <a:off x="914400" y="1645920"/>
            <a:ext cx="2286000" cy="2194560"/>
          </a:xfrm>
          <a:prstGeom prst="rect">
            <a:avLst/>
          </a:prstGeom>
          <a:noFill/>
          <a:ln w="25400">
            <a:solidFill>
              <a:srgbClr val="2C3E50"/>
            </a:solidFill>
            <a:prstDash val="solid"/>
          </a:ln>
        </p:spPr>
        <p:txBody>
          <a:bodyPr/>
          <a:lstStyle/>
          <a:p>
            <a:endParaRPr lang="en-US"/>
          </a:p>
        </p:txBody>
      </p:sp>
      <p:sp>
        <p:nvSpPr>
          <p:cNvPr id="5" name="Text 3"/>
          <p:cNvSpPr/>
          <p:nvPr/>
        </p:nvSpPr>
        <p:spPr>
          <a:xfrm>
            <a:off x="914400" y="1737360"/>
            <a:ext cx="2286000" cy="548640"/>
          </a:xfrm>
          <a:prstGeom prst="rect">
            <a:avLst/>
          </a:prstGeom>
          <a:noFill/>
          <a:ln/>
        </p:spPr>
        <p:txBody>
          <a:bodyPr wrap="square" rtlCol="0" anchor="ctr"/>
          <a:lstStyle/>
          <a:p>
            <a:pPr marL="0" indent="0" algn="ctr">
              <a:buNone/>
            </a:pPr>
            <a:r>
              <a:rPr lang="en-US" sz="1400" b="1" dirty="0">
                <a:solidFill>
                  <a:srgbClr val="2C3E50"/>
                </a:solidFill>
              </a:rPr>
              <a:t>Create</a:t>
            </a:r>
            <a:endParaRPr lang="en-US" sz="1400" dirty="0"/>
          </a:p>
          <a:p>
            <a:pPr marL="0" indent="0" algn="ctr">
              <a:buNone/>
            </a:pPr>
            <a:r>
              <a:rPr lang="en-US" sz="1400" b="1" dirty="0">
                <a:solidFill>
                  <a:srgbClr val="2C3E50"/>
                </a:solidFill>
              </a:rPr>
              <a:t>Contest</a:t>
            </a:r>
            <a:endParaRPr lang="en-US" sz="1400" dirty="0"/>
          </a:p>
        </p:txBody>
      </p:sp>
      <p:sp>
        <p:nvSpPr>
          <p:cNvPr id="6" name="Text 4"/>
          <p:cNvSpPr/>
          <p:nvPr/>
        </p:nvSpPr>
        <p:spPr>
          <a:xfrm>
            <a:off x="914400" y="2286000"/>
            <a:ext cx="2286000" cy="1371600"/>
          </a:xfrm>
          <a:prstGeom prst="rect">
            <a:avLst/>
          </a:prstGeom>
          <a:noFill/>
          <a:ln/>
        </p:spPr>
        <p:txBody>
          <a:bodyPr wrap="square" rtlCol="0" anchor="ctr"/>
          <a:lstStyle/>
          <a:p>
            <a:pPr marL="0" indent="0" algn="ctr">
              <a:buNone/>
            </a:pPr>
            <a:r>
              <a:rPr lang="en-US" sz="1400" dirty="0">
                <a:solidFill>
                  <a:srgbClr val="64748B"/>
                </a:solidFill>
              </a:rPr>
              <a:t>UI</a:t>
            </a:r>
            <a:endParaRPr lang="en-US" sz="1400" dirty="0"/>
          </a:p>
          <a:p>
            <a:pPr marL="0" indent="0" algn="ctr">
              <a:buNone/>
            </a:pPr>
            <a:r>
              <a:rPr lang="en-US" sz="1400" dirty="0">
                <a:solidFill>
                  <a:srgbClr val="64748B"/>
                </a:solidFill>
              </a:rPr>
              <a:t>Logic</a:t>
            </a:r>
            <a:endParaRPr lang="en-US" sz="1400" dirty="0"/>
          </a:p>
          <a:p>
            <a:pPr marL="0" indent="0" algn="ctr">
              <a:buNone/>
            </a:pPr>
            <a:r>
              <a:rPr lang="en-US" sz="1400" dirty="0">
                <a:solidFill>
                  <a:srgbClr val="64748B"/>
                </a:solidFill>
              </a:rPr>
              <a:t>Data</a:t>
            </a:r>
            <a:endParaRPr lang="en-US" sz="1400" dirty="0"/>
          </a:p>
        </p:txBody>
      </p:sp>
      <p:sp>
        <p:nvSpPr>
          <p:cNvPr id="7" name="Shape 5"/>
          <p:cNvSpPr/>
          <p:nvPr/>
        </p:nvSpPr>
        <p:spPr>
          <a:xfrm>
            <a:off x="3657600" y="1645920"/>
            <a:ext cx="2286000" cy="2194560"/>
          </a:xfrm>
          <a:prstGeom prst="rect">
            <a:avLst/>
          </a:prstGeom>
          <a:noFill/>
          <a:ln w="25400">
            <a:solidFill>
              <a:srgbClr val="2C3E50"/>
            </a:solidFill>
            <a:prstDash val="solid"/>
          </a:ln>
        </p:spPr>
        <p:txBody>
          <a:bodyPr/>
          <a:lstStyle/>
          <a:p>
            <a:endParaRPr lang="en-US"/>
          </a:p>
        </p:txBody>
      </p:sp>
      <p:sp>
        <p:nvSpPr>
          <p:cNvPr id="8" name="Text 6"/>
          <p:cNvSpPr/>
          <p:nvPr/>
        </p:nvSpPr>
        <p:spPr>
          <a:xfrm>
            <a:off x="3657600" y="1737360"/>
            <a:ext cx="2286000" cy="548640"/>
          </a:xfrm>
          <a:prstGeom prst="rect">
            <a:avLst/>
          </a:prstGeom>
          <a:noFill/>
          <a:ln/>
        </p:spPr>
        <p:txBody>
          <a:bodyPr wrap="square" rtlCol="0" anchor="ctr"/>
          <a:lstStyle/>
          <a:p>
            <a:pPr marL="0" indent="0" algn="ctr">
              <a:buNone/>
            </a:pPr>
            <a:r>
              <a:rPr lang="en-US" sz="1400" b="1" dirty="0">
                <a:solidFill>
                  <a:srgbClr val="2C3E50"/>
                </a:solidFill>
              </a:rPr>
              <a:t>Join</a:t>
            </a:r>
            <a:endParaRPr lang="en-US" sz="1400" dirty="0"/>
          </a:p>
          <a:p>
            <a:pPr marL="0" indent="0" algn="ctr">
              <a:buNone/>
            </a:pPr>
            <a:r>
              <a:rPr lang="en-US" sz="1400" b="1" dirty="0">
                <a:solidFill>
                  <a:srgbClr val="2C3E50"/>
                </a:solidFill>
              </a:rPr>
              <a:t>Session</a:t>
            </a:r>
            <a:endParaRPr lang="en-US" sz="1400" dirty="0"/>
          </a:p>
        </p:txBody>
      </p:sp>
      <p:sp>
        <p:nvSpPr>
          <p:cNvPr id="9" name="Text 7"/>
          <p:cNvSpPr/>
          <p:nvPr/>
        </p:nvSpPr>
        <p:spPr>
          <a:xfrm>
            <a:off x="3657600" y="2286000"/>
            <a:ext cx="2286000" cy="1371600"/>
          </a:xfrm>
          <a:prstGeom prst="rect">
            <a:avLst/>
          </a:prstGeom>
          <a:noFill/>
          <a:ln/>
        </p:spPr>
        <p:txBody>
          <a:bodyPr wrap="square" rtlCol="0" anchor="ctr"/>
          <a:lstStyle/>
          <a:p>
            <a:pPr marL="0" indent="0" algn="ctr">
              <a:buNone/>
            </a:pPr>
            <a:r>
              <a:rPr lang="en-US" sz="1400" dirty="0">
                <a:solidFill>
                  <a:srgbClr val="64748B"/>
                </a:solidFill>
              </a:rPr>
              <a:t>UI</a:t>
            </a:r>
            <a:endParaRPr lang="en-US" sz="1400" dirty="0"/>
          </a:p>
          <a:p>
            <a:pPr marL="0" indent="0" algn="ctr">
              <a:buNone/>
            </a:pPr>
            <a:r>
              <a:rPr lang="en-US" sz="1400" dirty="0">
                <a:solidFill>
                  <a:srgbClr val="64748B"/>
                </a:solidFill>
              </a:rPr>
              <a:t>Logic</a:t>
            </a:r>
            <a:endParaRPr lang="en-US" sz="1400" dirty="0"/>
          </a:p>
          <a:p>
            <a:pPr marL="0" indent="0" algn="ctr">
              <a:buNone/>
            </a:pPr>
            <a:r>
              <a:rPr lang="en-US" sz="1400" dirty="0">
                <a:solidFill>
                  <a:srgbClr val="64748B"/>
                </a:solidFill>
              </a:rPr>
              <a:t>Data</a:t>
            </a:r>
            <a:endParaRPr lang="en-US" sz="1400" dirty="0"/>
          </a:p>
        </p:txBody>
      </p:sp>
      <p:sp>
        <p:nvSpPr>
          <p:cNvPr id="10" name="Shape 8"/>
          <p:cNvSpPr/>
          <p:nvPr/>
        </p:nvSpPr>
        <p:spPr>
          <a:xfrm>
            <a:off x="6400800" y="1645920"/>
            <a:ext cx="2286000" cy="2194560"/>
          </a:xfrm>
          <a:prstGeom prst="rect">
            <a:avLst/>
          </a:prstGeom>
          <a:noFill/>
          <a:ln w="25400">
            <a:solidFill>
              <a:srgbClr val="2C3E50"/>
            </a:solidFill>
            <a:prstDash val="solid"/>
          </a:ln>
        </p:spPr>
        <p:txBody>
          <a:bodyPr/>
          <a:lstStyle/>
          <a:p>
            <a:endParaRPr lang="en-US"/>
          </a:p>
        </p:txBody>
      </p:sp>
      <p:sp>
        <p:nvSpPr>
          <p:cNvPr id="11" name="Text 9"/>
          <p:cNvSpPr/>
          <p:nvPr/>
        </p:nvSpPr>
        <p:spPr>
          <a:xfrm>
            <a:off x="6400800" y="1737360"/>
            <a:ext cx="2286000" cy="548640"/>
          </a:xfrm>
          <a:prstGeom prst="rect">
            <a:avLst/>
          </a:prstGeom>
          <a:noFill/>
          <a:ln/>
        </p:spPr>
        <p:txBody>
          <a:bodyPr wrap="square" rtlCol="0" anchor="ctr"/>
          <a:lstStyle/>
          <a:p>
            <a:pPr marL="0" indent="0" algn="ctr">
              <a:buNone/>
            </a:pPr>
            <a:r>
              <a:rPr lang="en-US" sz="1400" b="1" dirty="0">
                <a:solidFill>
                  <a:srgbClr val="2C3E50"/>
                </a:solidFill>
              </a:rPr>
              <a:t>Resolve</a:t>
            </a:r>
            <a:endParaRPr lang="en-US" sz="1400" dirty="0"/>
          </a:p>
          <a:p>
            <a:pPr marL="0" indent="0" algn="ctr">
              <a:buNone/>
            </a:pPr>
            <a:r>
              <a:rPr lang="en-US" sz="1400" b="1" dirty="0">
                <a:solidFill>
                  <a:srgbClr val="2C3E50"/>
                </a:solidFill>
              </a:rPr>
              <a:t>Contest</a:t>
            </a:r>
            <a:endParaRPr lang="en-US" sz="1400" dirty="0"/>
          </a:p>
        </p:txBody>
      </p:sp>
      <p:sp>
        <p:nvSpPr>
          <p:cNvPr id="12" name="Text 10"/>
          <p:cNvSpPr/>
          <p:nvPr/>
        </p:nvSpPr>
        <p:spPr>
          <a:xfrm>
            <a:off x="6400800" y="2286000"/>
            <a:ext cx="2286000" cy="1371600"/>
          </a:xfrm>
          <a:prstGeom prst="rect">
            <a:avLst/>
          </a:prstGeom>
          <a:noFill/>
          <a:ln/>
        </p:spPr>
        <p:txBody>
          <a:bodyPr wrap="square" rtlCol="0" anchor="ctr"/>
          <a:lstStyle/>
          <a:p>
            <a:pPr marL="0" indent="0" algn="ctr">
              <a:buNone/>
            </a:pPr>
            <a:r>
              <a:rPr lang="en-US" sz="1400" dirty="0">
                <a:solidFill>
                  <a:srgbClr val="64748B"/>
                </a:solidFill>
              </a:rPr>
              <a:t>UI</a:t>
            </a:r>
            <a:endParaRPr lang="en-US" sz="1400" dirty="0"/>
          </a:p>
          <a:p>
            <a:pPr marL="0" indent="0" algn="ctr">
              <a:buNone/>
            </a:pPr>
            <a:r>
              <a:rPr lang="en-US" sz="1400" dirty="0">
                <a:solidFill>
                  <a:srgbClr val="64748B"/>
                </a:solidFill>
              </a:rPr>
              <a:t>Logic</a:t>
            </a:r>
            <a:endParaRPr lang="en-US" sz="1400" dirty="0"/>
          </a:p>
          <a:p>
            <a:pPr marL="0" indent="0" algn="ctr">
              <a:buNone/>
            </a:pPr>
            <a:r>
              <a:rPr lang="en-US" sz="1400" dirty="0">
                <a:solidFill>
                  <a:srgbClr val="64748B"/>
                </a:solidFill>
              </a:rPr>
              <a:t>Data</a:t>
            </a:r>
            <a:endParaRPr lang="en-US" sz="1400" dirty="0"/>
          </a:p>
        </p:txBody>
      </p:sp>
      <p:sp>
        <p:nvSpPr>
          <p:cNvPr id="13" name="Text 11"/>
          <p:cNvSpPr/>
          <p:nvPr/>
        </p:nvSpPr>
        <p:spPr>
          <a:xfrm>
            <a:off x="548640" y="4114800"/>
            <a:ext cx="7772400" cy="457200"/>
          </a:xfrm>
          <a:prstGeom prst="rect">
            <a:avLst/>
          </a:prstGeom>
          <a:noFill/>
          <a:ln/>
        </p:spPr>
        <p:txBody>
          <a:bodyPr wrap="square" rtlCol="0" anchor="ctr"/>
          <a:lstStyle/>
          <a:p>
            <a:pPr marL="0" indent="0">
              <a:buNone/>
            </a:pPr>
            <a:r>
              <a:rPr lang="en-US" sz="1800" dirty="0">
                <a:solidFill>
                  <a:srgbClr val="333333"/>
                </a:solidFill>
              </a:rPr>
              <a:t>Each slice: layers for one capability</a:t>
            </a:r>
            <a:endParaRPr lang="en-US" sz="1800" dirty="0"/>
          </a:p>
        </p:txBody>
      </p:sp>
      <p:sp>
        <p:nvSpPr>
          <p:cNvPr id="14" name="Text 11">
            <a:extLst>
              <a:ext uri="{FF2B5EF4-FFF2-40B4-BE49-F238E27FC236}">
                <a16:creationId xmlns:a16="http://schemas.microsoft.com/office/drawing/2014/main" id="{1551625B-8E3B-F457-BA50-234B1743712E}"/>
              </a:ext>
            </a:extLst>
          </p:cNvPr>
          <p:cNvSpPr/>
          <p:nvPr/>
        </p:nvSpPr>
        <p:spPr>
          <a:xfrm>
            <a:off x="548640" y="4617720"/>
            <a:ext cx="7772400" cy="1691640"/>
          </a:xfrm>
          <a:prstGeom prst="rect">
            <a:avLst/>
          </a:prstGeom>
          <a:noFill/>
          <a:ln/>
        </p:spPr>
        <p:txBody>
          <a:bodyPr wrap="square" rtlCol="0" anchor="ctr"/>
          <a:lstStyle/>
          <a:p>
            <a:pPr marL="285750" indent="-285750">
              <a:buFont typeface="Arial" panose="020B0604020202020204" pitchFamily="34" charset="0"/>
              <a:buChar char="•"/>
            </a:pPr>
            <a:r>
              <a:rPr lang="en-US" sz="1800" dirty="0">
                <a:solidFill>
                  <a:srgbClr val="333333"/>
                </a:solidFill>
              </a:rPr>
              <a:t>Often implemented by folders, but this lacks modular structure, leading to risk of common (pathological) coupling.</a:t>
            </a:r>
          </a:p>
          <a:p>
            <a:pPr marL="285750" indent="-285750">
              <a:buFont typeface="Arial" panose="020B0604020202020204" pitchFamily="34" charset="0"/>
              <a:buChar char="•"/>
            </a:pPr>
            <a:r>
              <a:rPr lang="en-US" dirty="0"/>
              <a:t>This is really layers, but by use case</a:t>
            </a:r>
            <a:endParaRPr lang="en-US" sz="1800" dirty="0">
              <a:solidFill>
                <a:srgbClr val="333333"/>
              </a:solidFill>
            </a:endParaRPr>
          </a:p>
          <a:p>
            <a:pPr marL="285750" indent="-285750">
              <a:buFont typeface="Arial" panose="020B0604020202020204" pitchFamily="34" charset="0"/>
              <a:buChar char="•"/>
            </a:pPr>
            <a:r>
              <a:rPr lang="en-US" sz="1800" dirty="0"/>
              <a:t>In principle, each </a:t>
            </a:r>
            <a:r>
              <a:rPr lang="en-US" sz="1800" b="1" dirty="0"/>
              <a:t>slice </a:t>
            </a:r>
            <a:r>
              <a:rPr lang="en-US" b="1" dirty="0"/>
              <a:t>contains multiple</a:t>
            </a:r>
            <a:r>
              <a:rPr lang="en-US" sz="1800" b="1" dirty="0"/>
              <a:t> modules</a:t>
            </a:r>
            <a:r>
              <a:rPr lang="en-US" sz="1800" dirty="0"/>
              <a:t> depending on implementation approach (transaction script, domain, etc.) and support for information hiding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CQRS</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800" dirty="0">
                <a:solidFill>
                  <a:srgbClr val="64748B"/>
                </a:solidFill>
              </a:rPr>
              <a:t>Command Query Responsibility Segregation</a:t>
            </a:r>
            <a:endParaRPr lang="en-US" sz="1800" dirty="0"/>
          </a:p>
        </p:txBody>
      </p:sp>
      <p:sp>
        <p:nvSpPr>
          <p:cNvPr id="4" name="Text 2"/>
          <p:cNvSpPr/>
          <p:nvPr/>
        </p:nvSpPr>
        <p:spPr>
          <a:xfrm>
            <a:off x="914400" y="1645920"/>
            <a:ext cx="3200400" cy="365760"/>
          </a:xfrm>
          <a:prstGeom prst="rect">
            <a:avLst/>
          </a:prstGeom>
          <a:noFill/>
          <a:ln/>
        </p:spPr>
        <p:txBody>
          <a:bodyPr wrap="square" rtlCol="0" anchor="ctr"/>
          <a:lstStyle/>
          <a:p>
            <a:pPr marL="0" indent="0" algn="ctr">
              <a:buNone/>
            </a:pPr>
            <a:r>
              <a:rPr lang="en-US" sz="1600" b="1" dirty="0">
                <a:solidFill>
                  <a:srgbClr val="000000"/>
                </a:solidFill>
              </a:rPr>
              <a:t>Commands</a:t>
            </a:r>
            <a:endParaRPr lang="en-US" sz="1600" dirty="0"/>
          </a:p>
        </p:txBody>
      </p:sp>
      <p:sp>
        <p:nvSpPr>
          <p:cNvPr id="5" name="Text 3"/>
          <p:cNvSpPr/>
          <p:nvPr/>
        </p:nvSpPr>
        <p:spPr>
          <a:xfrm>
            <a:off x="914400" y="2011680"/>
            <a:ext cx="3200400" cy="3657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6" name="Shape 4"/>
          <p:cNvSpPr/>
          <p:nvPr/>
        </p:nvSpPr>
        <p:spPr>
          <a:xfrm>
            <a:off x="914400" y="2377440"/>
            <a:ext cx="3200400" cy="1280160"/>
          </a:xfrm>
          <a:prstGeom prst="rect">
            <a:avLst/>
          </a:prstGeom>
          <a:solidFill>
            <a:srgbClr val="2C3E50"/>
          </a:solidFill>
          <a:ln/>
        </p:spPr>
        <p:txBody>
          <a:bodyPr/>
          <a:lstStyle/>
          <a:p>
            <a:endParaRPr lang="en-US"/>
          </a:p>
        </p:txBody>
      </p:sp>
      <p:sp>
        <p:nvSpPr>
          <p:cNvPr id="7" name="Text 5"/>
          <p:cNvSpPr/>
          <p:nvPr/>
        </p:nvSpPr>
        <p:spPr>
          <a:xfrm>
            <a:off x="914400" y="2377440"/>
            <a:ext cx="3200400" cy="1280160"/>
          </a:xfrm>
          <a:prstGeom prst="rect">
            <a:avLst/>
          </a:prstGeom>
          <a:noFill/>
          <a:ln/>
        </p:spPr>
        <p:txBody>
          <a:bodyPr wrap="square" rtlCol="0" anchor="ctr"/>
          <a:lstStyle/>
          <a:p>
            <a:pPr marL="0" indent="0" algn="ctr">
              <a:buNone/>
            </a:pPr>
            <a:r>
              <a:rPr lang="en-US" sz="1400" dirty="0">
                <a:solidFill>
                  <a:srgbClr val="FFFFFF"/>
                </a:solidFill>
              </a:rPr>
              <a:t>Write Model</a:t>
            </a:r>
            <a:endParaRPr lang="en-US" sz="1400" dirty="0"/>
          </a:p>
          <a:p>
            <a:pPr marL="0" indent="0" algn="ctr">
              <a:buNone/>
            </a:pPr>
            <a:r>
              <a:rPr lang="en-US" sz="1400" dirty="0">
                <a:solidFill>
                  <a:srgbClr val="FFFFFF"/>
                </a:solidFill>
              </a:rPr>
              <a:t>Validation</a:t>
            </a:r>
            <a:endParaRPr lang="en-US" sz="1400" dirty="0"/>
          </a:p>
          <a:p>
            <a:pPr marL="0" indent="0" algn="ctr">
              <a:buNone/>
            </a:pPr>
            <a:r>
              <a:rPr lang="en-US" sz="1400" dirty="0">
                <a:solidFill>
                  <a:srgbClr val="FFFFFF"/>
                </a:solidFill>
              </a:rPr>
              <a:t>Business Rules</a:t>
            </a:r>
            <a:endParaRPr lang="en-US" sz="1400" dirty="0"/>
          </a:p>
        </p:txBody>
      </p:sp>
      <p:sp>
        <p:nvSpPr>
          <p:cNvPr id="8" name="Text 6"/>
          <p:cNvSpPr/>
          <p:nvPr/>
        </p:nvSpPr>
        <p:spPr>
          <a:xfrm>
            <a:off x="914400" y="3657600"/>
            <a:ext cx="3200400" cy="3657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9" name="Text 7"/>
          <p:cNvSpPr/>
          <p:nvPr/>
        </p:nvSpPr>
        <p:spPr>
          <a:xfrm>
            <a:off x="914400" y="4023360"/>
            <a:ext cx="3200400" cy="365760"/>
          </a:xfrm>
          <a:prstGeom prst="rect">
            <a:avLst/>
          </a:prstGeom>
          <a:noFill/>
          <a:ln/>
        </p:spPr>
        <p:txBody>
          <a:bodyPr wrap="square" rtlCol="0" anchor="ctr"/>
          <a:lstStyle/>
          <a:p>
            <a:pPr marL="0" indent="0" algn="ctr">
              <a:buNone/>
            </a:pPr>
            <a:r>
              <a:rPr lang="en-US" sz="1400" dirty="0">
                <a:solidFill>
                  <a:srgbClr val="000000"/>
                </a:solidFill>
              </a:rPr>
              <a:t>Write DB</a:t>
            </a:r>
            <a:endParaRPr lang="en-US" sz="1400" dirty="0"/>
          </a:p>
        </p:txBody>
      </p:sp>
      <p:sp>
        <p:nvSpPr>
          <p:cNvPr id="10" name="Text 8"/>
          <p:cNvSpPr/>
          <p:nvPr/>
        </p:nvSpPr>
        <p:spPr>
          <a:xfrm>
            <a:off x="5029200" y="1645920"/>
            <a:ext cx="3200400" cy="365760"/>
          </a:xfrm>
          <a:prstGeom prst="rect">
            <a:avLst/>
          </a:prstGeom>
          <a:noFill/>
          <a:ln/>
        </p:spPr>
        <p:txBody>
          <a:bodyPr wrap="square" rtlCol="0" anchor="ctr"/>
          <a:lstStyle/>
          <a:p>
            <a:pPr marL="0" indent="0" algn="ctr">
              <a:buNone/>
            </a:pPr>
            <a:r>
              <a:rPr lang="en-US" sz="1600" b="1" dirty="0">
                <a:solidFill>
                  <a:srgbClr val="000000"/>
                </a:solidFill>
              </a:rPr>
              <a:t>Queries</a:t>
            </a:r>
            <a:endParaRPr lang="en-US" sz="1600" dirty="0"/>
          </a:p>
        </p:txBody>
      </p:sp>
      <p:sp>
        <p:nvSpPr>
          <p:cNvPr id="11" name="Text 9"/>
          <p:cNvSpPr/>
          <p:nvPr/>
        </p:nvSpPr>
        <p:spPr>
          <a:xfrm>
            <a:off x="5029200" y="2011680"/>
            <a:ext cx="3200400" cy="3657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2" name="Shape 10"/>
          <p:cNvSpPr/>
          <p:nvPr/>
        </p:nvSpPr>
        <p:spPr>
          <a:xfrm>
            <a:off x="5029200" y="2377440"/>
            <a:ext cx="3200400" cy="1280160"/>
          </a:xfrm>
          <a:prstGeom prst="rect">
            <a:avLst/>
          </a:prstGeom>
          <a:solidFill>
            <a:srgbClr val="2980B9"/>
          </a:solidFill>
          <a:ln/>
        </p:spPr>
        <p:txBody>
          <a:bodyPr/>
          <a:lstStyle/>
          <a:p>
            <a:endParaRPr lang="en-US"/>
          </a:p>
        </p:txBody>
      </p:sp>
      <p:sp>
        <p:nvSpPr>
          <p:cNvPr id="13" name="Text 11"/>
          <p:cNvSpPr/>
          <p:nvPr/>
        </p:nvSpPr>
        <p:spPr>
          <a:xfrm>
            <a:off x="5029200" y="2377440"/>
            <a:ext cx="3200400" cy="1280160"/>
          </a:xfrm>
          <a:prstGeom prst="rect">
            <a:avLst/>
          </a:prstGeom>
          <a:noFill/>
          <a:ln/>
        </p:spPr>
        <p:txBody>
          <a:bodyPr wrap="square" rtlCol="0" anchor="ctr"/>
          <a:lstStyle/>
          <a:p>
            <a:pPr marL="0" indent="0" algn="ctr">
              <a:buNone/>
            </a:pPr>
            <a:r>
              <a:rPr lang="en-US" sz="1400" dirty="0">
                <a:solidFill>
                  <a:srgbClr val="FFFFFF"/>
                </a:solidFill>
              </a:rPr>
              <a:t>Read Model</a:t>
            </a:r>
            <a:endParaRPr lang="en-US" sz="1400" dirty="0"/>
          </a:p>
          <a:p>
            <a:pPr marL="0" indent="0" algn="ctr">
              <a:buNone/>
            </a:pPr>
            <a:r>
              <a:rPr lang="en-US" sz="1400" dirty="0">
                <a:solidFill>
                  <a:srgbClr val="FFFFFF"/>
                </a:solidFill>
              </a:rPr>
              <a:t>Optimized</a:t>
            </a:r>
            <a:endParaRPr lang="en-US" sz="1400" dirty="0"/>
          </a:p>
          <a:p>
            <a:pPr marL="0" indent="0" algn="ctr">
              <a:buNone/>
            </a:pPr>
            <a:r>
              <a:rPr lang="en-US" sz="1400" dirty="0">
                <a:solidFill>
                  <a:srgbClr val="FFFFFF"/>
                </a:solidFill>
              </a:rPr>
              <a:t>for display</a:t>
            </a:r>
            <a:endParaRPr lang="en-US" sz="1400" dirty="0"/>
          </a:p>
        </p:txBody>
      </p:sp>
      <p:sp>
        <p:nvSpPr>
          <p:cNvPr id="14" name="Text 12"/>
          <p:cNvSpPr/>
          <p:nvPr/>
        </p:nvSpPr>
        <p:spPr>
          <a:xfrm>
            <a:off x="5029200" y="3657600"/>
            <a:ext cx="3200400" cy="3657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5029200" y="4023360"/>
            <a:ext cx="3200400" cy="365760"/>
          </a:xfrm>
          <a:prstGeom prst="rect">
            <a:avLst/>
          </a:prstGeom>
          <a:noFill/>
          <a:ln/>
        </p:spPr>
        <p:txBody>
          <a:bodyPr wrap="square" rtlCol="0" anchor="ctr"/>
          <a:lstStyle/>
          <a:p>
            <a:pPr marL="0" indent="0" algn="ctr">
              <a:buNone/>
            </a:pPr>
            <a:r>
              <a:rPr lang="en-US" sz="1400" dirty="0">
                <a:solidFill>
                  <a:srgbClr val="000000"/>
                </a:solidFill>
              </a:rPr>
              <a:t>Read DB</a:t>
            </a:r>
            <a:endParaRPr lang="en-US" sz="1400" dirty="0"/>
          </a:p>
        </p:txBody>
      </p:sp>
      <p:sp>
        <p:nvSpPr>
          <p:cNvPr id="16" name="Text 14"/>
          <p:cNvSpPr/>
          <p:nvPr/>
        </p:nvSpPr>
        <p:spPr>
          <a:xfrm>
            <a:off x="548640" y="4572000"/>
            <a:ext cx="8046720" cy="365760"/>
          </a:xfrm>
          <a:prstGeom prst="rect">
            <a:avLst/>
          </a:prstGeom>
          <a:noFill/>
          <a:ln/>
        </p:spPr>
        <p:txBody>
          <a:bodyPr wrap="square" rtlCol="0" anchor="ctr"/>
          <a:lstStyle/>
          <a:p>
            <a:pPr marL="0" indent="0" algn="ctr">
              <a:buNone/>
            </a:pPr>
            <a:r>
              <a:rPr lang="en-US" sz="1600" dirty="0">
                <a:solidFill>
                  <a:srgbClr val="64748B"/>
                </a:solidFill>
              </a:rPr>
              <a:t>Different models, different optimization</a:t>
            </a:r>
            <a:endParaRPr lang="en-US" sz="1600" dirty="0"/>
          </a:p>
        </p:txBody>
      </p:sp>
      <p:sp>
        <p:nvSpPr>
          <p:cNvPr id="17" name="Text 23">
            <a:extLst>
              <a:ext uri="{FF2B5EF4-FFF2-40B4-BE49-F238E27FC236}">
                <a16:creationId xmlns:a16="http://schemas.microsoft.com/office/drawing/2014/main" id="{32A3F7EF-5530-76CF-65D1-FA4E7B2EE1F8}"/>
              </a:ext>
            </a:extLst>
          </p:cNvPr>
          <p:cNvSpPr/>
          <p:nvPr/>
        </p:nvSpPr>
        <p:spPr>
          <a:xfrm>
            <a:off x="557048" y="5044966"/>
            <a:ext cx="8229600" cy="1297503"/>
          </a:xfrm>
          <a:prstGeom prst="rect">
            <a:avLst/>
          </a:prstGeom>
          <a:noFill/>
          <a:ln/>
        </p:spPr>
        <p:txBody>
          <a:bodyPr wrap="square" rtlCol="0" anchor="ctr"/>
          <a:lstStyle/>
          <a:p>
            <a:pPr marL="0" indent="0" algn="ctr">
              <a:buNone/>
            </a:pPr>
            <a:r>
              <a:rPr lang="en-US" sz="1600" dirty="0">
                <a:solidFill>
                  <a:srgbClr val="333333"/>
                </a:solidFill>
              </a:rPr>
              <a:t>Key here is that we may have different modules for same domain on read and write sides</a:t>
            </a:r>
          </a:p>
          <a:p>
            <a:pPr marL="0" indent="0" algn="ctr">
              <a:buNone/>
            </a:pPr>
            <a:r>
              <a:rPr lang="en-US" sz="1600" dirty="0">
                <a:solidFill>
                  <a:srgbClr val="333333"/>
                </a:solidFill>
              </a:rPr>
              <a:t>Typically</a:t>
            </a:r>
            <a:r>
              <a:rPr lang="en-US" sz="1600" b="1" dirty="0">
                <a:solidFill>
                  <a:srgbClr val="333333"/>
                </a:solidFill>
              </a:rPr>
              <a:t> Command Handlers and Query Handlers </a:t>
            </a:r>
            <a:r>
              <a:rPr lang="en-US" sz="1600" dirty="0">
                <a:solidFill>
                  <a:srgbClr val="333333"/>
                </a:solidFill>
              </a:rPr>
              <a:t>form the </a:t>
            </a:r>
            <a:r>
              <a:rPr lang="en-US" sz="1600" b="1" dirty="0">
                <a:solidFill>
                  <a:srgbClr val="333333"/>
                </a:solidFill>
              </a:rPr>
              <a:t>façade</a:t>
            </a:r>
            <a:r>
              <a:rPr lang="en-US" sz="1600" dirty="0">
                <a:solidFill>
                  <a:srgbClr val="333333"/>
                </a:solidFill>
              </a:rPr>
              <a:t> to a </a:t>
            </a:r>
            <a:r>
              <a:rPr lang="en-US" sz="1600" b="1" dirty="0">
                <a:solidFill>
                  <a:srgbClr val="333333"/>
                </a:solidFill>
              </a:rPr>
              <a:t>module</a:t>
            </a:r>
            <a:r>
              <a:rPr lang="en-US" sz="1600" dirty="0">
                <a:solidFill>
                  <a:srgbClr val="333333"/>
                </a:solidFill>
              </a:rPr>
              <a:t>.</a:t>
            </a:r>
          </a:p>
          <a:p>
            <a:pPr marL="0" indent="0" algn="ctr">
              <a:buNone/>
            </a:pPr>
            <a:r>
              <a:rPr lang="en-US" sz="1600" b="1" dirty="0">
                <a:solidFill>
                  <a:srgbClr val="333333"/>
                </a:solidFill>
              </a:rPr>
              <a:t>They allow us to hide much of the implementation of that behavior. </a:t>
            </a:r>
          </a:p>
          <a:p>
            <a:pPr marL="0" indent="0" algn="ctr">
              <a:buNone/>
            </a:pPr>
            <a:r>
              <a:rPr lang="en-US" sz="1600" dirty="0">
                <a:solidFill>
                  <a:srgbClr val="333333"/>
                </a:solidFill>
              </a:rPr>
              <a:t>As such they help decouple a module from its consumers.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Hybrid Architectures</a:t>
            </a:r>
            <a:endParaRPr lang="en-US" sz="40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1800" i="1" dirty="0">
                <a:solidFill>
                  <a:srgbClr val="64748B"/>
                </a:solidFill>
              </a:rPr>
              <a:t>Turtles all the way down</a:t>
            </a:r>
            <a:endParaRPr lang="en-US" sz="1800" dirty="0"/>
          </a:p>
        </p:txBody>
      </p:sp>
      <p:sp>
        <p:nvSpPr>
          <p:cNvPr id="4" name="Text 2"/>
          <p:cNvSpPr/>
          <p:nvPr/>
        </p:nvSpPr>
        <p:spPr>
          <a:xfrm>
            <a:off x="548640" y="1645920"/>
            <a:ext cx="7772400" cy="457200"/>
          </a:xfrm>
          <a:prstGeom prst="rect">
            <a:avLst/>
          </a:prstGeom>
          <a:noFill/>
          <a:ln/>
        </p:spPr>
        <p:txBody>
          <a:bodyPr wrap="square" rtlCol="0" anchor="ctr"/>
          <a:lstStyle/>
          <a:p>
            <a:pPr marL="0" indent="0">
              <a:buNone/>
            </a:pPr>
            <a:r>
              <a:rPr lang="en-US" sz="2000" b="1" dirty="0">
                <a:solidFill>
                  <a:srgbClr val="000000"/>
                </a:solidFill>
              </a:rPr>
              <a:t>We often nest structures:</a:t>
            </a:r>
            <a:endParaRPr lang="en-US" sz="2000" dirty="0"/>
          </a:p>
        </p:txBody>
      </p:sp>
      <p:sp>
        <p:nvSpPr>
          <p:cNvPr id="5" name="Text 3"/>
          <p:cNvSpPr/>
          <p:nvPr/>
        </p:nvSpPr>
        <p:spPr>
          <a:xfrm>
            <a:off x="548640" y="2285999"/>
            <a:ext cx="7772400" cy="2468881"/>
          </a:xfrm>
          <a:prstGeom prst="rect">
            <a:avLst/>
          </a:prstGeom>
          <a:noFill/>
          <a:ln/>
        </p:spPr>
        <p:txBody>
          <a:bodyPr wrap="square" rtlCol="0" anchor="ctr"/>
          <a:lstStyle/>
          <a:p>
            <a:pPr marL="285750" indent="-285750">
              <a:spcAft>
                <a:spcPts val="1600"/>
              </a:spcAft>
              <a:buFont typeface="Arial" panose="020B0604020202020204" pitchFamily="34" charset="0"/>
              <a:buChar char="•"/>
            </a:pPr>
            <a:r>
              <a:rPr lang="en-US" sz="1800" dirty="0">
                <a:solidFill>
                  <a:srgbClr val="333333"/>
                </a:solidFill>
              </a:rPr>
              <a:t>Within a pipes and filters architecture each filter may be a ports and adapters architecture.</a:t>
            </a:r>
          </a:p>
          <a:p>
            <a:pPr marL="285750" indent="-285750">
              <a:spcAft>
                <a:spcPts val="1600"/>
              </a:spcAft>
              <a:buFont typeface="Arial" panose="020B0604020202020204" pitchFamily="34" charset="0"/>
              <a:buChar char="•"/>
            </a:pPr>
            <a:r>
              <a:rPr lang="en-US" sz="1800" dirty="0">
                <a:solidFill>
                  <a:srgbClr val="333333"/>
                </a:solidFill>
              </a:rPr>
              <a:t>Within a vertical slice architecture a slice might be implemented as a CQRS architecture where a handler forms a façade to a domain module.</a:t>
            </a:r>
          </a:p>
          <a:p>
            <a:pPr marL="285750" indent="-285750">
              <a:spcAft>
                <a:spcPts val="1600"/>
              </a:spcAft>
              <a:buFont typeface="Arial" panose="020B0604020202020204" pitchFamily="34" charset="0"/>
              <a:buChar char="•"/>
            </a:pPr>
            <a:r>
              <a:rPr lang="en-US" dirty="0">
                <a:solidFill>
                  <a:srgbClr val="333333"/>
                </a:solidFill>
              </a:rPr>
              <a:t>Within a CQRS architecture, command handlers might be driving ports into a ports and adapters architecture.</a:t>
            </a:r>
            <a:endParaRPr lang="en-US" sz="1800" dirty="0"/>
          </a:p>
        </p:txBody>
      </p:sp>
      <p:sp>
        <p:nvSpPr>
          <p:cNvPr id="6" name="Shape 4">
            <a:extLst>
              <a:ext uri="{FF2B5EF4-FFF2-40B4-BE49-F238E27FC236}">
                <a16:creationId xmlns:a16="http://schemas.microsoft.com/office/drawing/2014/main" id="{2A9E3A96-6C0D-BC14-63FE-E8BE62F6BC53}"/>
              </a:ext>
            </a:extLst>
          </p:cNvPr>
          <p:cNvSpPr/>
          <p:nvPr/>
        </p:nvSpPr>
        <p:spPr>
          <a:xfrm>
            <a:off x="548640" y="4937760"/>
            <a:ext cx="8138160" cy="1234440"/>
          </a:xfrm>
          <a:prstGeom prst="rect">
            <a:avLst/>
          </a:prstGeom>
          <a:solidFill>
            <a:srgbClr val="F1F5F9"/>
          </a:solidFill>
          <a:ln/>
        </p:spPr>
        <p:txBody>
          <a:bodyPr/>
          <a:lstStyle/>
          <a:p>
            <a:endParaRPr lang="en-US"/>
          </a:p>
        </p:txBody>
      </p:sp>
      <p:sp>
        <p:nvSpPr>
          <p:cNvPr id="7" name="Text 5">
            <a:extLst>
              <a:ext uri="{FF2B5EF4-FFF2-40B4-BE49-F238E27FC236}">
                <a16:creationId xmlns:a16="http://schemas.microsoft.com/office/drawing/2014/main" id="{5EAB0457-EAB5-8326-AB33-3D341FAD4388}"/>
              </a:ext>
            </a:extLst>
          </p:cNvPr>
          <p:cNvSpPr/>
          <p:nvPr/>
        </p:nvSpPr>
        <p:spPr>
          <a:xfrm>
            <a:off x="822960" y="5029200"/>
            <a:ext cx="7680960" cy="1007918"/>
          </a:xfrm>
          <a:prstGeom prst="rect">
            <a:avLst/>
          </a:prstGeom>
          <a:noFill/>
          <a:ln/>
        </p:spPr>
        <p:txBody>
          <a:bodyPr wrap="square" rtlCol="0" anchor="ctr"/>
          <a:lstStyle/>
          <a:p>
            <a:pPr marL="0" indent="0">
              <a:buNone/>
            </a:pPr>
            <a:r>
              <a:rPr lang="en-US" sz="1600" dirty="0">
                <a:solidFill>
                  <a:srgbClr val="333333"/>
                </a:solidFill>
              </a:rPr>
              <a:t>The key is to understand that your architecture </a:t>
            </a:r>
            <a:r>
              <a:rPr lang="en-US" sz="1600" b="1" dirty="0">
                <a:solidFill>
                  <a:srgbClr val="333333"/>
                </a:solidFill>
              </a:rPr>
              <a:t>should not be expressed via modules</a:t>
            </a:r>
            <a:r>
              <a:rPr lang="en-US" sz="1600" dirty="0">
                <a:solidFill>
                  <a:srgbClr val="333333"/>
                </a:solidFill>
              </a:rPr>
              <a:t>, instead your modules are organized within an architecture.  And </a:t>
            </a:r>
            <a:r>
              <a:rPr lang="en-US" sz="1600" b="1" dirty="0">
                <a:solidFill>
                  <a:srgbClr val="333333"/>
                </a:solidFill>
              </a:rPr>
              <a:t>don’t rely on folders</a:t>
            </a:r>
            <a:r>
              <a:rPr lang="en-US" sz="1600" dirty="0">
                <a:solidFill>
                  <a:srgbClr val="333333"/>
                </a:solidFill>
              </a:rPr>
              <a:t>.</a:t>
            </a:r>
          </a:p>
          <a:p>
            <a:pPr marL="0" indent="0">
              <a:buNone/>
            </a:pPr>
            <a:endParaRPr lang="en-US" sz="1600" dirty="0">
              <a:solidFill>
                <a:srgbClr val="333333"/>
              </a:solidFill>
            </a:endParaRPr>
          </a:p>
          <a:p>
            <a:pPr marL="0" indent="0">
              <a:buNone/>
            </a:pPr>
            <a:r>
              <a:rPr lang="en-US" sz="1600" dirty="0">
                <a:solidFill>
                  <a:srgbClr val="333333"/>
                </a:solidFill>
              </a:rPr>
              <a:t>Most of these organization schemes are </a:t>
            </a:r>
            <a:r>
              <a:rPr lang="en-US" sz="1600" i="1" dirty="0">
                <a:solidFill>
                  <a:srgbClr val="333333"/>
                </a:solidFill>
              </a:rPr>
              <a:t>closer</a:t>
            </a:r>
            <a:r>
              <a:rPr lang="en-US" sz="1600" dirty="0">
                <a:solidFill>
                  <a:srgbClr val="333333"/>
                </a:solidFill>
              </a:rPr>
              <a:t> to each other than their advocates would admit.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QuestWorlds: Which fits?</a:t>
            </a:r>
            <a:endParaRPr lang="en-US" sz="4000" dirty="0"/>
          </a:p>
        </p:txBody>
      </p:sp>
      <p:sp>
        <p:nvSpPr>
          <p:cNvPr id="5" name="Text 3"/>
          <p:cNvSpPr/>
          <p:nvPr/>
        </p:nvSpPr>
        <p:spPr>
          <a:xfrm>
            <a:off x="548640" y="1415744"/>
            <a:ext cx="7772400" cy="457200"/>
          </a:xfrm>
          <a:prstGeom prst="rect">
            <a:avLst/>
          </a:prstGeom>
          <a:noFill/>
          <a:ln/>
        </p:spPr>
        <p:txBody>
          <a:bodyPr wrap="square" rtlCol="0" anchor="ctr"/>
          <a:lstStyle/>
          <a:p>
            <a:pPr marL="0" indent="0">
              <a:buNone/>
            </a:pPr>
            <a:r>
              <a:rPr lang="en-US" sz="2000" b="1" dirty="0">
                <a:solidFill>
                  <a:srgbClr val="000000"/>
                </a:solidFill>
              </a:rPr>
              <a:t>Ports &amp; Adapters</a:t>
            </a:r>
            <a:endParaRPr lang="en-US" sz="2000" dirty="0"/>
          </a:p>
        </p:txBody>
      </p:sp>
      <p:sp>
        <p:nvSpPr>
          <p:cNvPr id="6" name="Text 4"/>
          <p:cNvSpPr/>
          <p:nvPr/>
        </p:nvSpPr>
        <p:spPr>
          <a:xfrm>
            <a:off x="548640" y="1964384"/>
            <a:ext cx="7772400" cy="731520"/>
          </a:xfrm>
          <a:prstGeom prst="rect">
            <a:avLst/>
          </a:prstGeom>
          <a:noFill/>
          <a:ln/>
        </p:spPr>
        <p:txBody>
          <a:bodyPr wrap="square" rtlCol="0" anchor="ctr"/>
          <a:lstStyle/>
          <a:p>
            <a:pPr marL="0" indent="0">
              <a:spcAft>
                <a:spcPts val="800"/>
              </a:spcAft>
              <a:buNone/>
            </a:pPr>
            <a:r>
              <a:rPr lang="en-US" sz="1800" dirty="0">
                <a:solidFill>
                  <a:srgbClr val="333333"/>
                </a:solidFill>
              </a:rPr>
              <a:t>Domain logic in center, divided into multiple modules</a:t>
            </a:r>
            <a:endParaRPr lang="en-US" dirty="0">
              <a:solidFill>
                <a:srgbClr val="333333"/>
              </a:solidFill>
            </a:endParaRPr>
          </a:p>
          <a:p>
            <a:pPr marL="0" indent="0">
              <a:spcAft>
                <a:spcPts val="800"/>
              </a:spcAft>
              <a:buNone/>
            </a:pPr>
            <a:r>
              <a:rPr lang="en-US" sz="1800" dirty="0">
                <a:solidFill>
                  <a:srgbClr val="333333"/>
                </a:solidFill>
              </a:rPr>
              <a:t>Adapters for storage, UI</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1">
    <p:bg>
      <p:bgPr>
        <a:solidFill>
          <a:srgbClr val="2980B9"/>
        </a:solidFill>
        <a:effectLst/>
      </p:bgPr>
    </p:bg>
    <p:spTree>
      <p:nvGrpSpPr>
        <p:cNvPr id="1" name=""/>
        <p:cNvGrpSpPr/>
        <p:nvPr/>
      </p:nvGrpSpPr>
      <p:grpSpPr>
        <a:xfrm>
          <a:off x="0" y="0"/>
          <a:ext cx="0" cy="0"/>
          <a:chOff x="0" y="0"/>
          <a:chExt cx="0" cy="0"/>
        </a:xfrm>
      </p:grpSpPr>
      <p:sp>
        <p:nvSpPr>
          <p:cNvPr id="2" name="Text 0"/>
          <p:cNvSpPr/>
          <p:nvPr/>
        </p:nvSpPr>
        <p:spPr>
          <a:xfrm>
            <a:off x="457200" y="2286000"/>
            <a:ext cx="8229600" cy="1097280"/>
          </a:xfrm>
          <a:prstGeom prst="rect">
            <a:avLst/>
          </a:prstGeom>
          <a:noFill/>
          <a:ln/>
        </p:spPr>
        <p:txBody>
          <a:bodyPr wrap="square" rtlCol="0" anchor="ctr"/>
          <a:lstStyle/>
          <a:p>
            <a:pPr marL="0" indent="0">
              <a:buNone/>
            </a:pPr>
            <a:r>
              <a:rPr lang="en-US" sz="4400" b="1" dirty="0">
                <a:solidFill>
                  <a:srgbClr val="FFFFFF"/>
                </a:solidFill>
              </a:rPr>
              <a:t>Working with Modules</a:t>
            </a:r>
            <a:endParaRPr lang="en-US" sz="4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Working with Modules</a:t>
            </a:r>
            <a:endParaRPr lang="en-US" sz="4000" dirty="0"/>
          </a:p>
        </p:txBody>
      </p:sp>
      <p:sp>
        <p:nvSpPr>
          <p:cNvPr id="16" name="TextBox 15">
            <a:extLst>
              <a:ext uri="{FF2B5EF4-FFF2-40B4-BE49-F238E27FC236}">
                <a16:creationId xmlns:a16="http://schemas.microsoft.com/office/drawing/2014/main" id="{85E88F30-0A4C-0E2B-C2ED-E4BE20A56CE6}"/>
              </a:ext>
            </a:extLst>
          </p:cNvPr>
          <p:cNvSpPr txBox="1"/>
          <p:nvPr/>
        </p:nvSpPr>
        <p:spPr>
          <a:xfrm>
            <a:off x="530773" y="1271016"/>
            <a:ext cx="4572000" cy="400110"/>
          </a:xfrm>
          <a:prstGeom prst="rect">
            <a:avLst/>
          </a:prstGeom>
          <a:noFill/>
        </p:spPr>
        <p:txBody>
          <a:bodyPr wrap="square">
            <a:spAutoFit/>
          </a:bodyPr>
          <a:lstStyle/>
          <a:p>
            <a:r>
              <a:rPr lang="en-US" sz="2000" i="1" dirty="0"/>
              <a:t>Deep modules have narrow interfaces.</a:t>
            </a:r>
          </a:p>
        </p:txBody>
      </p:sp>
      <p:sp>
        <p:nvSpPr>
          <p:cNvPr id="18" name="TextBox 17">
            <a:extLst>
              <a:ext uri="{FF2B5EF4-FFF2-40B4-BE49-F238E27FC236}">
                <a16:creationId xmlns:a16="http://schemas.microsoft.com/office/drawing/2014/main" id="{7A1E25E7-727F-A7BD-FA19-A216C5A1FEB5}"/>
              </a:ext>
            </a:extLst>
          </p:cNvPr>
          <p:cNvSpPr txBox="1"/>
          <p:nvPr/>
        </p:nvSpPr>
        <p:spPr>
          <a:xfrm>
            <a:off x="530772" y="2095739"/>
            <a:ext cx="7572704" cy="2246769"/>
          </a:xfrm>
          <a:prstGeom prst="rect">
            <a:avLst/>
          </a:prstGeom>
          <a:noFill/>
        </p:spPr>
        <p:txBody>
          <a:bodyPr wrap="square">
            <a:spAutoFit/>
          </a:bodyPr>
          <a:lstStyle/>
          <a:p>
            <a:r>
              <a:rPr lang="en-US" sz="2000" dirty="0"/>
              <a:t>Narrow interfaces pay off in multiple scenarios:</a:t>
            </a:r>
          </a:p>
          <a:p>
            <a:endParaRPr lang="en-US" sz="2000" dirty="0"/>
          </a:p>
          <a:p>
            <a:pPr marL="342900" indent="-342900">
              <a:buFont typeface="Arial" panose="020B0604020202020204" pitchFamily="34" charset="0"/>
              <a:buChar char="•"/>
            </a:pPr>
            <a:r>
              <a:rPr lang="en-US" sz="2000" b="1" dirty="0"/>
              <a:t>Testing</a:t>
            </a:r>
            <a:r>
              <a:rPr lang="en-US" sz="2000" dirty="0"/>
              <a:t> - smaller surface, stable contracts</a:t>
            </a:r>
          </a:p>
          <a:p>
            <a:pPr marL="342900" indent="-342900">
              <a:buFont typeface="Arial" panose="020B0604020202020204" pitchFamily="34" charset="0"/>
              <a:buChar char="•"/>
            </a:pPr>
            <a:r>
              <a:rPr lang="en-US" sz="2000" b="1" dirty="0"/>
              <a:t>Feature Flags</a:t>
            </a:r>
            <a:r>
              <a:rPr lang="en-US" sz="2000" dirty="0"/>
              <a:t> – can block an entire module</a:t>
            </a:r>
          </a:p>
          <a:p>
            <a:pPr marL="342900" indent="-342900">
              <a:buFont typeface="Arial" panose="020B0604020202020204" pitchFamily="34" charset="0"/>
              <a:buChar char="•"/>
            </a:pPr>
            <a:r>
              <a:rPr lang="en-US" sz="2000" b="1" dirty="0"/>
              <a:t>Deployment</a:t>
            </a:r>
            <a:r>
              <a:rPr lang="en-US" sz="2000" dirty="0"/>
              <a:t> – can provide a different version of  a module to a percentage of deployments</a:t>
            </a:r>
          </a:p>
          <a:p>
            <a:pPr marL="342900" indent="-342900">
              <a:buFont typeface="Arial" panose="020B0604020202020204" pitchFamily="34" charset="0"/>
              <a:buChar char="•"/>
            </a:pPr>
            <a:r>
              <a:rPr lang="en-US" sz="2000" b="1" dirty="0"/>
              <a:t>AI assistance</a:t>
            </a:r>
            <a:r>
              <a:rPr lang="en-US" sz="2000" dirty="0"/>
              <a:t> - bounded context, clear specs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BCD7-E570-09AD-D639-E9A12A80C6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A9F5A2-9800-C356-7A6F-41429E373038}"/>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Testing at Module Boundaries</a:t>
            </a:r>
            <a:endParaRPr lang="en-US" sz="4000" dirty="0"/>
          </a:p>
        </p:txBody>
      </p:sp>
      <p:sp>
        <p:nvSpPr>
          <p:cNvPr id="3" name="Text 1">
            <a:extLst>
              <a:ext uri="{FF2B5EF4-FFF2-40B4-BE49-F238E27FC236}">
                <a16:creationId xmlns:a16="http://schemas.microsoft.com/office/drawing/2014/main" id="{31962F2F-386D-1C83-0E7C-53689E14CB79}"/>
              </a:ext>
            </a:extLst>
          </p:cNvPr>
          <p:cNvSpPr/>
          <p:nvPr/>
        </p:nvSpPr>
        <p:spPr>
          <a:xfrm>
            <a:off x="548640" y="1280160"/>
            <a:ext cx="7772400" cy="457200"/>
          </a:xfrm>
          <a:prstGeom prst="rect">
            <a:avLst/>
          </a:prstGeom>
          <a:noFill/>
          <a:ln/>
        </p:spPr>
        <p:txBody>
          <a:bodyPr wrap="square" rtlCol="0" anchor="ctr"/>
          <a:lstStyle/>
          <a:p>
            <a:pPr marL="0" indent="0">
              <a:buNone/>
            </a:pPr>
            <a:r>
              <a:rPr lang="en-US" sz="2200" b="1" dirty="0">
                <a:solidFill>
                  <a:srgbClr val="000000"/>
                </a:solidFill>
              </a:rPr>
              <a:t>TDD with Modules</a:t>
            </a:r>
            <a:endParaRPr lang="en-US" sz="2200" dirty="0"/>
          </a:p>
        </p:txBody>
      </p:sp>
      <p:sp>
        <p:nvSpPr>
          <p:cNvPr id="4" name="Text 2">
            <a:extLst>
              <a:ext uri="{FF2B5EF4-FFF2-40B4-BE49-F238E27FC236}">
                <a16:creationId xmlns:a16="http://schemas.microsoft.com/office/drawing/2014/main" id="{A1A23D66-7393-B191-B8A0-2CEB23DE022F}"/>
              </a:ext>
            </a:extLst>
          </p:cNvPr>
          <p:cNvSpPr/>
          <p:nvPr/>
        </p:nvSpPr>
        <p:spPr>
          <a:xfrm>
            <a:off x="548640" y="1737360"/>
            <a:ext cx="7772400" cy="457200"/>
          </a:xfrm>
          <a:prstGeom prst="rect">
            <a:avLst/>
          </a:prstGeom>
          <a:noFill/>
          <a:ln/>
        </p:spPr>
        <p:txBody>
          <a:bodyPr wrap="square" rtlCol="0" anchor="ctr"/>
          <a:lstStyle/>
          <a:p>
            <a:pPr marL="0" indent="0">
              <a:buNone/>
            </a:pPr>
            <a:r>
              <a:rPr lang="en-US" sz="1800" dirty="0">
                <a:solidFill>
                  <a:srgbClr val="333333"/>
                </a:solidFill>
              </a:rPr>
              <a:t>Test the interface, not the internals</a:t>
            </a:r>
            <a:endParaRPr lang="en-US" sz="1800" dirty="0"/>
          </a:p>
        </p:txBody>
      </p:sp>
      <p:sp>
        <p:nvSpPr>
          <p:cNvPr id="5" name="Shape 3">
            <a:extLst>
              <a:ext uri="{FF2B5EF4-FFF2-40B4-BE49-F238E27FC236}">
                <a16:creationId xmlns:a16="http://schemas.microsoft.com/office/drawing/2014/main" id="{55B414E7-BF81-5263-008C-C75838C02BB3}"/>
              </a:ext>
            </a:extLst>
          </p:cNvPr>
          <p:cNvSpPr/>
          <p:nvPr/>
        </p:nvSpPr>
        <p:spPr>
          <a:xfrm>
            <a:off x="914400" y="2377440"/>
            <a:ext cx="1280160" cy="640080"/>
          </a:xfrm>
          <a:prstGeom prst="roundRect">
            <a:avLst/>
          </a:prstGeom>
          <a:solidFill>
            <a:srgbClr val="27AE60"/>
          </a:solidFill>
          <a:ln/>
        </p:spPr>
        <p:txBody>
          <a:bodyPr/>
          <a:lstStyle/>
          <a:p>
            <a:endParaRPr lang="en-US"/>
          </a:p>
        </p:txBody>
      </p:sp>
      <p:sp>
        <p:nvSpPr>
          <p:cNvPr id="6" name="Text 4">
            <a:extLst>
              <a:ext uri="{FF2B5EF4-FFF2-40B4-BE49-F238E27FC236}">
                <a16:creationId xmlns:a16="http://schemas.microsoft.com/office/drawing/2014/main" id="{29670BBE-0D60-82F6-23EC-55479C86ECEE}"/>
              </a:ext>
            </a:extLst>
          </p:cNvPr>
          <p:cNvSpPr/>
          <p:nvPr/>
        </p:nvSpPr>
        <p:spPr>
          <a:xfrm>
            <a:off x="914400" y="2377440"/>
            <a:ext cx="1280160" cy="640080"/>
          </a:xfrm>
          <a:prstGeom prst="rect">
            <a:avLst/>
          </a:prstGeom>
          <a:noFill/>
          <a:ln/>
        </p:spPr>
        <p:txBody>
          <a:bodyPr wrap="square" rtlCol="0" anchor="ctr"/>
          <a:lstStyle/>
          <a:p>
            <a:pPr marL="0" indent="0" algn="ctr">
              <a:buNone/>
            </a:pPr>
            <a:r>
              <a:rPr lang="en-US" sz="1400" b="1" dirty="0">
                <a:solidFill>
                  <a:srgbClr val="FFFFFF"/>
                </a:solidFill>
              </a:rPr>
              <a:t>Test</a:t>
            </a:r>
            <a:endParaRPr lang="en-US" sz="1400" dirty="0"/>
          </a:p>
        </p:txBody>
      </p:sp>
      <p:sp>
        <p:nvSpPr>
          <p:cNvPr id="7" name="Text 5">
            <a:extLst>
              <a:ext uri="{FF2B5EF4-FFF2-40B4-BE49-F238E27FC236}">
                <a16:creationId xmlns:a16="http://schemas.microsoft.com/office/drawing/2014/main" id="{57B35805-F732-6CFA-E235-1D6A17A11D63}"/>
              </a:ext>
            </a:extLst>
          </p:cNvPr>
          <p:cNvSpPr/>
          <p:nvPr/>
        </p:nvSpPr>
        <p:spPr>
          <a:xfrm>
            <a:off x="2286000" y="2377440"/>
            <a:ext cx="45720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8" name="Shape 6">
            <a:extLst>
              <a:ext uri="{FF2B5EF4-FFF2-40B4-BE49-F238E27FC236}">
                <a16:creationId xmlns:a16="http://schemas.microsoft.com/office/drawing/2014/main" id="{6D0CEDAB-AD1E-3F53-7ED0-E7A2F1FFBA93}"/>
              </a:ext>
            </a:extLst>
          </p:cNvPr>
          <p:cNvSpPr/>
          <p:nvPr/>
        </p:nvSpPr>
        <p:spPr>
          <a:xfrm>
            <a:off x="2834640" y="2286000"/>
            <a:ext cx="2560320" cy="822960"/>
          </a:xfrm>
          <a:prstGeom prst="roundRect">
            <a:avLst/>
          </a:prstGeom>
          <a:solidFill>
            <a:srgbClr val="2C3E50"/>
          </a:solidFill>
          <a:ln/>
        </p:spPr>
        <p:txBody>
          <a:bodyPr/>
          <a:lstStyle/>
          <a:p>
            <a:endParaRPr lang="en-US"/>
          </a:p>
        </p:txBody>
      </p:sp>
      <p:sp>
        <p:nvSpPr>
          <p:cNvPr id="9" name="Text 7">
            <a:extLst>
              <a:ext uri="{FF2B5EF4-FFF2-40B4-BE49-F238E27FC236}">
                <a16:creationId xmlns:a16="http://schemas.microsoft.com/office/drawing/2014/main" id="{72E9F559-0F89-C7BD-48B1-9BAF392F65EF}"/>
              </a:ext>
            </a:extLst>
          </p:cNvPr>
          <p:cNvSpPr/>
          <p:nvPr/>
        </p:nvSpPr>
        <p:spPr>
          <a:xfrm>
            <a:off x="2834640" y="2286000"/>
            <a:ext cx="2560320" cy="822960"/>
          </a:xfrm>
          <a:prstGeom prst="rect">
            <a:avLst/>
          </a:prstGeom>
          <a:noFill/>
          <a:ln/>
        </p:spPr>
        <p:txBody>
          <a:bodyPr wrap="square" rtlCol="0" anchor="ctr"/>
          <a:lstStyle/>
          <a:p>
            <a:pPr marL="0" indent="0" algn="ctr">
              <a:buNone/>
            </a:pPr>
            <a:r>
              <a:rPr lang="en-US" sz="1400" b="1" dirty="0">
                <a:solidFill>
                  <a:srgbClr val="FFFFFF"/>
                </a:solidFill>
              </a:rPr>
              <a:t>Module Interface</a:t>
            </a:r>
            <a:endParaRPr lang="en-US" sz="1400" dirty="0"/>
          </a:p>
        </p:txBody>
      </p:sp>
      <p:sp>
        <p:nvSpPr>
          <p:cNvPr id="10" name="Text 8">
            <a:extLst>
              <a:ext uri="{FF2B5EF4-FFF2-40B4-BE49-F238E27FC236}">
                <a16:creationId xmlns:a16="http://schemas.microsoft.com/office/drawing/2014/main" id="{3E9285C4-42E1-3C89-49A6-96E1B0942254}"/>
              </a:ext>
            </a:extLst>
          </p:cNvPr>
          <p:cNvSpPr/>
          <p:nvPr/>
        </p:nvSpPr>
        <p:spPr>
          <a:xfrm>
            <a:off x="5486400" y="2377440"/>
            <a:ext cx="457200" cy="64008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1" name="Shape 9">
            <a:extLst>
              <a:ext uri="{FF2B5EF4-FFF2-40B4-BE49-F238E27FC236}">
                <a16:creationId xmlns:a16="http://schemas.microsoft.com/office/drawing/2014/main" id="{3B7DE38B-D785-A618-B9BE-88595CB4B90D}"/>
              </a:ext>
            </a:extLst>
          </p:cNvPr>
          <p:cNvSpPr/>
          <p:nvPr/>
        </p:nvSpPr>
        <p:spPr>
          <a:xfrm>
            <a:off x="6035040" y="2377440"/>
            <a:ext cx="2194560" cy="640080"/>
          </a:xfrm>
          <a:prstGeom prst="roundRect">
            <a:avLst/>
          </a:prstGeom>
          <a:solidFill>
            <a:srgbClr val="F1F5F9"/>
          </a:solidFill>
          <a:ln/>
        </p:spPr>
        <p:txBody>
          <a:bodyPr/>
          <a:lstStyle/>
          <a:p>
            <a:endParaRPr lang="en-US"/>
          </a:p>
        </p:txBody>
      </p:sp>
      <p:sp>
        <p:nvSpPr>
          <p:cNvPr id="12" name="Text 10">
            <a:extLst>
              <a:ext uri="{FF2B5EF4-FFF2-40B4-BE49-F238E27FC236}">
                <a16:creationId xmlns:a16="http://schemas.microsoft.com/office/drawing/2014/main" id="{B81F9F9B-88DF-F6B2-8545-BF70247DDA17}"/>
              </a:ext>
            </a:extLst>
          </p:cNvPr>
          <p:cNvSpPr/>
          <p:nvPr/>
        </p:nvSpPr>
        <p:spPr>
          <a:xfrm>
            <a:off x="6035040" y="2377440"/>
            <a:ext cx="2194560" cy="640080"/>
          </a:xfrm>
          <a:prstGeom prst="rect">
            <a:avLst/>
          </a:prstGeom>
          <a:noFill/>
          <a:ln/>
        </p:spPr>
        <p:txBody>
          <a:bodyPr wrap="square" rtlCol="0" anchor="ctr"/>
          <a:lstStyle/>
          <a:p>
            <a:pPr marL="0" indent="0" algn="ctr">
              <a:buNone/>
            </a:pPr>
            <a:r>
              <a:rPr lang="en-US" sz="1200" i="1" dirty="0">
                <a:solidFill>
                  <a:srgbClr val="64748B"/>
                </a:solidFill>
              </a:rPr>
              <a:t>(hidden impl)</a:t>
            </a:r>
            <a:endParaRPr lang="en-US" sz="1200" dirty="0"/>
          </a:p>
        </p:txBody>
      </p:sp>
      <p:sp>
        <p:nvSpPr>
          <p:cNvPr id="13" name="Text 11">
            <a:extLst>
              <a:ext uri="{FF2B5EF4-FFF2-40B4-BE49-F238E27FC236}">
                <a16:creationId xmlns:a16="http://schemas.microsoft.com/office/drawing/2014/main" id="{5925088C-20C1-8ECA-619F-2188637C702A}"/>
              </a:ext>
            </a:extLst>
          </p:cNvPr>
          <p:cNvSpPr/>
          <p:nvPr/>
        </p:nvSpPr>
        <p:spPr>
          <a:xfrm>
            <a:off x="548640" y="3291840"/>
            <a:ext cx="7772400" cy="457200"/>
          </a:xfrm>
          <a:prstGeom prst="rect">
            <a:avLst/>
          </a:prstGeom>
          <a:noFill/>
          <a:ln/>
        </p:spPr>
        <p:txBody>
          <a:bodyPr wrap="square" rtlCol="0" anchor="ctr"/>
          <a:lstStyle/>
          <a:p>
            <a:pPr marL="0" indent="0">
              <a:buNone/>
            </a:pPr>
            <a:r>
              <a:rPr lang="en-US" sz="1800" b="1" dirty="0">
                <a:solidFill>
                  <a:srgbClr val="000000"/>
                </a:solidFill>
              </a:rPr>
              <a:t>Module boundary = natural test boundary</a:t>
            </a:r>
            <a:endParaRPr lang="en-US" sz="1800" dirty="0"/>
          </a:p>
        </p:txBody>
      </p:sp>
      <p:sp>
        <p:nvSpPr>
          <p:cNvPr id="14" name="Text 12">
            <a:extLst>
              <a:ext uri="{FF2B5EF4-FFF2-40B4-BE49-F238E27FC236}">
                <a16:creationId xmlns:a16="http://schemas.microsoft.com/office/drawing/2014/main" id="{6C70E2F1-AB11-32A9-E95C-5957E48D050E}"/>
              </a:ext>
            </a:extLst>
          </p:cNvPr>
          <p:cNvSpPr/>
          <p:nvPr/>
        </p:nvSpPr>
        <p:spPr>
          <a:xfrm>
            <a:off x="548640" y="3749040"/>
            <a:ext cx="7772400" cy="1097280"/>
          </a:xfrm>
          <a:prstGeom prst="rect">
            <a:avLst/>
          </a:prstGeom>
          <a:noFill/>
          <a:ln/>
        </p:spPr>
        <p:txBody>
          <a:bodyPr wrap="square" rtlCol="0" anchor="ctr"/>
          <a:lstStyle/>
          <a:p>
            <a:pPr marL="285750" indent="-285750">
              <a:spcAft>
                <a:spcPts val="800"/>
              </a:spcAft>
              <a:buFont typeface="Arial" panose="020B0604020202020204" pitchFamily="34" charset="0"/>
              <a:buChar char="•"/>
            </a:pPr>
            <a:r>
              <a:rPr lang="en-US" sz="1800" dirty="0">
                <a:solidFill>
                  <a:srgbClr val="333333"/>
                </a:solidFill>
              </a:rPr>
              <a:t>Test behavior, not implementation</a:t>
            </a:r>
          </a:p>
          <a:p>
            <a:pPr marL="285750" indent="-285750">
              <a:spcAft>
                <a:spcPts val="800"/>
              </a:spcAft>
              <a:buFont typeface="Arial" panose="020B0604020202020204" pitchFamily="34" charset="0"/>
              <a:buChar char="•"/>
            </a:pPr>
            <a:r>
              <a:rPr lang="en-US" sz="1800" dirty="0">
                <a:solidFill>
                  <a:srgbClr val="333333"/>
                </a:solidFill>
              </a:rPr>
              <a:t>Refactor freely inside</a:t>
            </a:r>
          </a:p>
          <a:p>
            <a:pPr marL="285750" indent="-285750">
              <a:spcAft>
                <a:spcPts val="800"/>
              </a:spcAft>
              <a:buFont typeface="Arial" panose="020B0604020202020204" pitchFamily="34" charset="0"/>
              <a:buChar char="•"/>
            </a:pPr>
            <a:r>
              <a:rPr lang="en-US" sz="1800" dirty="0">
                <a:solidFill>
                  <a:srgbClr val="333333"/>
                </a:solidFill>
              </a:rPr>
              <a:t>No excessive mocking</a:t>
            </a:r>
            <a:endParaRPr lang="en-US" sz="1800" dirty="0"/>
          </a:p>
        </p:txBody>
      </p:sp>
    </p:spTree>
    <p:extLst>
      <p:ext uri="{BB962C8B-B14F-4D97-AF65-F5344CB8AC3E}">
        <p14:creationId xmlns:p14="http://schemas.microsoft.com/office/powerpoint/2010/main" val="25857692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13B7C-9C6B-7FC6-7D2F-4D57D6781F3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BADA63-C754-3F56-514E-7EBA8BEBB730}"/>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AI Assistants and Modules</a:t>
            </a:r>
            <a:endParaRPr lang="en-US" sz="4000" dirty="0"/>
          </a:p>
        </p:txBody>
      </p:sp>
      <p:sp>
        <p:nvSpPr>
          <p:cNvPr id="3" name="Text 1">
            <a:extLst>
              <a:ext uri="{FF2B5EF4-FFF2-40B4-BE49-F238E27FC236}">
                <a16:creationId xmlns:a16="http://schemas.microsoft.com/office/drawing/2014/main" id="{35E2329B-B471-8B9B-FAE2-085E43A79D32}"/>
              </a:ext>
            </a:extLst>
          </p:cNvPr>
          <p:cNvSpPr/>
          <p:nvPr/>
        </p:nvSpPr>
        <p:spPr>
          <a:xfrm>
            <a:off x="548640" y="1280160"/>
            <a:ext cx="7772400" cy="457200"/>
          </a:xfrm>
          <a:prstGeom prst="rect">
            <a:avLst/>
          </a:prstGeom>
          <a:noFill/>
          <a:ln/>
        </p:spPr>
        <p:txBody>
          <a:bodyPr wrap="square" rtlCol="0" anchor="ctr"/>
          <a:lstStyle/>
          <a:p>
            <a:pPr marL="0" indent="0">
              <a:buNone/>
            </a:pPr>
            <a:r>
              <a:rPr lang="en-US" sz="2000" b="1" dirty="0">
                <a:solidFill>
                  <a:srgbClr val="000000"/>
                </a:solidFill>
              </a:rPr>
              <a:t>Why modular code suits AI assistants:</a:t>
            </a:r>
            <a:endParaRPr lang="en-US" sz="2000" dirty="0"/>
          </a:p>
        </p:txBody>
      </p:sp>
      <p:sp>
        <p:nvSpPr>
          <p:cNvPr id="4" name="Text 2">
            <a:extLst>
              <a:ext uri="{FF2B5EF4-FFF2-40B4-BE49-F238E27FC236}">
                <a16:creationId xmlns:a16="http://schemas.microsoft.com/office/drawing/2014/main" id="{CCFF53E5-16D2-4D85-96AB-581F55B80F04}"/>
              </a:ext>
            </a:extLst>
          </p:cNvPr>
          <p:cNvSpPr/>
          <p:nvPr/>
        </p:nvSpPr>
        <p:spPr>
          <a:xfrm>
            <a:off x="548640" y="1828800"/>
            <a:ext cx="7772400" cy="2511972"/>
          </a:xfrm>
          <a:prstGeom prst="rect">
            <a:avLst/>
          </a:prstGeom>
          <a:noFill/>
          <a:ln/>
        </p:spPr>
        <p:txBody>
          <a:bodyPr wrap="square" rtlCol="0" anchor="ctr"/>
          <a:lstStyle/>
          <a:p>
            <a:pPr marL="0" indent="0">
              <a:spcAft>
                <a:spcPts val="1200"/>
              </a:spcAft>
              <a:buNone/>
            </a:pPr>
            <a:r>
              <a:rPr lang="en-US" sz="2000" dirty="0">
                <a:solidFill>
                  <a:srgbClr val="333333"/>
                </a:solidFill>
              </a:rPr>
              <a:t>✓ Boundary for agent activity</a:t>
            </a:r>
          </a:p>
          <a:p>
            <a:pPr marL="0" indent="0">
              <a:spcAft>
                <a:spcPts val="1200"/>
              </a:spcAft>
              <a:buNone/>
            </a:pPr>
            <a:r>
              <a:rPr lang="en-US" sz="2000" dirty="0">
                <a:solidFill>
                  <a:srgbClr val="333333"/>
                </a:solidFill>
              </a:rPr>
              <a:t>✓ Clear interfaces to implement against</a:t>
            </a:r>
          </a:p>
          <a:p>
            <a:pPr marL="0" indent="0">
              <a:spcAft>
                <a:spcPts val="1200"/>
              </a:spcAft>
              <a:buNone/>
            </a:pPr>
            <a:r>
              <a:rPr lang="en-US" sz="2000" dirty="0">
                <a:solidFill>
                  <a:srgbClr val="333333"/>
                </a:solidFill>
              </a:rPr>
              <a:t>✓ Generateable in isolation</a:t>
            </a:r>
          </a:p>
          <a:p>
            <a:pPr marL="0" indent="0">
              <a:spcAft>
                <a:spcPts val="1200"/>
              </a:spcAft>
              <a:buNone/>
            </a:pPr>
            <a:r>
              <a:rPr lang="en-US" sz="2000" dirty="0">
                <a:solidFill>
                  <a:srgbClr val="333333"/>
                </a:solidFill>
              </a:rPr>
              <a:t>✓ Verifiable in isolation</a:t>
            </a:r>
          </a:p>
          <a:p>
            <a:pPr>
              <a:spcAft>
                <a:spcPts val="1200"/>
              </a:spcAft>
            </a:pPr>
            <a:r>
              <a:rPr lang="en-US" sz="2000" dirty="0">
                <a:solidFill>
                  <a:srgbClr val="333333"/>
                </a:solidFill>
              </a:rPr>
              <a:t>✓ Reduces Merge Conflicts to public interface changes only</a:t>
            </a:r>
          </a:p>
        </p:txBody>
      </p:sp>
      <p:sp>
        <p:nvSpPr>
          <p:cNvPr id="5" name="Shape 3">
            <a:extLst>
              <a:ext uri="{FF2B5EF4-FFF2-40B4-BE49-F238E27FC236}">
                <a16:creationId xmlns:a16="http://schemas.microsoft.com/office/drawing/2014/main" id="{4B368E62-22AF-F789-9202-45167D58D698}"/>
              </a:ext>
            </a:extLst>
          </p:cNvPr>
          <p:cNvSpPr/>
          <p:nvPr/>
        </p:nvSpPr>
        <p:spPr>
          <a:xfrm>
            <a:off x="548640" y="4607735"/>
            <a:ext cx="8046720" cy="731520"/>
          </a:xfrm>
          <a:prstGeom prst="rect">
            <a:avLst/>
          </a:prstGeom>
          <a:solidFill>
            <a:srgbClr val="F1F5F9"/>
          </a:solidFill>
          <a:ln/>
        </p:spPr>
        <p:txBody>
          <a:bodyPr/>
          <a:lstStyle/>
          <a:p>
            <a:endParaRPr lang="en-US"/>
          </a:p>
        </p:txBody>
      </p:sp>
      <p:sp>
        <p:nvSpPr>
          <p:cNvPr id="6" name="Text 4">
            <a:extLst>
              <a:ext uri="{FF2B5EF4-FFF2-40B4-BE49-F238E27FC236}">
                <a16:creationId xmlns:a16="http://schemas.microsoft.com/office/drawing/2014/main" id="{89C9883B-6A08-C8C2-E189-7202B7353E8A}"/>
              </a:ext>
            </a:extLst>
          </p:cNvPr>
          <p:cNvSpPr/>
          <p:nvPr/>
        </p:nvSpPr>
        <p:spPr>
          <a:xfrm>
            <a:off x="731520" y="4699175"/>
            <a:ext cx="7680960" cy="548640"/>
          </a:xfrm>
          <a:prstGeom prst="rect">
            <a:avLst/>
          </a:prstGeom>
          <a:noFill/>
          <a:ln/>
        </p:spPr>
        <p:txBody>
          <a:bodyPr wrap="square" rtlCol="0" anchor="ctr"/>
          <a:lstStyle/>
          <a:p>
            <a:pPr marL="0" indent="0" algn="ctr">
              <a:buNone/>
            </a:pPr>
            <a:r>
              <a:rPr lang="en-US" sz="2000" b="1" dirty="0">
                <a:solidFill>
                  <a:srgbClr val="000000"/>
                </a:solidFill>
              </a:rPr>
              <a:t>Breaking work into smaller units helps AIs with cognitive load (context management) just like people.</a:t>
            </a:r>
            <a:endParaRPr lang="en-US" sz="2000" dirty="0"/>
          </a:p>
        </p:txBody>
      </p:sp>
    </p:spTree>
    <p:extLst>
      <p:ext uri="{BB962C8B-B14F-4D97-AF65-F5344CB8AC3E}">
        <p14:creationId xmlns:p14="http://schemas.microsoft.com/office/powerpoint/2010/main" val="38821531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AI Assistants and Modules</a:t>
            </a:r>
            <a:endParaRPr lang="en-US" sz="4000" dirty="0"/>
          </a:p>
        </p:txBody>
      </p:sp>
      <p:sp>
        <p:nvSpPr>
          <p:cNvPr id="3" name="Text 1"/>
          <p:cNvSpPr/>
          <p:nvPr/>
        </p:nvSpPr>
        <p:spPr>
          <a:xfrm>
            <a:off x="548640" y="1280160"/>
            <a:ext cx="7772400" cy="457200"/>
          </a:xfrm>
          <a:prstGeom prst="rect">
            <a:avLst/>
          </a:prstGeom>
          <a:noFill/>
          <a:ln/>
        </p:spPr>
        <p:txBody>
          <a:bodyPr wrap="square" rtlCol="0" anchor="ctr"/>
          <a:lstStyle/>
          <a:p>
            <a:pPr marL="0" indent="0">
              <a:buNone/>
            </a:pPr>
            <a:r>
              <a:rPr lang="en-US" sz="2000" b="1" dirty="0">
                <a:solidFill>
                  <a:srgbClr val="000000"/>
                </a:solidFill>
              </a:rPr>
              <a:t>Why modular code suits AI assistants:</a:t>
            </a:r>
            <a:endParaRPr lang="en-US" sz="2000" dirty="0"/>
          </a:p>
        </p:txBody>
      </p:sp>
      <p:sp>
        <p:nvSpPr>
          <p:cNvPr id="4" name="Text 2"/>
          <p:cNvSpPr/>
          <p:nvPr/>
        </p:nvSpPr>
        <p:spPr>
          <a:xfrm>
            <a:off x="548640" y="1828800"/>
            <a:ext cx="7772400" cy="2511972"/>
          </a:xfrm>
          <a:prstGeom prst="rect">
            <a:avLst/>
          </a:prstGeom>
          <a:noFill/>
          <a:ln/>
        </p:spPr>
        <p:txBody>
          <a:bodyPr wrap="square" rtlCol="0" anchor="ctr"/>
          <a:lstStyle/>
          <a:p>
            <a:pPr marL="0" indent="0">
              <a:spcAft>
                <a:spcPts val="1200"/>
              </a:spcAft>
              <a:buNone/>
            </a:pPr>
            <a:r>
              <a:rPr lang="en-US" sz="2000" dirty="0">
                <a:solidFill>
                  <a:srgbClr val="333333"/>
                </a:solidFill>
              </a:rPr>
              <a:t>✓ Boundary for agent activity</a:t>
            </a:r>
          </a:p>
          <a:p>
            <a:pPr marL="0" indent="0">
              <a:spcAft>
                <a:spcPts val="1200"/>
              </a:spcAft>
              <a:buNone/>
            </a:pPr>
            <a:r>
              <a:rPr lang="en-US" sz="2000" dirty="0">
                <a:solidFill>
                  <a:srgbClr val="333333"/>
                </a:solidFill>
              </a:rPr>
              <a:t>✓ Clear interfaces to implement against</a:t>
            </a:r>
          </a:p>
          <a:p>
            <a:pPr marL="0" indent="0">
              <a:spcAft>
                <a:spcPts val="1200"/>
              </a:spcAft>
              <a:buNone/>
            </a:pPr>
            <a:r>
              <a:rPr lang="en-US" sz="2000" dirty="0">
                <a:solidFill>
                  <a:srgbClr val="333333"/>
                </a:solidFill>
              </a:rPr>
              <a:t>✓ Generateable in isolation</a:t>
            </a:r>
          </a:p>
          <a:p>
            <a:pPr marL="0" indent="0">
              <a:spcAft>
                <a:spcPts val="1200"/>
              </a:spcAft>
              <a:buNone/>
            </a:pPr>
            <a:r>
              <a:rPr lang="en-US" sz="2000" dirty="0">
                <a:solidFill>
                  <a:srgbClr val="333333"/>
                </a:solidFill>
              </a:rPr>
              <a:t>✓ Verifiable in isolation</a:t>
            </a:r>
          </a:p>
          <a:p>
            <a:pPr>
              <a:spcAft>
                <a:spcPts val="1200"/>
              </a:spcAft>
            </a:pPr>
            <a:r>
              <a:rPr lang="en-US" sz="2000" dirty="0">
                <a:solidFill>
                  <a:srgbClr val="333333"/>
                </a:solidFill>
              </a:rPr>
              <a:t>✓ Reduces Merge Conflicts to public interface changes only</a:t>
            </a:r>
          </a:p>
        </p:txBody>
      </p:sp>
      <p:sp>
        <p:nvSpPr>
          <p:cNvPr id="5" name="Shape 3"/>
          <p:cNvSpPr/>
          <p:nvPr/>
        </p:nvSpPr>
        <p:spPr>
          <a:xfrm>
            <a:off x="548640" y="4607735"/>
            <a:ext cx="8046720" cy="731520"/>
          </a:xfrm>
          <a:prstGeom prst="rect">
            <a:avLst/>
          </a:prstGeom>
          <a:solidFill>
            <a:srgbClr val="F1F5F9"/>
          </a:solidFill>
          <a:ln/>
        </p:spPr>
        <p:txBody>
          <a:bodyPr/>
          <a:lstStyle/>
          <a:p>
            <a:endParaRPr lang="en-US"/>
          </a:p>
        </p:txBody>
      </p:sp>
      <p:sp>
        <p:nvSpPr>
          <p:cNvPr id="6" name="Text 4"/>
          <p:cNvSpPr/>
          <p:nvPr/>
        </p:nvSpPr>
        <p:spPr>
          <a:xfrm>
            <a:off x="731520" y="4699175"/>
            <a:ext cx="7680960" cy="548640"/>
          </a:xfrm>
          <a:prstGeom prst="rect">
            <a:avLst/>
          </a:prstGeom>
          <a:noFill/>
          <a:ln/>
        </p:spPr>
        <p:txBody>
          <a:bodyPr wrap="square" rtlCol="0" anchor="ctr"/>
          <a:lstStyle/>
          <a:p>
            <a:pPr marL="0" indent="0" algn="ctr">
              <a:buNone/>
            </a:pPr>
            <a:r>
              <a:rPr lang="en-US" sz="2000" b="1" dirty="0">
                <a:solidFill>
                  <a:srgbClr val="000000"/>
                </a:solidFill>
              </a:rPr>
              <a:t>Breaking work into smaller units helps AIs with cognitive load (context management) just like people.</a:t>
            </a:r>
            <a:endParaRPr lang="en-US"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BB69B-C228-9CBC-C04B-18D4426A4F7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542A8D-2C8E-ADB5-3B38-F84901F0501A}"/>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Feature Flags</a:t>
            </a:r>
            <a:endParaRPr lang="en-US" sz="4000" dirty="0"/>
          </a:p>
        </p:txBody>
      </p:sp>
      <p:sp>
        <p:nvSpPr>
          <p:cNvPr id="3" name="Text 1">
            <a:extLst>
              <a:ext uri="{FF2B5EF4-FFF2-40B4-BE49-F238E27FC236}">
                <a16:creationId xmlns:a16="http://schemas.microsoft.com/office/drawing/2014/main" id="{BA04625E-579B-E865-0393-7FD0BC1D49D3}"/>
              </a:ext>
            </a:extLst>
          </p:cNvPr>
          <p:cNvSpPr/>
          <p:nvPr/>
        </p:nvSpPr>
        <p:spPr>
          <a:xfrm>
            <a:off x="548640" y="1280160"/>
            <a:ext cx="7772400" cy="457200"/>
          </a:xfrm>
          <a:prstGeom prst="rect">
            <a:avLst/>
          </a:prstGeom>
          <a:noFill/>
          <a:ln/>
        </p:spPr>
        <p:txBody>
          <a:bodyPr wrap="square" rtlCol="0" anchor="ctr"/>
          <a:lstStyle/>
          <a:p>
            <a:pPr marL="0" indent="0">
              <a:buNone/>
            </a:pPr>
            <a:r>
              <a:rPr lang="en-US" sz="2000" b="1" dirty="0">
                <a:solidFill>
                  <a:srgbClr val="000000"/>
                </a:solidFill>
              </a:rPr>
              <a:t>Controlling deployments by module</a:t>
            </a:r>
            <a:endParaRPr lang="en-US" sz="2000" dirty="0"/>
          </a:p>
        </p:txBody>
      </p:sp>
      <p:sp>
        <p:nvSpPr>
          <p:cNvPr id="4" name="Text 2">
            <a:extLst>
              <a:ext uri="{FF2B5EF4-FFF2-40B4-BE49-F238E27FC236}">
                <a16:creationId xmlns:a16="http://schemas.microsoft.com/office/drawing/2014/main" id="{2DA110AA-F0B4-95C2-0F9F-64E8074B50AE}"/>
              </a:ext>
            </a:extLst>
          </p:cNvPr>
          <p:cNvSpPr/>
          <p:nvPr/>
        </p:nvSpPr>
        <p:spPr>
          <a:xfrm>
            <a:off x="548640" y="1828800"/>
            <a:ext cx="7772400" cy="2049517"/>
          </a:xfrm>
          <a:prstGeom prst="rect">
            <a:avLst/>
          </a:prstGeom>
          <a:noFill/>
          <a:ln/>
        </p:spPr>
        <p:txBody>
          <a:bodyPr wrap="square" rtlCol="0" anchor="ctr"/>
          <a:lstStyle/>
          <a:p>
            <a:pPr marL="342900" indent="-342900">
              <a:spcAft>
                <a:spcPts val="1200"/>
              </a:spcAft>
              <a:buFont typeface="Arial" panose="020B0604020202020204" pitchFamily="34" charset="0"/>
              <a:buChar char="•"/>
            </a:pPr>
            <a:r>
              <a:rPr lang="en-US" sz="2000" dirty="0">
                <a:solidFill>
                  <a:srgbClr val="333333"/>
                </a:solidFill>
              </a:rPr>
              <a:t>Modules allow optionality</a:t>
            </a:r>
          </a:p>
          <a:p>
            <a:pPr marL="342900" indent="-342900">
              <a:spcAft>
                <a:spcPts val="1200"/>
              </a:spcAft>
              <a:buFont typeface="Arial" panose="020B0604020202020204" pitchFamily="34" charset="0"/>
              <a:buChar char="•"/>
            </a:pPr>
            <a:r>
              <a:rPr lang="en-US" sz="2000" dirty="0">
                <a:solidFill>
                  <a:srgbClr val="333333"/>
                </a:solidFill>
              </a:rPr>
              <a:t>Simple decision, module on or off.</a:t>
            </a:r>
          </a:p>
          <a:p>
            <a:pPr marL="342900" indent="-342900">
              <a:spcAft>
                <a:spcPts val="1200"/>
              </a:spcAft>
              <a:buFont typeface="Arial" panose="020B0604020202020204" pitchFamily="34" charset="0"/>
              <a:buChar char="•"/>
            </a:pPr>
            <a:r>
              <a:rPr lang="en-US" sz="2000" dirty="0">
                <a:solidFill>
                  <a:srgbClr val="333333"/>
                </a:solidFill>
              </a:rPr>
              <a:t>Complex decision, features in module, on or off</a:t>
            </a:r>
          </a:p>
          <a:p>
            <a:pPr marL="342900" indent="-342900">
              <a:spcAft>
                <a:spcPts val="1200"/>
              </a:spcAft>
              <a:buFont typeface="Arial" panose="020B0604020202020204" pitchFamily="34" charset="0"/>
              <a:buChar char="•"/>
            </a:pPr>
            <a:r>
              <a:rPr lang="en-US" sz="2000" dirty="0">
                <a:solidFill>
                  <a:srgbClr val="333333"/>
                </a:solidFill>
              </a:rPr>
              <a:t>Caller must assume optional module might not return values</a:t>
            </a:r>
          </a:p>
        </p:txBody>
      </p:sp>
      <p:sp>
        <p:nvSpPr>
          <p:cNvPr id="8" name="Shape 3">
            <a:extLst>
              <a:ext uri="{FF2B5EF4-FFF2-40B4-BE49-F238E27FC236}">
                <a16:creationId xmlns:a16="http://schemas.microsoft.com/office/drawing/2014/main" id="{2085EFB6-7BC8-A38E-16B4-6FC8F7A354FC}"/>
              </a:ext>
            </a:extLst>
          </p:cNvPr>
          <p:cNvSpPr/>
          <p:nvPr/>
        </p:nvSpPr>
        <p:spPr>
          <a:xfrm>
            <a:off x="548640" y="4607735"/>
            <a:ext cx="8046720" cy="731520"/>
          </a:xfrm>
          <a:prstGeom prst="rect">
            <a:avLst/>
          </a:prstGeom>
          <a:solidFill>
            <a:srgbClr val="F1F5F9"/>
          </a:solidFill>
          <a:ln/>
        </p:spPr>
        <p:txBody>
          <a:bodyPr/>
          <a:lstStyle/>
          <a:p>
            <a:endParaRPr lang="en-US"/>
          </a:p>
        </p:txBody>
      </p:sp>
      <p:sp>
        <p:nvSpPr>
          <p:cNvPr id="9" name="Text 4">
            <a:extLst>
              <a:ext uri="{FF2B5EF4-FFF2-40B4-BE49-F238E27FC236}">
                <a16:creationId xmlns:a16="http://schemas.microsoft.com/office/drawing/2014/main" id="{0914DC02-E13C-D443-5A84-A44DB9517B9D}"/>
              </a:ext>
            </a:extLst>
          </p:cNvPr>
          <p:cNvSpPr/>
          <p:nvPr/>
        </p:nvSpPr>
        <p:spPr>
          <a:xfrm>
            <a:off x="731520" y="4699175"/>
            <a:ext cx="7680960" cy="548640"/>
          </a:xfrm>
          <a:prstGeom prst="rect">
            <a:avLst/>
          </a:prstGeom>
          <a:noFill/>
          <a:ln/>
        </p:spPr>
        <p:txBody>
          <a:bodyPr wrap="square" rtlCol="0" anchor="ctr"/>
          <a:lstStyle/>
          <a:p>
            <a:pPr marL="0" indent="0" algn="ctr">
              <a:buNone/>
            </a:pPr>
            <a:r>
              <a:rPr lang="en-US" sz="2000" b="1" dirty="0">
                <a:solidFill>
                  <a:srgbClr val="000000"/>
                </a:solidFill>
              </a:rPr>
              <a:t>Far easier to control optionality at module boundary than spread throughout code</a:t>
            </a:r>
            <a:endParaRPr lang="en-US" sz="2000" dirty="0"/>
          </a:p>
        </p:txBody>
      </p:sp>
    </p:spTree>
    <p:extLst>
      <p:ext uri="{BB962C8B-B14F-4D97-AF65-F5344CB8AC3E}">
        <p14:creationId xmlns:p14="http://schemas.microsoft.com/office/powerpoint/2010/main" val="29503016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5BAFF-0A7D-AB10-F6B8-31355D77FA1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1AC29D-38B3-0988-BA5A-614433AA7851}"/>
              </a:ext>
            </a:extLst>
          </p:cNvPr>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Deployment</a:t>
            </a:r>
            <a:endParaRPr lang="en-US" sz="4000" dirty="0"/>
          </a:p>
        </p:txBody>
      </p:sp>
      <p:sp>
        <p:nvSpPr>
          <p:cNvPr id="3" name="Text 1">
            <a:extLst>
              <a:ext uri="{FF2B5EF4-FFF2-40B4-BE49-F238E27FC236}">
                <a16:creationId xmlns:a16="http://schemas.microsoft.com/office/drawing/2014/main" id="{9452DBB9-B785-25A1-731D-45FFAE1052DE}"/>
              </a:ext>
            </a:extLst>
          </p:cNvPr>
          <p:cNvSpPr/>
          <p:nvPr/>
        </p:nvSpPr>
        <p:spPr>
          <a:xfrm>
            <a:off x="548640" y="1280160"/>
            <a:ext cx="7772400" cy="457200"/>
          </a:xfrm>
          <a:prstGeom prst="rect">
            <a:avLst/>
          </a:prstGeom>
          <a:noFill/>
          <a:ln/>
        </p:spPr>
        <p:txBody>
          <a:bodyPr wrap="square" rtlCol="0" anchor="ctr"/>
          <a:lstStyle/>
          <a:p>
            <a:pPr marL="0" indent="0">
              <a:buNone/>
            </a:pPr>
            <a:r>
              <a:rPr lang="en-US" sz="2000" b="1" dirty="0">
                <a:solidFill>
                  <a:srgbClr val="000000"/>
                </a:solidFill>
              </a:rPr>
              <a:t>Controlling deployments by module</a:t>
            </a:r>
            <a:endParaRPr lang="en-US" sz="2000" dirty="0"/>
          </a:p>
        </p:txBody>
      </p:sp>
      <p:sp>
        <p:nvSpPr>
          <p:cNvPr id="4" name="Text 2">
            <a:extLst>
              <a:ext uri="{FF2B5EF4-FFF2-40B4-BE49-F238E27FC236}">
                <a16:creationId xmlns:a16="http://schemas.microsoft.com/office/drawing/2014/main" id="{07872DD2-191F-B51D-283C-21C13E0D67A8}"/>
              </a:ext>
            </a:extLst>
          </p:cNvPr>
          <p:cNvSpPr/>
          <p:nvPr/>
        </p:nvSpPr>
        <p:spPr>
          <a:xfrm>
            <a:off x="548640" y="1828800"/>
            <a:ext cx="7772400" cy="2049517"/>
          </a:xfrm>
          <a:prstGeom prst="rect">
            <a:avLst/>
          </a:prstGeom>
          <a:noFill/>
          <a:ln/>
        </p:spPr>
        <p:txBody>
          <a:bodyPr wrap="square" rtlCol="0" anchor="ctr"/>
          <a:lstStyle/>
          <a:p>
            <a:pPr marL="342900" indent="-342900">
              <a:spcAft>
                <a:spcPts val="1200"/>
              </a:spcAft>
              <a:buFont typeface="Arial" panose="020B0604020202020204" pitchFamily="34" charset="0"/>
              <a:buChar char="•"/>
            </a:pPr>
            <a:r>
              <a:rPr lang="en-US" sz="2000" dirty="0">
                <a:solidFill>
                  <a:srgbClr val="333333"/>
                </a:solidFill>
              </a:rPr>
              <a:t>Modules allow us to configure with different versions</a:t>
            </a:r>
          </a:p>
          <a:p>
            <a:pPr marL="342900" indent="-342900">
              <a:spcAft>
                <a:spcPts val="1200"/>
              </a:spcAft>
              <a:buFont typeface="Arial" panose="020B0604020202020204" pitchFamily="34" charset="0"/>
              <a:buChar char="•"/>
            </a:pPr>
            <a:r>
              <a:rPr lang="en-US" sz="2000" dirty="0">
                <a:solidFill>
                  <a:srgbClr val="333333"/>
                </a:solidFill>
              </a:rPr>
              <a:t>Allows canary deployments with feedback narrowed to specific change.</a:t>
            </a:r>
          </a:p>
          <a:p>
            <a:pPr marL="342900" indent="-342900">
              <a:spcAft>
                <a:spcPts val="1200"/>
              </a:spcAft>
              <a:buFont typeface="Arial" panose="020B0604020202020204" pitchFamily="34" charset="0"/>
              <a:buChar char="•"/>
            </a:pPr>
            <a:r>
              <a:rPr lang="en-US" sz="2000" dirty="0">
                <a:solidFill>
                  <a:srgbClr val="333333"/>
                </a:solidFill>
              </a:rPr>
              <a:t>We can try a wholly different approach, provided it implements the same facade</a:t>
            </a:r>
          </a:p>
        </p:txBody>
      </p:sp>
    </p:spTree>
    <p:extLst>
      <p:ext uri="{BB962C8B-B14F-4D97-AF65-F5344CB8AC3E}">
        <p14:creationId xmlns:p14="http://schemas.microsoft.com/office/powerpoint/2010/main" val="8685174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Modular Monoliths and Microservices</a:t>
            </a:r>
            <a:endParaRPr lang="en-US" sz="4000" dirty="0"/>
          </a:p>
        </p:txBody>
      </p:sp>
      <p:sp>
        <p:nvSpPr>
          <p:cNvPr id="3" name="Text 1"/>
          <p:cNvSpPr/>
          <p:nvPr/>
        </p:nvSpPr>
        <p:spPr>
          <a:xfrm>
            <a:off x="457199" y="1188720"/>
            <a:ext cx="8229600" cy="457200"/>
          </a:xfrm>
          <a:prstGeom prst="rect">
            <a:avLst/>
          </a:prstGeom>
          <a:noFill/>
          <a:ln/>
        </p:spPr>
        <p:txBody>
          <a:bodyPr wrap="square" rtlCol="0" anchor="ctr"/>
          <a:lstStyle/>
          <a:p>
            <a:pPr marL="0" indent="0">
              <a:buNone/>
            </a:pPr>
            <a:r>
              <a:rPr lang="en-US" sz="1800" dirty="0">
                <a:solidFill>
                  <a:srgbClr val="64748B"/>
                </a:solidFill>
              </a:rPr>
              <a:t>Modules are not just for Modular Monoliths</a:t>
            </a:r>
            <a:endParaRPr lang="en-US" sz="1800" dirty="0"/>
          </a:p>
        </p:txBody>
      </p:sp>
      <p:sp>
        <p:nvSpPr>
          <p:cNvPr id="4" name="Text 2"/>
          <p:cNvSpPr/>
          <p:nvPr/>
        </p:nvSpPr>
        <p:spPr>
          <a:xfrm>
            <a:off x="548640" y="1645919"/>
            <a:ext cx="7772400" cy="2788919"/>
          </a:xfrm>
          <a:prstGeom prst="rect">
            <a:avLst/>
          </a:prstGeom>
          <a:noFill/>
          <a:ln/>
        </p:spPr>
        <p:txBody>
          <a:bodyPr wrap="square" rtlCol="0" anchor="ctr"/>
          <a:lstStyle/>
          <a:p>
            <a:pPr marL="342900" indent="-342900">
              <a:spcAft>
                <a:spcPts val="1200"/>
              </a:spcAft>
              <a:buFont typeface="Arial" panose="020B0604020202020204" pitchFamily="34" charset="0"/>
              <a:buChar char="•"/>
            </a:pPr>
            <a:r>
              <a:rPr lang="en-US" sz="2000" dirty="0">
                <a:solidFill>
                  <a:srgbClr val="333333"/>
                </a:solidFill>
              </a:rPr>
              <a:t>Modular Design is about maintainability</a:t>
            </a:r>
          </a:p>
          <a:p>
            <a:pPr marL="342900" indent="-342900">
              <a:spcAft>
                <a:spcPts val="1200"/>
              </a:spcAft>
              <a:buFont typeface="Arial" panose="020B0604020202020204" pitchFamily="34" charset="0"/>
              <a:buChar char="•"/>
            </a:pPr>
            <a:r>
              <a:rPr lang="en-US" sz="2000" dirty="0">
                <a:solidFill>
                  <a:srgbClr val="333333"/>
                </a:solidFill>
              </a:rPr>
              <a:t>Modules are not domains (or bounded contexts)</a:t>
            </a:r>
          </a:p>
          <a:p>
            <a:pPr marL="342900" indent="-342900">
              <a:spcAft>
                <a:spcPts val="1200"/>
              </a:spcAft>
              <a:buFont typeface="Arial" panose="020B0604020202020204" pitchFamily="34" charset="0"/>
              <a:buChar char="•"/>
            </a:pPr>
            <a:r>
              <a:rPr lang="en-US" sz="2000" dirty="0">
                <a:solidFill>
                  <a:srgbClr val="333333"/>
                </a:solidFill>
              </a:rPr>
              <a:t>Domains (or bounded contexts) are not modules</a:t>
            </a:r>
          </a:p>
          <a:p>
            <a:pPr marL="342900" indent="-342900">
              <a:spcAft>
                <a:spcPts val="1200"/>
              </a:spcAft>
              <a:buFont typeface="Arial" panose="020B0604020202020204" pitchFamily="34" charset="0"/>
              <a:buChar char="•"/>
            </a:pPr>
            <a:r>
              <a:rPr lang="en-US" sz="2000" dirty="0">
                <a:solidFill>
                  <a:srgbClr val="333333"/>
                </a:solidFill>
              </a:rPr>
              <a:t>Modules are a distinct concept in DDD from bounded contexts. A bounded context may have many modules. Modules in the domain should highlight domain concepts.</a:t>
            </a:r>
          </a:p>
          <a:p>
            <a:pPr marL="342900" indent="-342900">
              <a:spcAft>
                <a:spcPts val="1200"/>
              </a:spcAft>
              <a:buFont typeface="Arial" panose="020B0604020202020204" pitchFamily="34" charset="0"/>
              <a:buChar char="•"/>
            </a:pPr>
            <a:r>
              <a:rPr lang="en-US" sz="2000" dirty="0">
                <a:solidFill>
                  <a:srgbClr val="333333"/>
                </a:solidFill>
              </a:rPr>
              <a:t>Both monoliths and microservices may have many modules</a:t>
            </a:r>
          </a:p>
        </p:txBody>
      </p:sp>
      <p:sp>
        <p:nvSpPr>
          <p:cNvPr id="5" name="Shape 3"/>
          <p:cNvSpPr/>
          <p:nvPr/>
        </p:nvSpPr>
        <p:spPr>
          <a:xfrm>
            <a:off x="457199" y="4892039"/>
            <a:ext cx="8229599" cy="1436025"/>
          </a:xfrm>
          <a:prstGeom prst="rect">
            <a:avLst/>
          </a:prstGeom>
          <a:solidFill>
            <a:srgbClr val="2C3E50"/>
          </a:solidFill>
          <a:ln/>
        </p:spPr>
        <p:txBody>
          <a:bodyPr/>
          <a:lstStyle/>
          <a:p>
            <a:endParaRPr lang="en-US"/>
          </a:p>
        </p:txBody>
      </p:sp>
      <p:sp>
        <p:nvSpPr>
          <p:cNvPr id="6" name="Text 4"/>
          <p:cNvSpPr/>
          <p:nvPr/>
        </p:nvSpPr>
        <p:spPr>
          <a:xfrm>
            <a:off x="640080" y="4983479"/>
            <a:ext cx="7680960" cy="1136765"/>
          </a:xfrm>
          <a:prstGeom prst="rect">
            <a:avLst/>
          </a:prstGeom>
          <a:noFill/>
          <a:ln/>
        </p:spPr>
        <p:txBody>
          <a:bodyPr wrap="square" rtlCol="0" anchor="ctr"/>
          <a:lstStyle/>
          <a:p>
            <a:pPr algn="ctr"/>
            <a:r>
              <a:rPr lang="en-US" sz="2000" b="1" dirty="0">
                <a:solidFill>
                  <a:srgbClr val="FFFFFF"/>
                </a:solidFill>
              </a:rPr>
              <a:t>“</a:t>
            </a:r>
            <a:r>
              <a:rPr lang="en-US" sz="2000" dirty="0">
                <a:solidFill>
                  <a:srgbClr val="FFFFFF"/>
                </a:solidFill>
              </a:rPr>
              <a:t>The MODULES </a:t>
            </a:r>
            <a:r>
              <a:rPr lang="en-US" sz="2000" b="1" dirty="0">
                <a:solidFill>
                  <a:srgbClr val="FFFFFF"/>
                </a:solidFill>
              </a:rPr>
              <a:t>in</a:t>
            </a:r>
            <a:r>
              <a:rPr lang="en-US" sz="2000" dirty="0">
                <a:solidFill>
                  <a:srgbClr val="FFFFFF"/>
                </a:solidFill>
              </a:rPr>
              <a:t> the domain layer should emerge as a meaningful part of the model, telling the story of the domain on a larger scale.”</a:t>
            </a:r>
          </a:p>
          <a:p>
            <a:pPr algn="r"/>
            <a:r>
              <a:rPr lang="en-US" sz="2000" dirty="0">
                <a:solidFill>
                  <a:srgbClr val="FFFFFF"/>
                </a:solidFill>
              </a:rPr>
              <a:t>Evans, Eric; Domain Driven Design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2980B9"/>
        </a:solidFill>
        <a:effectLst/>
      </p:bgPr>
    </p:bg>
    <p:spTree>
      <p:nvGrpSpPr>
        <p:cNvPr id="1" name="">
          <a:extLst>
            <a:ext uri="{FF2B5EF4-FFF2-40B4-BE49-F238E27FC236}">
              <a16:creationId xmlns:a16="http://schemas.microsoft.com/office/drawing/2014/main" id="{3687B97D-1E47-B5F8-2D50-227AB8BB6E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E03EBE-2260-B3E1-CF27-86547A4E2282}"/>
              </a:ext>
            </a:extLst>
          </p:cNvPr>
          <p:cNvSpPr/>
          <p:nvPr/>
        </p:nvSpPr>
        <p:spPr>
          <a:xfrm>
            <a:off x="457200" y="2286000"/>
            <a:ext cx="8229600" cy="1097280"/>
          </a:xfrm>
          <a:prstGeom prst="rect">
            <a:avLst/>
          </a:prstGeom>
          <a:noFill/>
          <a:ln/>
        </p:spPr>
        <p:txBody>
          <a:bodyPr wrap="square" rtlCol="0" anchor="ctr"/>
          <a:lstStyle/>
          <a:p>
            <a:pPr marL="0" indent="0">
              <a:buNone/>
            </a:pPr>
            <a:r>
              <a:rPr lang="en-US" sz="4400" b="1" dirty="0">
                <a:solidFill>
                  <a:srgbClr val="FFFFFF"/>
                </a:solidFill>
              </a:rPr>
              <a:t>Wrap Up</a:t>
            </a:r>
            <a:endParaRPr lang="en-US" sz="4400" dirty="0"/>
          </a:p>
        </p:txBody>
      </p:sp>
    </p:spTree>
    <p:extLst>
      <p:ext uri="{BB962C8B-B14F-4D97-AF65-F5344CB8AC3E}">
        <p14:creationId xmlns:p14="http://schemas.microsoft.com/office/powerpoint/2010/main" val="18235816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The Journey</a:t>
            </a:r>
            <a:endParaRPr lang="en-US" sz="4000" dirty="0"/>
          </a:p>
        </p:txBody>
      </p:sp>
      <p:sp>
        <p:nvSpPr>
          <p:cNvPr id="3" name="Shape 1"/>
          <p:cNvSpPr/>
          <p:nvPr/>
        </p:nvSpPr>
        <p:spPr>
          <a:xfrm>
            <a:off x="457200" y="1371600"/>
            <a:ext cx="1828800" cy="548640"/>
          </a:xfrm>
          <a:prstGeom prst="roundRect">
            <a:avLst/>
          </a:prstGeom>
          <a:solidFill>
            <a:srgbClr val="2C3E50"/>
          </a:solidFill>
          <a:ln/>
        </p:spPr>
        <p:txBody>
          <a:bodyPr/>
          <a:lstStyle/>
          <a:p>
            <a:endParaRPr lang="en-US"/>
          </a:p>
        </p:txBody>
      </p:sp>
      <p:sp>
        <p:nvSpPr>
          <p:cNvPr id="4" name="Text 2"/>
          <p:cNvSpPr/>
          <p:nvPr/>
        </p:nvSpPr>
        <p:spPr>
          <a:xfrm>
            <a:off x="457200" y="1371600"/>
            <a:ext cx="1828800" cy="548640"/>
          </a:xfrm>
          <a:prstGeom prst="rect">
            <a:avLst/>
          </a:prstGeom>
          <a:noFill/>
          <a:ln/>
        </p:spPr>
        <p:txBody>
          <a:bodyPr wrap="square" rtlCol="0" anchor="ctr"/>
          <a:lstStyle/>
          <a:p>
            <a:pPr marL="0" indent="0" algn="ctr">
              <a:buNone/>
            </a:pPr>
            <a:r>
              <a:rPr lang="en-US" sz="1300" b="1" dirty="0">
                <a:solidFill>
                  <a:srgbClr val="FFFFFF"/>
                </a:solidFill>
              </a:rPr>
              <a:t>Requirement</a:t>
            </a:r>
            <a:endParaRPr lang="en-US" sz="1300" dirty="0"/>
          </a:p>
        </p:txBody>
      </p:sp>
      <p:sp>
        <p:nvSpPr>
          <p:cNvPr id="5" name="Text 3"/>
          <p:cNvSpPr/>
          <p:nvPr/>
        </p:nvSpPr>
        <p:spPr>
          <a:xfrm>
            <a:off x="2286000" y="1371600"/>
            <a:ext cx="36576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6" name="Shape 4"/>
          <p:cNvSpPr/>
          <p:nvPr/>
        </p:nvSpPr>
        <p:spPr>
          <a:xfrm>
            <a:off x="2651760" y="1371600"/>
            <a:ext cx="1828800" cy="548640"/>
          </a:xfrm>
          <a:prstGeom prst="roundRect">
            <a:avLst/>
          </a:prstGeom>
          <a:solidFill>
            <a:srgbClr val="2980B9"/>
          </a:solidFill>
          <a:ln/>
        </p:spPr>
        <p:txBody>
          <a:bodyPr/>
          <a:lstStyle/>
          <a:p>
            <a:endParaRPr lang="en-US"/>
          </a:p>
        </p:txBody>
      </p:sp>
      <p:sp>
        <p:nvSpPr>
          <p:cNvPr id="7" name="Text 5"/>
          <p:cNvSpPr/>
          <p:nvPr/>
        </p:nvSpPr>
        <p:spPr>
          <a:xfrm>
            <a:off x="2651760" y="1371600"/>
            <a:ext cx="1828800" cy="548640"/>
          </a:xfrm>
          <a:prstGeom prst="rect">
            <a:avLst/>
          </a:prstGeom>
          <a:noFill/>
          <a:ln/>
        </p:spPr>
        <p:txBody>
          <a:bodyPr wrap="square" rtlCol="0" anchor="ctr"/>
          <a:lstStyle/>
          <a:p>
            <a:pPr marL="0" indent="0" algn="ctr">
              <a:buNone/>
            </a:pPr>
            <a:r>
              <a:rPr lang="en-US" sz="1300" b="1" dirty="0">
                <a:solidFill>
                  <a:srgbClr val="FFFFFF"/>
                </a:solidFill>
              </a:rPr>
              <a:t>Modules</a:t>
            </a:r>
            <a:endParaRPr lang="en-US" sz="1300" dirty="0"/>
          </a:p>
        </p:txBody>
      </p:sp>
      <p:sp>
        <p:nvSpPr>
          <p:cNvPr id="8" name="Text 6"/>
          <p:cNvSpPr/>
          <p:nvPr/>
        </p:nvSpPr>
        <p:spPr>
          <a:xfrm>
            <a:off x="4480560" y="1371600"/>
            <a:ext cx="36576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9" name="Shape 7"/>
          <p:cNvSpPr/>
          <p:nvPr/>
        </p:nvSpPr>
        <p:spPr>
          <a:xfrm>
            <a:off x="4846320" y="1371600"/>
            <a:ext cx="1828800" cy="548640"/>
          </a:xfrm>
          <a:prstGeom prst="roundRect">
            <a:avLst/>
          </a:prstGeom>
          <a:solidFill>
            <a:srgbClr val="2C3E50"/>
          </a:solidFill>
          <a:ln/>
        </p:spPr>
        <p:txBody>
          <a:bodyPr/>
          <a:lstStyle/>
          <a:p>
            <a:endParaRPr lang="en-US"/>
          </a:p>
        </p:txBody>
      </p:sp>
      <p:sp>
        <p:nvSpPr>
          <p:cNvPr id="10" name="Text 8"/>
          <p:cNvSpPr/>
          <p:nvPr/>
        </p:nvSpPr>
        <p:spPr>
          <a:xfrm>
            <a:off x="4846320" y="1371600"/>
            <a:ext cx="1828800" cy="548640"/>
          </a:xfrm>
          <a:prstGeom prst="rect">
            <a:avLst/>
          </a:prstGeom>
          <a:noFill/>
          <a:ln/>
        </p:spPr>
        <p:txBody>
          <a:bodyPr wrap="square" rtlCol="0" anchor="ctr"/>
          <a:lstStyle/>
          <a:p>
            <a:pPr marL="0" indent="0" algn="ctr">
              <a:buNone/>
            </a:pPr>
            <a:r>
              <a:rPr lang="en-US" sz="1300" b="1" dirty="0">
                <a:solidFill>
                  <a:srgbClr val="FFFFFF"/>
                </a:solidFill>
              </a:rPr>
              <a:t>Organization</a:t>
            </a:r>
            <a:endParaRPr lang="en-US" sz="1300" dirty="0"/>
          </a:p>
        </p:txBody>
      </p:sp>
      <p:sp>
        <p:nvSpPr>
          <p:cNvPr id="11" name="Text 9"/>
          <p:cNvSpPr/>
          <p:nvPr/>
        </p:nvSpPr>
        <p:spPr>
          <a:xfrm>
            <a:off x="6675120" y="1371600"/>
            <a:ext cx="36576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2" name="Shape 10"/>
          <p:cNvSpPr/>
          <p:nvPr/>
        </p:nvSpPr>
        <p:spPr>
          <a:xfrm>
            <a:off x="7040880" y="1371600"/>
            <a:ext cx="1828800" cy="548640"/>
          </a:xfrm>
          <a:prstGeom prst="roundRect">
            <a:avLst/>
          </a:prstGeom>
          <a:solidFill>
            <a:srgbClr val="2980B9"/>
          </a:solidFill>
          <a:ln/>
        </p:spPr>
        <p:txBody>
          <a:bodyPr/>
          <a:lstStyle/>
          <a:p>
            <a:endParaRPr lang="en-US"/>
          </a:p>
        </p:txBody>
      </p:sp>
      <p:sp>
        <p:nvSpPr>
          <p:cNvPr id="13" name="Text 11"/>
          <p:cNvSpPr/>
          <p:nvPr/>
        </p:nvSpPr>
        <p:spPr>
          <a:xfrm>
            <a:off x="7040880" y="1371600"/>
            <a:ext cx="1828800" cy="548640"/>
          </a:xfrm>
          <a:prstGeom prst="rect">
            <a:avLst/>
          </a:prstGeom>
          <a:noFill/>
          <a:ln/>
        </p:spPr>
        <p:txBody>
          <a:bodyPr wrap="square" rtlCol="0" anchor="ctr"/>
          <a:lstStyle/>
          <a:p>
            <a:pPr marL="0" indent="0" algn="ctr">
              <a:buNone/>
            </a:pPr>
            <a:r>
              <a:rPr lang="en-US" sz="1300" b="1" dirty="0">
                <a:solidFill>
                  <a:srgbClr val="FFFFFF"/>
                </a:solidFill>
              </a:rPr>
              <a:t>Usage</a:t>
            </a:r>
            <a:endParaRPr lang="en-US" sz="1300" dirty="0"/>
          </a:p>
        </p:txBody>
      </p:sp>
      <p:sp>
        <p:nvSpPr>
          <p:cNvPr id="14" name="Text 12"/>
          <p:cNvSpPr/>
          <p:nvPr/>
        </p:nvSpPr>
        <p:spPr>
          <a:xfrm>
            <a:off x="548640" y="2194560"/>
            <a:ext cx="7772400" cy="2011680"/>
          </a:xfrm>
          <a:prstGeom prst="rect">
            <a:avLst/>
          </a:prstGeom>
          <a:noFill/>
          <a:ln/>
        </p:spPr>
        <p:txBody>
          <a:bodyPr wrap="square" rtlCol="0" anchor="ctr"/>
          <a:lstStyle/>
          <a:p>
            <a:pPr marL="342900" indent="-342900">
              <a:spcAft>
                <a:spcPts val="1000"/>
              </a:spcAft>
              <a:buAutoNum type="arabicPeriod"/>
            </a:pPr>
            <a:r>
              <a:rPr lang="en-US" sz="1800" dirty="0">
                <a:solidFill>
                  <a:srgbClr val="333333"/>
                </a:solidFill>
              </a:rPr>
              <a:t>Take a requirement</a:t>
            </a:r>
          </a:p>
          <a:p>
            <a:pPr marL="342900" indent="-342900">
              <a:spcAft>
                <a:spcPts val="1000"/>
              </a:spcAft>
              <a:buAutoNum type="arabicPeriod"/>
            </a:pPr>
            <a:r>
              <a:rPr lang="en-US" sz="1800" dirty="0">
                <a:solidFill>
                  <a:srgbClr val="333333"/>
                </a:solidFill>
              </a:rPr>
              <a:t>Discover modules (workflow, actor/action)</a:t>
            </a:r>
          </a:p>
          <a:p>
            <a:pPr marL="342900" indent="-342900">
              <a:spcAft>
                <a:spcPts val="1000"/>
              </a:spcAft>
              <a:buAutoNum type="arabicPeriod"/>
            </a:pPr>
            <a:r>
              <a:rPr lang="en-US" sz="1800" dirty="0">
                <a:solidFill>
                  <a:srgbClr val="333333"/>
                </a:solidFill>
              </a:rPr>
              <a:t>Review modules (Parnas, coupling, entity trap)</a:t>
            </a:r>
          </a:p>
          <a:p>
            <a:pPr marL="342900" indent="-342900">
              <a:spcAft>
                <a:spcPts val="1000"/>
              </a:spcAft>
              <a:buAutoNum type="arabicPeriod"/>
            </a:pPr>
            <a:r>
              <a:rPr lang="en-US" sz="1800" dirty="0">
                <a:solidFill>
                  <a:srgbClr val="333333"/>
                </a:solidFill>
              </a:rPr>
              <a:t>Choose organization (technical vs domain)</a:t>
            </a:r>
          </a:p>
          <a:p>
            <a:pPr marL="342900" indent="-342900">
              <a:spcAft>
                <a:spcPts val="1000"/>
              </a:spcAft>
              <a:buAutoNum type="arabicPeriod"/>
            </a:pPr>
            <a:r>
              <a:rPr lang="en-US" sz="1800" dirty="0">
                <a:solidFill>
                  <a:srgbClr val="333333"/>
                </a:solidFill>
              </a:rPr>
              <a:t>Work with modules (TDD + AI)</a:t>
            </a:r>
            <a:endParaRPr lang="en-US" sz="1800" dirty="0"/>
          </a:p>
        </p:txBody>
      </p:sp>
      <p:sp>
        <p:nvSpPr>
          <p:cNvPr id="15" name="Shape 13"/>
          <p:cNvSpPr/>
          <p:nvPr/>
        </p:nvSpPr>
        <p:spPr>
          <a:xfrm>
            <a:off x="548640" y="4297680"/>
            <a:ext cx="8046720" cy="548640"/>
          </a:xfrm>
          <a:prstGeom prst="rect">
            <a:avLst/>
          </a:prstGeom>
          <a:solidFill>
            <a:srgbClr val="F1F5F9"/>
          </a:solidFill>
          <a:ln/>
        </p:spPr>
        <p:txBody>
          <a:bodyPr/>
          <a:lstStyle/>
          <a:p>
            <a:endParaRPr lang="en-US"/>
          </a:p>
        </p:txBody>
      </p:sp>
      <p:sp>
        <p:nvSpPr>
          <p:cNvPr id="16" name="Text 14"/>
          <p:cNvSpPr/>
          <p:nvPr/>
        </p:nvSpPr>
        <p:spPr>
          <a:xfrm>
            <a:off x="731520" y="4389120"/>
            <a:ext cx="7680960" cy="365760"/>
          </a:xfrm>
          <a:prstGeom prst="rect">
            <a:avLst/>
          </a:prstGeom>
          <a:noFill/>
          <a:ln/>
        </p:spPr>
        <p:txBody>
          <a:bodyPr wrap="square" rtlCol="0" anchor="ctr"/>
          <a:lstStyle/>
          <a:p>
            <a:pPr marL="0" indent="0" algn="ctr">
              <a:buNone/>
            </a:pPr>
            <a:r>
              <a:rPr lang="en-US" sz="1800" b="1" dirty="0">
                <a:solidFill>
                  <a:srgbClr val="000000"/>
                </a:solidFill>
              </a:rPr>
              <a:t>Modular software is simpler to author and maintain</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4000" b="1" dirty="0">
                <a:solidFill>
                  <a:srgbClr val="2C3E50"/>
                </a:solidFill>
              </a:rPr>
              <a:t>References &amp; Further Reading</a:t>
            </a:r>
            <a:endParaRPr lang="en-US" sz="4000" dirty="0"/>
          </a:p>
        </p:txBody>
      </p:sp>
      <p:sp>
        <p:nvSpPr>
          <p:cNvPr id="3" name="Text 1"/>
          <p:cNvSpPr/>
          <p:nvPr/>
        </p:nvSpPr>
        <p:spPr>
          <a:xfrm>
            <a:off x="548640" y="1371600"/>
            <a:ext cx="7772400" cy="2560320"/>
          </a:xfrm>
          <a:prstGeom prst="rect">
            <a:avLst/>
          </a:prstGeom>
          <a:noFill/>
          <a:ln/>
        </p:spPr>
        <p:txBody>
          <a:bodyPr wrap="square" rtlCol="0" anchor="ctr"/>
          <a:lstStyle/>
          <a:p>
            <a:pPr marL="285750" indent="-285750">
              <a:spcAft>
                <a:spcPts val="1200"/>
              </a:spcAft>
              <a:buFont typeface="Arial" panose="020B0604020202020204" pitchFamily="34" charset="0"/>
              <a:buChar char="•"/>
            </a:pPr>
            <a:r>
              <a:rPr lang="en-US" sz="1700" dirty="0">
                <a:solidFill>
                  <a:srgbClr val="333333"/>
                </a:solidFill>
              </a:rPr>
              <a:t>Parnas: "On the Criteria to Be Used in Decomposing Systems into Modules" (1972)</a:t>
            </a:r>
          </a:p>
          <a:p>
            <a:pPr marL="285750" indent="-285750">
              <a:spcAft>
                <a:spcPts val="1200"/>
              </a:spcAft>
              <a:buFont typeface="Arial" panose="020B0604020202020204" pitchFamily="34" charset="0"/>
              <a:buChar char="•"/>
            </a:pPr>
            <a:r>
              <a:rPr lang="en-US" sz="1700" dirty="0">
                <a:solidFill>
                  <a:srgbClr val="333333"/>
                </a:solidFill>
              </a:rPr>
              <a:t>Yourdon &amp; Constantine: Structured Design (1979)</a:t>
            </a:r>
          </a:p>
          <a:p>
            <a:pPr marL="285750" indent="-285750">
              <a:spcAft>
                <a:spcPts val="1200"/>
              </a:spcAft>
              <a:buFont typeface="Arial" panose="020B0604020202020204" pitchFamily="34" charset="0"/>
              <a:buChar char="•"/>
            </a:pPr>
            <a:r>
              <a:rPr lang="en-US" sz="1700" dirty="0">
                <a:solidFill>
                  <a:srgbClr val="333333"/>
                </a:solidFill>
              </a:rPr>
              <a:t>Richards &amp; Ford: Fundamentals of Software Architecture</a:t>
            </a:r>
          </a:p>
          <a:p>
            <a:pPr marL="285750" indent="-285750">
              <a:spcAft>
                <a:spcPts val="1200"/>
              </a:spcAft>
              <a:buFont typeface="Arial" panose="020B0604020202020204" pitchFamily="34" charset="0"/>
              <a:buChar char="•"/>
            </a:pPr>
            <a:r>
              <a:rPr lang="en-US" sz="1700" dirty="0">
                <a:solidFill>
                  <a:srgbClr val="333333"/>
                </a:solidFill>
              </a:rPr>
              <a:t>Riel &amp; Metz: Head First Software Architecture</a:t>
            </a:r>
          </a:p>
          <a:p>
            <a:pPr marL="285750" indent="-285750">
              <a:spcAft>
                <a:spcPts val="1200"/>
              </a:spcAft>
              <a:buFont typeface="Arial" panose="020B0604020202020204" pitchFamily="34" charset="0"/>
              <a:buChar char="•"/>
            </a:pPr>
            <a:r>
              <a:rPr lang="en-US" sz="1700" dirty="0" err="1">
                <a:solidFill>
                  <a:srgbClr val="333333"/>
                </a:solidFill>
              </a:rPr>
              <a:t>Khononov</a:t>
            </a:r>
            <a:r>
              <a:rPr lang="en-US" sz="1700" dirty="0">
                <a:solidFill>
                  <a:srgbClr val="333333"/>
                </a:solidFill>
              </a:rPr>
              <a:t>: Balancing Coupling in Software Design• Ousterhout: A Philosophy of Software Design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4010</TotalTime>
  <Words>4510</Words>
  <Application>Microsoft Macintosh PowerPoint</Application>
  <PresentationFormat>On-screen Show (4:3)</PresentationFormat>
  <Paragraphs>574</Paragraphs>
  <Slides>60</Slides>
  <Notes>57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60</vt:i4>
      </vt:variant>
    </vt:vector>
  </HeadingPairs>
  <TitlesOfParts>
    <vt:vector size="6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Modular C#</dc:title>
  <dc:subject>PptxGenJS Presentation</dc:subject>
  <dc:creator>Coops</dc:creator>
  <cp:lastModifiedBy>Ian Cooper</cp:lastModifiedBy>
  <cp:revision>41</cp:revision>
  <dcterms:created xsi:type="dcterms:W3CDTF">2026-01-24T20:53:17Z</dcterms:created>
  <dcterms:modified xsi:type="dcterms:W3CDTF">2026-01-29T11:09:02Z</dcterms:modified>
</cp:coreProperties>
</file>